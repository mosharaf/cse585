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96" r:id="rId3"/>
    <p:sldId id="275" r:id="rId4"/>
    <p:sldId id="326" r:id="rId5"/>
    <p:sldId id="258" r:id="rId6"/>
    <p:sldId id="260" r:id="rId7"/>
    <p:sldId id="262" r:id="rId8"/>
    <p:sldId id="261" r:id="rId9"/>
    <p:sldId id="322" r:id="rId10"/>
    <p:sldId id="315" r:id="rId11"/>
    <p:sldId id="320" r:id="rId12"/>
    <p:sldId id="263" r:id="rId13"/>
    <p:sldId id="266" r:id="rId14"/>
    <p:sldId id="267" r:id="rId15"/>
    <p:sldId id="264" r:id="rId16"/>
    <p:sldId id="265" r:id="rId17"/>
    <p:sldId id="268" r:id="rId18"/>
    <p:sldId id="271" r:id="rId19"/>
    <p:sldId id="330" r:id="rId20"/>
    <p:sldId id="356" r:id="rId21"/>
    <p:sldId id="346" r:id="rId22"/>
    <p:sldId id="349" r:id="rId23"/>
    <p:sldId id="365" r:id="rId24"/>
    <p:sldId id="350" r:id="rId25"/>
    <p:sldId id="259" r:id="rId26"/>
    <p:sldId id="351" r:id="rId27"/>
    <p:sldId id="352" r:id="rId28"/>
    <p:sldId id="269" r:id="rId29"/>
    <p:sldId id="354" r:id="rId30"/>
    <p:sldId id="307" r:id="rId31"/>
    <p:sldId id="357" r:id="rId32"/>
    <p:sldId id="366" r:id="rId33"/>
    <p:sldId id="368" r:id="rId34"/>
    <p:sldId id="369" r:id="rId35"/>
    <p:sldId id="370" r:id="rId36"/>
    <p:sldId id="367" r:id="rId37"/>
    <p:sldId id="371" r:id="rId38"/>
    <p:sldId id="345" r:id="rId39"/>
    <p:sldId id="299" r:id="rId40"/>
    <p:sldId id="300" r:id="rId41"/>
    <p:sldId id="301" r:id="rId42"/>
    <p:sldId id="302" r:id="rId43"/>
    <p:sldId id="304" r:id="rId44"/>
    <p:sldId id="305" r:id="rId45"/>
    <p:sldId id="313"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EC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62"/>
    <p:restoredTop sz="94648"/>
  </p:normalViewPr>
  <p:slideViewPr>
    <p:cSldViewPr snapToGrid="0" snapToObjects="1">
      <p:cViewPr varScale="1">
        <p:scale>
          <a:sx n="106" d="100"/>
          <a:sy n="106" d="100"/>
        </p:scale>
        <p:origin x="200" y="312"/>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A438B6-72DB-A646-8D9C-ACDCF426A44B}" type="doc">
      <dgm:prSet loTypeId="urn:microsoft.com/office/officeart/2005/8/layout/pyramid1" loCatId="" qsTypeId="urn:microsoft.com/office/officeart/2005/8/quickstyle/simple1" qsCatId="simple" csTypeId="urn:microsoft.com/office/officeart/2005/8/colors/colorful3" csCatId="colorful" phldr="1"/>
      <dgm:spPr/>
      <dgm:t>
        <a:bodyPr/>
        <a:lstStyle/>
        <a:p>
          <a:endParaRPr lang="en-US"/>
        </a:p>
      </dgm:t>
    </dgm:pt>
    <dgm:pt modelId="{D8C2F2D0-9A3F-1B4F-820D-9C2E4F8A9F23}">
      <dgm:prSet phldrT="[Text]" custT="1"/>
      <dgm:spPr>
        <a:xfrm>
          <a:off x="1495674" y="0"/>
          <a:ext cx="348860" cy="212516"/>
        </a:xfrm>
        <a:prstGeom prst="trapezoid">
          <a:avLst>
            <a:gd name="adj" fmla="val 82078"/>
          </a:avLst>
        </a:prstGeom>
        <a:solidFill>
          <a:srgbClr val="78909C">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a:buNone/>
          </a:pPr>
          <a:endPar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endParaRPr>
        </a:p>
      </dgm:t>
    </dgm:pt>
    <dgm:pt modelId="{BEEE835C-C11A-3547-9AB4-AFA03C1A4107}" type="parTrans" cxnId="{05E4C83A-B0DA-8048-88F5-AEDBF5AA632A}">
      <dgm:prSet/>
      <dgm:spPr/>
      <dgm:t>
        <a:bodyPr/>
        <a:lstStyle/>
        <a:p>
          <a:endParaRPr lang="en-US" sz="1400" b="0" i="0">
            <a:latin typeface="Gill Sans" panose="020B0502020104020203" pitchFamily="34" charset="-79"/>
            <a:cs typeface="Gill Sans" panose="020B0502020104020203" pitchFamily="34" charset="-79"/>
          </a:endParaRPr>
        </a:p>
      </dgm:t>
    </dgm:pt>
    <dgm:pt modelId="{9DDA49AD-6BF5-D542-8E1D-FF5CB85F300D}" type="sibTrans" cxnId="{05E4C83A-B0DA-8048-88F5-AEDBF5AA632A}">
      <dgm:prSet/>
      <dgm:spPr/>
      <dgm:t>
        <a:bodyPr/>
        <a:lstStyle/>
        <a:p>
          <a:endParaRPr lang="en-US" sz="1400" b="0" i="0">
            <a:latin typeface="Gill Sans" panose="020B0502020104020203" pitchFamily="34" charset="-79"/>
            <a:cs typeface="Gill Sans" panose="020B0502020104020203" pitchFamily="34" charset="-79"/>
          </a:endParaRPr>
        </a:p>
      </dgm:t>
    </dgm:pt>
    <dgm:pt modelId="{A49E0E69-A6A6-D44D-8CD1-025BBA76C5EE}">
      <dgm:prSet phldrT="[Text]" custT="1"/>
      <dgm:spPr>
        <a:xfrm>
          <a:off x="1303800" y="212516"/>
          <a:ext cx="732607" cy="233768"/>
        </a:xfrm>
        <a:prstGeom prst="trapezoid">
          <a:avLst>
            <a:gd name="adj" fmla="val 82078"/>
          </a:avLst>
        </a:prstGeom>
        <a:solidFill>
          <a:srgbClr val="78909C">
            <a:hueOff val="-1426188"/>
            <a:satOff val="12088"/>
            <a:lumOff val="1204"/>
            <a:alphaOff val="0"/>
          </a:srgbClr>
        </a:solidFill>
        <a:ln w="25400" cap="flat" cmpd="sng" algn="ctr">
          <a:solidFill>
            <a:srgbClr val="FFFFFF">
              <a:hueOff val="0"/>
              <a:satOff val="0"/>
              <a:lumOff val="0"/>
              <a:alphaOff val="0"/>
            </a:srgbClr>
          </a:solidFill>
          <a:prstDash val="solid"/>
        </a:ln>
        <a:effectLst/>
      </dgm:spPr>
      <dgm:t>
        <a:bodyPr/>
        <a:lstStyle/>
        <a:p>
          <a:pPr>
            <a:buNone/>
          </a:pPr>
          <a:endPar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endParaRPr>
        </a:p>
      </dgm:t>
    </dgm:pt>
    <dgm:pt modelId="{7EBAE81C-0F3A-F748-BDD8-DF7EB13F789C}" type="parTrans" cxnId="{61230491-8035-D442-B549-EE89B56C98F6}">
      <dgm:prSet/>
      <dgm:spPr/>
      <dgm:t>
        <a:bodyPr/>
        <a:lstStyle/>
        <a:p>
          <a:endParaRPr lang="en-US" sz="1400" b="0" i="0">
            <a:latin typeface="Gill Sans" panose="020B0502020104020203" pitchFamily="34" charset="-79"/>
            <a:cs typeface="Gill Sans" panose="020B0502020104020203" pitchFamily="34" charset="-79"/>
          </a:endParaRPr>
        </a:p>
      </dgm:t>
    </dgm:pt>
    <dgm:pt modelId="{980AC219-2211-A545-B609-8BE6BED54544}" type="sibTrans" cxnId="{61230491-8035-D442-B549-EE89B56C98F6}">
      <dgm:prSet/>
      <dgm:spPr/>
      <dgm:t>
        <a:bodyPr/>
        <a:lstStyle/>
        <a:p>
          <a:endParaRPr lang="en-US" sz="1400" b="0" i="0">
            <a:latin typeface="Gill Sans" panose="020B0502020104020203" pitchFamily="34" charset="-79"/>
            <a:cs typeface="Gill Sans" panose="020B0502020104020203" pitchFamily="34" charset="-79"/>
          </a:endParaRPr>
        </a:p>
      </dgm:t>
    </dgm:pt>
    <dgm:pt modelId="{3DB02328-6E11-B545-B6A0-EE49FAAE14D0}">
      <dgm:prSet phldrT="[Text]" custT="1"/>
      <dgm:spPr>
        <a:xfrm>
          <a:off x="1022877" y="446285"/>
          <a:ext cx="1294454" cy="342263"/>
        </a:xfrm>
        <a:prstGeom prst="trapezoid">
          <a:avLst>
            <a:gd name="adj" fmla="val 82078"/>
          </a:avLst>
        </a:prstGeom>
        <a:solidFill>
          <a:srgbClr val="78909C">
            <a:hueOff val="-2852377"/>
            <a:satOff val="24176"/>
            <a:lumOff val="2409"/>
            <a:alphaOff val="0"/>
          </a:srgbClr>
        </a:solidFill>
        <a:ln w="25400" cap="flat" cmpd="sng" algn="ctr">
          <a:solidFill>
            <a:srgbClr val="FFFFFF">
              <a:hueOff val="0"/>
              <a:satOff val="0"/>
              <a:lumOff val="0"/>
              <a:alphaOff val="0"/>
            </a:srgbClr>
          </a:solidFill>
          <a:prstDash val="solid"/>
        </a:ln>
        <a:effectLst/>
      </dgm:spPr>
      <dgm:t>
        <a:bodyPr/>
        <a:lstStyle/>
        <a:p>
          <a:pPr>
            <a:buNone/>
          </a:pPr>
          <a:r>
            <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Main Memory</a:t>
          </a:r>
        </a:p>
      </dgm:t>
    </dgm:pt>
    <dgm:pt modelId="{33BA7955-5B20-734C-8918-09BCDDF48C8F}" type="parTrans" cxnId="{6EC4491A-595E-894A-B7F1-35D84BD9417B}">
      <dgm:prSet/>
      <dgm:spPr/>
      <dgm:t>
        <a:bodyPr/>
        <a:lstStyle/>
        <a:p>
          <a:endParaRPr lang="en-US" sz="1400" b="0" i="0">
            <a:latin typeface="Gill Sans" panose="020B0502020104020203" pitchFamily="34" charset="-79"/>
            <a:cs typeface="Gill Sans" panose="020B0502020104020203" pitchFamily="34" charset="-79"/>
          </a:endParaRPr>
        </a:p>
      </dgm:t>
    </dgm:pt>
    <dgm:pt modelId="{6E55F130-5505-1A4D-B12D-0667FF84ED77}" type="sibTrans" cxnId="{6EC4491A-595E-894A-B7F1-35D84BD9417B}">
      <dgm:prSet/>
      <dgm:spPr/>
      <dgm:t>
        <a:bodyPr/>
        <a:lstStyle/>
        <a:p>
          <a:endParaRPr lang="en-US" sz="1400" b="0" i="0">
            <a:latin typeface="Gill Sans" panose="020B0502020104020203" pitchFamily="34" charset="-79"/>
            <a:cs typeface="Gill Sans" panose="020B0502020104020203" pitchFamily="34" charset="-79"/>
          </a:endParaRPr>
        </a:p>
      </dgm:t>
    </dgm:pt>
    <dgm:pt modelId="{2E9E6C01-7C26-4A4C-A1F8-B01F44E311FB}">
      <dgm:prSet phldrT="[Text]" custT="1"/>
      <dgm:spPr>
        <a:xfrm>
          <a:off x="575620" y="1099694"/>
          <a:ext cx="2188968" cy="233768"/>
        </a:xfrm>
        <a:prstGeom prst="trapezoid">
          <a:avLst>
            <a:gd name="adj" fmla="val 82078"/>
          </a:avLst>
        </a:prstGeom>
        <a:solidFill>
          <a:srgbClr val="78909C">
            <a:hueOff val="-5704754"/>
            <a:satOff val="48351"/>
            <a:lumOff val="4818"/>
            <a:alphaOff val="0"/>
          </a:srgbClr>
        </a:solidFill>
        <a:ln w="25400" cap="flat" cmpd="sng" algn="ctr">
          <a:solidFill>
            <a:srgbClr val="FFFFFF">
              <a:hueOff val="0"/>
              <a:satOff val="0"/>
              <a:lumOff val="0"/>
              <a:alphaOff val="0"/>
            </a:srgbClr>
          </a:solidFill>
          <a:prstDash val="solid"/>
        </a:ln>
        <a:effectLst/>
      </dgm:spPr>
      <dgm:t>
        <a:bodyPr/>
        <a:lstStyle/>
        <a:p>
          <a:pPr>
            <a:buNone/>
          </a:pPr>
          <a:r>
            <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NVM </a:t>
          </a:r>
        </a:p>
      </dgm:t>
    </dgm:pt>
    <dgm:pt modelId="{CF92F415-CAF0-CB48-B1D9-75D417DF74DE}" type="parTrans" cxnId="{4267D342-DDE0-CD49-851A-9956F677A546}">
      <dgm:prSet/>
      <dgm:spPr/>
      <dgm:t>
        <a:bodyPr/>
        <a:lstStyle/>
        <a:p>
          <a:endParaRPr lang="en-US" sz="1400" b="0" i="0">
            <a:latin typeface="Gill Sans" panose="020B0502020104020203" pitchFamily="34" charset="-79"/>
            <a:cs typeface="Gill Sans" panose="020B0502020104020203" pitchFamily="34" charset="-79"/>
          </a:endParaRPr>
        </a:p>
      </dgm:t>
    </dgm:pt>
    <dgm:pt modelId="{BA4730C5-C081-344A-90A8-74F0A2738B85}" type="sibTrans" cxnId="{4267D342-DDE0-CD49-851A-9956F677A546}">
      <dgm:prSet/>
      <dgm:spPr/>
      <dgm:t>
        <a:bodyPr/>
        <a:lstStyle/>
        <a:p>
          <a:endParaRPr lang="en-US" sz="1400" b="0" i="0">
            <a:latin typeface="Gill Sans" panose="020B0502020104020203" pitchFamily="34" charset="-79"/>
            <a:cs typeface="Gill Sans" panose="020B0502020104020203" pitchFamily="34" charset="-79"/>
          </a:endParaRPr>
        </a:p>
      </dgm:t>
    </dgm:pt>
    <dgm:pt modelId="{DBDEE9FF-44F1-7544-A2A4-3D668452FB91}">
      <dgm:prSet phldrT="[Text]" custT="1"/>
      <dgm:spPr>
        <a:xfrm>
          <a:off x="383746" y="1333463"/>
          <a:ext cx="2572715" cy="233768"/>
        </a:xfrm>
        <a:prstGeom prst="trapezoid">
          <a:avLst>
            <a:gd name="adj" fmla="val 82078"/>
          </a:avLst>
        </a:prstGeom>
        <a:solidFill>
          <a:srgbClr val="78909C">
            <a:hueOff val="-7130942"/>
            <a:satOff val="60439"/>
            <a:lumOff val="6022"/>
            <a:alphaOff val="0"/>
          </a:srgbClr>
        </a:solidFill>
        <a:ln w="25400" cap="flat" cmpd="sng" algn="ctr">
          <a:solidFill>
            <a:srgbClr val="FFFFFF">
              <a:hueOff val="0"/>
              <a:satOff val="0"/>
              <a:lumOff val="0"/>
              <a:alphaOff val="0"/>
            </a:srgbClr>
          </a:solidFill>
          <a:prstDash val="solid"/>
        </a:ln>
        <a:effectLst/>
      </dgm:spPr>
      <dgm:t>
        <a:bodyPr/>
        <a:lstStyle/>
        <a:p>
          <a:pPr>
            <a:buNone/>
          </a:pPr>
          <a:r>
            <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Network Attached Memory</a:t>
          </a:r>
        </a:p>
      </dgm:t>
    </dgm:pt>
    <dgm:pt modelId="{28FE6464-7AAB-8243-BB24-2552D6913FD8}" type="parTrans" cxnId="{BD90C863-221D-A74F-9707-EF7F0F47521C}">
      <dgm:prSet/>
      <dgm:spPr/>
      <dgm:t>
        <a:bodyPr/>
        <a:lstStyle/>
        <a:p>
          <a:endParaRPr lang="en-US" sz="1400" b="0" i="0">
            <a:latin typeface="Gill Sans" panose="020B0502020104020203" pitchFamily="34" charset="-79"/>
            <a:cs typeface="Gill Sans" panose="020B0502020104020203" pitchFamily="34" charset="-79"/>
          </a:endParaRPr>
        </a:p>
      </dgm:t>
    </dgm:pt>
    <dgm:pt modelId="{E785DB58-124B-294C-B72D-D27367C26D1D}" type="sibTrans" cxnId="{BD90C863-221D-A74F-9707-EF7F0F47521C}">
      <dgm:prSet/>
      <dgm:spPr/>
      <dgm:t>
        <a:bodyPr/>
        <a:lstStyle/>
        <a:p>
          <a:endParaRPr lang="en-US" sz="1400" b="0" i="0">
            <a:latin typeface="Gill Sans" panose="020B0502020104020203" pitchFamily="34" charset="-79"/>
            <a:cs typeface="Gill Sans" panose="020B0502020104020203" pitchFamily="34" charset="-79"/>
          </a:endParaRPr>
        </a:p>
      </dgm:t>
    </dgm:pt>
    <dgm:pt modelId="{03857B24-32D2-474A-8F77-3E8E9C3CFA7A}">
      <dgm:prSet phldrT="[Text]" custT="1"/>
      <dgm:spPr>
        <a:xfrm>
          <a:off x="191873" y="1567231"/>
          <a:ext cx="2956462" cy="233768"/>
        </a:xfrm>
        <a:prstGeom prst="trapezoid">
          <a:avLst>
            <a:gd name="adj" fmla="val 82078"/>
          </a:avLst>
        </a:prstGeom>
        <a:solidFill>
          <a:srgbClr val="78909C">
            <a:hueOff val="-8557130"/>
            <a:satOff val="72527"/>
            <a:lumOff val="7227"/>
            <a:alphaOff val="0"/>
          </a:srgbClr>
        </a:solidFill>
        <a:ln w="25400" cap="flat" cmpd="sng" algn="ctr">
          <a:solidFill>
            <a:srgbClr val="FFFFFF">
              <a:hueOff val="0"/>
              <a:satOff val="0"/>
              <a:lumOff val="0"/>
              <a:alphaOff val="0"/>
            </a:srgbClr>
          </a:solidFill>
          <a:prstDash val="solid"/>
        </a:ln>
        <a:effectLst/>
      </dgm:spPr>
      <dgm:t>
        <a:bodyPr/>
        <a:lstStyle/>
        <a:p>
          <a:pPr>
            <a:buNone/>
          </a:pPr>
          <a:r>
            <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SSD</a:t>
          </a:r>
        </a:p>
      </dgm:t>
    </dgm:pt>
    <dgm:pt modelId="{23B9CE12-EE3E-2341-984D-BE6E3EBD9E6C}" type="parTrans" cxnId="{18AA5F57-F168-DD4C-93FD-FE49DD33FA24}">
      <dgm:prSet/>
      <dgm:spPr/>
      <dgm:t>
        <a:bodyPr/>
        <a:lstStyle/>
        <a:p>
          <a:endParaRPr lang="en-US" sz="1400" b="0" i="0">
            <a:latin typeface="Gill Sans" panose="020B0502020104020203" pitchFamily="34" charset="-79"/>
            <a:cs typeface="Gill Sans" panose="020B0502020104020203" pitchFamily="34" charset="-79"/>
          </a:endParaRPr>
        </a:p>
      </dgm:t>
    </dgm:pt>
    <dgm:pt modelId="{5CFF365A-9EE3-0D46-9D31-0C063123CC16}" type="sibTrans" cxnId="{18AA5F57-F168-DD4C-93FD-FE49DD33FA24}">
      <dgm:prSet/>
      <dgm:spPr/>
      <dgm:t>
        <a:bodyPr/>
        <a:lstStyle/>
        <a:p>
          <a:endParaRPr lang="en-US" sz="1400" b="0" i="0">
            <a:latin typeface="Gill Sans" panose="020B0502020104020203" pitchFamily="34" charset="-79"/>
            <a:cs typeface="Gill Sans" panose="020B0502020104020203" pitchFamily="34" charset="-79"/>
          </a:endParaRPr>
        </a:p>
      </dgm:t>
    </dgm:pt>
    <dgm:pt modelId="{9D301182-D261-3340-8032-C8B2E4ED0413}">
      <dgm:prSet phldrT="[Text]" custT="1"/>
      <dgm:spPr>
        <a:xfrm>
          <a:off x="0" y="1801000"/>
          <a:ext cx="3340208" cy="233768"/>
        </a:xfrm>
        <a:prstGeom prst="trapezoid">
          <a:avLst>
            <a:gd name="adj" fmla="val 82078"/>
          </a:avLst>
        </a:prstGeom>
        <a:solidFill>
          <a:srgbClr val="78909C">
            <a:hueOff val="-9983318"/>
            <a:satOff val="84615"/>
            <a:lumOff val="8431"/>
            <a:alphaOff val="0"/>
          </a:srgbClr>
        </a:solidFill>
        <a:ln w="25400" cap="flat" cmpd="sng" algn="ctr">
          <a:solidFill>
            <a:srgbClr val="FFFFFF">
              <a:hueOff val="0"/>
              <a:satOff val="0"/>
              <a:lumOff val="0"/>
              <a:alphaOff val="0"/>
            </a:srgbClr>
          </a:solidFill>
          <a:prstDash val="solid"/>
        </a:ln>
        <a:effectLst/>
      </dgm:spPr>
      <dgm:t>
        <a:bodyPr/>
        <a:lstStyle/>
        <a:p>
          <a:pPr>
            <a:buNone/>
          </a:pPr>
          <a:r>
            <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HDD</a:t>
          </a:r>
        </a:p>
      </dgm:t>
    </dgm:pt>
    <dgm:pt modelId="{F2AA09AD-D74B-1448-B9AF-440D848DAEED}" type="parTrans" cxnId="{7B62015E-50F3-C342-8481-3A423F86EA1D}">
      <dgm:prSet/>
      <dgm:spPr/>
      <dgm:t>
        <a:bodyPr/>
        <a:lstStyle/>
        <a:p>
          <a:endParaRPr lang="en-US" sz="1400" b="0" i="0">
            <a:latin typeface="Gill Sans" panose="020B0502020104020203" pitchFamily="34" charset="-79"/>
            <a:cs typeface="Gill Sans" panose="020B0502020104020203" pitchFamily="34" charset="-79"/>
          </a:endParaRPr>
        </a:p>
      </dgm:t>
    </dgm:pt>
    <dgm:pt modelId="{9C78EAF3-196C-F143-A6BA-6327580CD30B}" type="sibTrans" cxnId="{7B62015E-50F3-C342-8481-3A423F86EA1D}">
      <dgm:prSet/>
      <dgm:spPr/>
      <dgm:t>
        <a:bodyPr/>
        <a:lstStyle/>
        <a:p>
          <a:endParaRPr lang="en-US" sz="1400" b="0" i="0">
            <a:latin typeface="Gill Sans" panose="020B0502020104020203" pitchFamily="34" charset="-79"/>
            <a:cs typeface="Gill Sans" panose="020B0502020104020203" pitchFamily="34" charset="-79"/>
          </a:endParaRPr>
        </a:p>
      </dgm:t>
    </dgm:pt>
    <dgm:pt modelId="{11498017-55F6-8E41-88CD-39664B8F2299}">
      <dgm:prSet phldrT="[Text]" custT="1"/>
      <dgm:spPr>
        <a:xfrm>
          <a:off x="767493" y="788548"/>
          <a:ext cx="1805221" cy="311146"/>
        </a:xfrm>
        <a:prstGeom prst="trapezoid">
          <a:avLst>
            <a:gd name="adj" fmla="val 82078"/>
          </a:avLst>
        </a:prstGeom>
        <a:solidFill>
          <a:srgbClr val="78909C">
            <a:hueOff val="-4278565"/>
            <a:satOff val="36264"/>
            <a:lumOff val="3613"/>
            <a:alphaOff val="0"/>
          </a:srgbClr>
        </a:solidFill>
        <a:ln w="25400" cap="flat" cmpd="sng" algn="ctr">
          <a:solidFill>
            <a:srgbClr val="FFFFFF">
              <a:hueOff val="0"/>
              <a:satOff val="0"/>
              <a:lumOff val="0"/>
              <a:alphaOff val="0"/>
            </a:srgbClr>
          </a:solidFill>
          <a:prstDash val="solid"/>
        </a:ln>
        <a:effectLst/>
      </dgm:spPr>
      <dgm:t>
        <a:bodyPr/>
        <a:lstStyle/>
        <a:p>
          <a:pPr>
            <a:buNone/>
          </a:pPr>
          <a:r>
            <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CXL-Memory</a:t>
          </a:r>
        </a:p>
      </dgm:t>
    </dgm:pt>
    <dgm:pt modelId="{A202CECB-AFF3-E34C-867C-C3F2CDF726DE}" type="sibTrans" cxnId="{6A581C02-8567-DD47-BA56-66D3B74205D8}">
      <dgm:prSet/>
      <dgm:spPr/>
      <dgm:t>
        <a:bodyPr/>
        <a:lstStyle/>
        <a:p>
          <a:endParaRPr lang="en-US" sz="1400" b="0" i="0">
            <a:latin typeface="Gill Sans" panose="020B0502020104020203" pitchFamily="34" charset="-79"/>
            <a:cs typeface="Gill Sans" panose="020B0502020104020203" pitchFamily="34" charset="-79"/>
          </a:endParaRPr>
        </a:p>
      </dgm:t>
    </dgm:pt>
    <dgm:pt modelId="{88B8CCE8-2FE3-4141-B937-F9B1F5D04861}" type="parTrans" cxnId="{6A581C02-8567-DD47-BA56-66D3B74205D8}">
      <dgm:prSet/>
      <dgm:spPr/>
      <dgm:t>
        <a:bodyPr/>
        <a:lstStyle/>
        <a:p>
          <a:endParaRPr lang="en-US" sz="1400" b="0" i="0">
            <a:latin typeface="Gill Sans" panose="020B0502020104020203" pitchFamily="34" charset="-79"/>
            <a:cs typeface="Gill Sans" panose="020B0502020104020203" pitchFamily="34" charset="-79"/>
          </a:endParaRPr>
        </a:p>
      </dgm:t>
    </dgm:pt>
    <dgm:pt modelId="{F9F48063-1FF5-EC41-A453-B824824ABF7A}" type="pres">
      <dgm:prSet presAssocID="{0BA438B6-72DB-A646-8D9C-ACDCF426A44B}" presName="Name0" presStyleCnt="0">
        <dgm:presLayoutVars>
          <dgm:dir/>
          <dgm:animLvl val="lvl"/>
          <dgm:resizeHandles val="exact"/>
        </dgm:presLayoutVars>
      </dgm:prSet>
      <dgm:spPr/>
    </dgm:pt>
    <dgm:pt modelId="{49024149-5DA6-EA4B-8222-767FBB1090FB}" type="pres">
      <dgm:prSet presAssocID="{D8C2F2D0-9A3F-1B4F-820D-9C2E4F8A9F23}" presName="Name8" presStyleCnt="0"/>
      <dgm:spPr/>
    </dgm:pt>
    <dgm:pt modelId="{7CACEAA5-55D2-4D41-A9A9-BFDE45EE714D}" type="pres">
      <dgm:prSet presAssocID="{D8C2F2D0-9A3F-1B4F-820D-9C2E4F8A9F23}" presName="level" presStyleLbl="node1" presStyleIdx="0" presStyleCnt="8" custScaleY="90909">
        <dgm:presLayoutVars>
          <dgm:chMax val="1"/>
          <dgm:bulletEnabled val="1"/>
        </dgm:presLayoutVars>
      </dgm:prSet>
      <dgm:spPr/>
    </dgm:pt>
    <dgm:pt modelId="{9FAAC3DA-F90D-424E-B07E-A81796926EEF}" type="pres">
      <dgm:prSet presAssocID="{D8C2F2D0-9A3F-1B4F-820D-9C2E4F8A9F23}" presName="levelTx" presStyleLbl="revTx" presStyleIdx="0" presStyleCnt="0">
        <dgm:presLayoutVars>
          <dgm:chMax val="1"/>
          <dgm:bulletEnabled val="1"/>
        </dgm:presLayoutVars>
      </dgm:prSet>
      <dgm:spPr/>
    </dgm:pt>
    <dgm:pt modelId="{7A373044-27E0-D540-8DD3-2BD7997BBC8F}" type="pres">
      <dgm:prSet presAssocID="{A49E0E69-A6A6-D44D-8CD1-025BBA76C5EE}" presName="Name8" presStyleCnt="0"/>
      <dgm:spPr/>
    </dgm:pt>
    <dgm:pt modelId="{EB562380-D9CC-1344-A314-42D1220A25B4}" type="pres">
      <dgm:prSet presAssocID="{A49E0E69-A6A6-D44D-8CD1-025BBA76C5EE}" presName="level" presStyleLbl="node1" presStyleIdx="1" presStyleCnt="8">
        <dgm:presLayoutVars>
          <dgm:chMax val="1"/>
          <dgm:bulletEnabled val="1"/>
        </dgm:presLayoutVars>
      </dgm:prSet>
      <dgm:spPr/>
    </dgm:pt>
    <dgm:pt modelId="{B9301774-D678-3248-A9EE-ED4E3F5F70E3}" type="pres">
      <dgm:prSet presAssocID="{A49E0E69-A6A6-D44D-8CD1-025BBA76C5EE}" presName="levelTx" presStyleLbl="revTx" presStyleIdx="0" presStyleCnt="0">
        <dgm:presLayoutVars>
          <dgm:chMax val="1"/>
          <dgm:bulletEnabled val="1"/>
        </dgm:presLayoutVars>
      </dgm:prSet>
      <dgm:spPr/>
    </dgm:pt>
    <dgm:pt modelId="{D145A361-5647-5440-87F6-74FA4EE20323}" type="pres">
      <dgm:prSet presAssocID="{3DB02328-6E11-B545-B6A0-EE49FAAE14D0}" presName="Name8" presStyleCnt="0"/>
      <dgm:spPr/>
    </dgm:pt>
    <dgm:pt modelId="{A4EAE70E-6864-4C44-AFB4-89136C79E7DC}" type="pres">
      <dgm:prSet presAssocID="{3DB02328-6E11-B545-B6A0-EE49FAAE14D0}" presName="level" presStyleLbl="node1" presStyleIdx="2" presStyleCnt="8" custScaleY="146411">
        <dgm:presLayoutVars>
          <dgm:chMax val="1"/>
          <dgm:bulletEnabled val="1"/>
        </dgm:presLayoutVars>
      </dgm:prSet>
      <dgm:spPr/>
    </dgm:pt>
    <dgm:pt modelId="{EDFE8FF9-3CA9-7748-90C2-91EBCD0656E0}" type="pres">
      <dgm:prSet presAssocID="{3DB02328-6E11-B545-B6A0-EE49FAAE14D0}" presName="levelTx" presStyleLbl="revTx" presStyleIdx="0" presStyleCnt="0">
        <dgm:presLayoutVars>
          <dgm:chMax val="1"/>
          <dgm:bulletEnabled val="1"/>
        </dgm:presLayoutVars>
      </dgm:prSet>
      <dgm:spPr/>
    </dgm:pt>
    <dgm:pt modelId="{B95EA96E-A8AC-A84E-9B89-83CD23B42DAC}" type="pres">
      <dgm:prSet presAssocID="{11498017-55F6-8E41-88CD-39664B8F2299}" presName="Name8" presStyleCnt="0"/>
      <dgm:spPr/>
    </dgm:pt>
    <dgm:pt modelId="{444F5993-A0DA-A341-9CF3-EC87161A5B0F}" type="pres">
      <dgm:prSet presAssocID="{11498017-55F6-8E41-88CD-39664B8F2299}" presName="level" presStyleLbl="node1" presStyleIdx="3" presStyleCnt="8" custScaleY="133100">
        <dgm:presLayoutVars>
          <dgm:chMax val="1"/>
          <dgm:bulletEnabled val="1"/>
        </dgm:presLayoutVars>
      </dgm:prSet>
      <dgm:spPr/>
    </dgm:pt>
    <dgm:pt modelId="{0CDCD97E-F0CD-F64D-9F2F-480C1963DBB0}" type="pres">
      <dgm:prSet presAssocID="{11498017-55F6-8E41-88CD-39664B8F2299}" presName="levelTx" presStyleLbl="revTx" presStyleIdx="0" presStyleCnt="0">
        <dgm:presLayoutVars>
          <dgm:chMax val="1"/>
          <dgm:bulletEnabled val="1"/>
        </dgm:presLayoutVars>
      </dgm:prSet>
      <dgm:spPr/>
    </dgm:pt>
    <dgm:pt modelId="{9AE1FCC0-BFD6-6840-A7F7-F56ADD827977}" type="pres">
      <dgm:prSet presAssocID="{2E9E6C01-7C26-4A4C-A1F8-B01F44E311FB}" presName="Name8" presStyleCnt="0"/>
      <dgm:spPr/>
    </dgm:pt>
    <dgm:pt modelId="{048A76DA-6852-A941-8B04-6EEED2DD99C8}" type="pres">
      <dgm:prSet presAssocID="{2E9E6C01-7C26-4A4C-A1F8-B01F44E311FB}" presName="level" presStyleLbl="node1" presStyleIdx="4" presStyleCnt="8">
        <dgm:presLayoutVars>
          <dgm:chMax val="1"/>
          <dgm:bulletEnabled val="1"/>
        </dgm:presLayoutVars>
      </dgm:prSet>
      <dgm:spPr/>
    </dgm:pt>
    <dgm:pt modelId="{D04BD80A-1E08-4146-9FA0-52AF05C4B7DE}" type="pres">
      <dgm:prSet presAssocID="{2E9E6C01-7C26-4A4C-A1F8-B01F44E311FB}" presName="levelTx" presStyleLbl="revTx" presStyleIdx="0" presStyleCnt="0">
        <dgm:presLayoutVars>
          <dgm:chMax val="1"/>
          <dgm:bulletEnabled val="1"/>
        </dgm:presLayoutVars>
      </dgm:prSet>
      <dgm:spPr/>
    </dgm:pt>
    <dgm:pt modelId="{DC91245C-9D0A-6047-AF77-C112F4EBF31F}" type="pres">
      <dgm:prSet presAssocID="{DBDEE9FF-44F1-7544-A2A4-3D668452FB91}" presName="Name8" presStyleCnt="0"/>
      <dgm:spPr/>
    </dgm:pt>
    <dgm:pt modelId="{11B0D671-AC68-8748-B7BB-72C5302EEB7B}" type="pres">
      <dgm:prSet presAssocID="{DBDEE9FF-44F1-7544-A2A4-3D668452FB91}" presName="level" presStyleLbl="node1" presStyleIdx="5" presStyleCnt="8">
        <dgm:presLayoutVars>
          <dgm:chMax val="1"/>
          <dgm:bulletEnabled val="1"/>
        </dgm:presLayoutVars>
      </dgm:prSet>
      <dgm:spPr/>
    </dgm:pt>
    <dgm:pt modelId="{3D7358E0-E384-884F-A7DF-2DBFE0A28F31}" type="pres">
      <dgm:prSet presAssocID="{DBDEE9FF-44F1-7544-A2A4-3D668452FB91}" presName="levelTx" presStyleLbl="revTx" presStyleIdx="0" presStyleCnt="0">
        <dgm:presLayoutVars>
          <dgm:chMax val="1"/>
          <dgm:bulletEnabled val="1"/>
        </dgm:presLayoutVars>
      </dgm:prSet>
      <dgm:spPr/>
    </dgm:pt>
    <dgm:pt modelId="{C91A3480-E123-534A-82A7-A6DC7A1F1C54}" type="pres">
      <dgm:prSet presAssocID="{03857B24-32D2-474A-8F77-3E8E9C3CFA7A}" presName="Name8" presStyleCnt="0"/>
      <dgm:spPr/>
    </dgm:pt>
    <dgm:pt modelId="{3479AF6D-63FE-C84D-9D14-1ED329C3278C}" type="pres">
      <dgm:prSet presAssocID="{03857B24-32D2-474A-8F77-3E8E9C3CFA7A}" presName="level" presStyleLbl="node1" presStyleIdx="6" presStyleCnt="8">
        <dgm:presLayoutVars>
          <dgm:chMax val="1"/>
          <dgm:bulletEnabled val="1"/>
        </dgm:presLayoutVars>
      </dgm:prSet>
      <dgm:spPr/>
    </dgm:pt>
    <dgm:pt modelId="{7AE33E7D-3210-3744-99C6-DC5308FB4EAD}" type="pres">
      <dgm:prSet presAssocID="{03857B24-32D2-474A-8F77-3E8E9C3CFA7A}" presName="levelTx" presStyleLbl="revTx" presStyleIdx="0" presStyleCnt="0">
        <dgm:presLayoutVars>
          <dgm:chMax val="1"/>
          <dgm:bulletEnabled val="1"/>
        </dgm:presLayoutVars>
      </dgm:prSet>
      <dgm:spPr/>
    </dgm:pt>
    <dgm:pt modelId="{AE3968B5-18DD-D244-9FE8-5764D43771A1}" type="pres">
      <dgm:prSet presAssocID="{9D301182-D261-3340-8032-C8B2E4ED0413}" presName="Name8" presStyleCnt="0"/>
      <dgm:spPr/>
    </dgm:pt>
    <dgm:pt modelId="{6727E15D-A8A8-1846-A32E-3ED549E239BE}" type="pres">
      <dgm:prSet presAssocID="{9D301182-D261-3340-8032-C8B2E4ED0413}" presName="level" presStyleLbl="node1" presStyleIdx="7" presStyleCnt="8">
        <dgm:presLayoutVars>
          <dgm:chMax val="1"/>
          <dgm:bulletEnabled val="1"/>
        </dgm:presLayoutVars>
      </dgm:prSet>
      <dgm:spPr/>
    </dgm:pt>
    <dgm:pt modelId="{8ADCEEBB-11A4-7A4A-93FB-137DAAE51320}" type="pres">
      <dgm:prSet presAssocID="{9D301182-D261-3340-8032-C8B2E4ED0413}" presName="levelTx" presStyleLbl="revTx" presStyleIdx="0" presStyleCnt="0">
        <dgm:presLayoutVars>
          <dgm:chMax val="1"/>
          <dgm:bulletEnabled val="1"/>
        </dgm:presLayoutVars>
      </dgm:prSet>
      <dgm:spPr/>
    </dgm:pt>
  </dgm:ptLst>
  <dgm:cxnLst>
    <dgm:cxn modelId="{6A581C02-8567-DD47-BA56-66D3B74205D8}" srcId="{0BA438B6-72DB-A646-8D9C-ACDCF426A44B}" destId="{11498017-55F6-8E41-88CD-39664B8F2299}" srcOrd="3" destOrd="0" parTransId="{88B8CCE8-2FE3-4141-B937-F9B1F5D04861}" sibTransId="{A202CECB-AFF3-E34C-867C-C3F2CDF726DE}"/>
    <dgm:cxn modelId="{6EC4491A-595E-894A-B7F1-35D84BD9417B}" srcId="{0BA438B6-72DB-A646-8D9C-ACDCF426A44B}" destId="{3DB02328-6E11-B545-B6A0-EE49FAAE14D0}" srcOrd="2" destOrd="0" parTransId="{33BA7955-5B20-734C-8918-09BCDDF48C8F}" sibTransId="{6E55F130-5505-1A4D-B12D-0667FF84ED77}"/>
    <dgm:cxn modelId="{9F1A751D-033D-174F-856B-A84DBE4D098A}" type="presOf" srcId="{A49E0E69-A6A6-D44D-8CD1-025BBA76C5EE}" destId="{B9301774-D678-3248-A9EE-ED4E3F5F70E3}" srcOrd="1" destOrd="0" presId="urn:microsoft.com/office/officeart/2005/8/layout/pyramid1"/>
    <dgm:cxn modelId="{AD744122-9D67-5B4B-81CD-6AF25C5A33A6}" type="presOf" srcId="{03857B24-32D2-474A-8F77-3E8E9C3CFA7A}" destId="{7AE33E7D-3210-3744-99C6-DC5308FB4EAD}" srcOrd="1" destOrd="0" presId="urn:microsoft.com/office/officeart/2005/8/layout/pyramid1"/>
    <dgm:cxn modelId="{05E4C83A-B0DA-8048-88F5-AEDBF5AA632A}" srcId="{0BA438B6-72DB-A646-8D9C-ACDCF426A44B}" destId="{D8C2F2D0-9A3F-1B4F-820D-9C2E4F8A9F23}" srcOrd="0" destOrd="0" parTransId="{BEEE835C-C11A-3547-9AB4-AFA03C1A4107}" sibTransId="{9DDA49AD-6BF5-D542-8E1D-FF5CB85F300D}"/>
    <dgm:cxn modelId="{DFEF8340-B880-E946-B28C-3684513CE281}" type="presOf" srcId="{3DB02328-6E11-B545-B6A0-EE49FAAE14D0}" destId="{EDFE8FF9-3CA9-7748-90C2-91EBCD0656E0}" srcOrd="1" destOrd="0" presId="urn:microsoft.com/office/officeart/2005/8/layout/pyramid1"/>
    <dgm:cxn modelId="{0DAA1542-6853-2349-9258-E028EE7647EE}" type="presOf" srcId="{A49E0E69-A6A6-D44D-8CD1-025BBA76C5EE}" destId="{EB562380-D9CC-1344-A314-42D1220A25B4}" srcOrd="0" destOrd="0" presId="urn:microsoft.com/office/officeart/2005/8/layout/pyramid1"/>
    <dgm:cxn modelId="{4267D342-DDE0-CD49-851A-9956F677A546}" srcId="{0BA438B6-72DB-A646-8D9C-ACDCF426A44B}" destId="{2E9E6C01-7C26-4A4C-A1F8-B01F44E311FB}" srcOrd="4" destOrd="0" parTransId="{CF92F415-CAF0-CB48-B1D9-75D417DF74DE}" sibTransId="{BA4730C5-C081-344A-90A8-74F0A2738B85}"/>
    <dgm:cxn modelId="{18AA5F57-F168-DD4C-93FD-FE49DD33FA24}" srcId="{0BA438B6-72DB-A646-8D9C-ACDCF426A44B}" destId="{03857B24-32D2-474A-8F77-3E8E9C3CFA7A}" srcOrd="6" destOrd="0" parTransId="{23B9CE12-EE3E-2341-984D-BE6E3EBD9E6C}" sibTransId="{5CFF365A-9EE3-0D46-9D31-0C063123CC16}"/>
    <dgm:cxn modelId="{7B62015E-50F3-C342-8481-3A423F86EA1D}" srcId="{0BA438B6-72DB-A646-8D9C-ACDCF426A44B}" destId="{9D301182-D261-3340-8032-C8B2E4ED0413}" srcOrd="7" destOrd="0" parTransId="{F2AA09AD-D74B-1448-B9AF-440D848DAEED}" sibTransId="{9C78EAF3-196C-F143-A6BA-6327580CD30B}"/>
    <dgm:cxn modelId="{BD90C863-221D-A74F-9707-EF7F0F47521C}" srcId="{0BA438B6-72DB-A646-8D9C-ACDCF426A44B}" destId="{DBDEE9FF-44F1-7544-A2A4-3D668452FB91}" srcOrd="5" destOrd="0" parTransId="{28FE6464-7AAB-8243-BB24-2552D6913FD8}" sibTransId="{E785DB58-124B-294C-B72D-D27367C26D1D}"/>
    <dgm:cxn modelId="{1B45BC69-F34B-6A4D-909E-316284969F02}" type="presOf" srcId="{DBDEE9FF-44F1-7544-A2A4-3D668452FB91}" destId="{11B0D671-AC68-8748-B7BB-72C5302EEB7B}" srcOrd="0" destOrd="0" presId="urn:microsoft.com/office/officeart/2005/8/layout/pyramid1"/>
    <dgm:cxn modelId="{F702D47F-ECD0-DC41-976A-D13B2D7B4C94}" type="presOf" srcId="{DBDEE9FF-44F1-7544-A2A4-3D668452FB91}" destId="{3D7358E0-E384-884F-A7DF-2DBFE0A28F31}" srcOrd="1" destOrd="0" presId="urn:microsoft.com/office/officeart/2005/8/layout/pyramid1"/>
    <dgm:cxn modelId="{32DACE86-2696-824D-BBBD-D856233F58F6}" type="presOf" srcId="{03857B24-32D2-474A-8F77-3E8E9C3CFA7A}" destId="{3479AF6D-63FE-C84D-9D14-1ED329C3278C}" srcOrd="0" destOrd="0" presId="urn:microsoft.com/office/officeart/2005/8/layout/pyramid1"/>
    <dgm:cxn modelId="{D358828B-2533-E64A-8402-220DF8A2B5B2}" type="presOf" srcId="{D8C2F2D0-9A3F-1B4F-820D-9C2E4F8A9F23}" destId="{7CACEAA5-55D2-4D41-A9A9-BFDE45EE714D}" srcOrd="0" destOrd="0" presId="urn:microsoft.com/office/officeart/2005/8/layout/pyramid1"/>
    <dgm:cxn modelId="{61230491-8035-D442-B549-EE89B56C98F6}" srcId="{0BA438B6-72DB-A646-8D9C-ACDCF426A44B}" destId="{A49E0E69-A6A6-D44D-8CD1-025BBA76C5EE}" srcOrd="1" destOrd="0" parTransId="{7EBAE81C-0F3A-F748-BDD8-DF7EB13F789C}" sibTransId="{980AC219-2211-A545-B609-8BE6BED54544}"/>
    <dgm:cxn modelId="{E87B44A2-D195-8748-8F65-28D3DD446823}" type="presOf" srcId="{0BA438B6-72DB-A646-8D9C-ACDCF426A44B}" destId="{F9F48063-1FF5-EC41-A453-B824824ABF7A}" srcOrd="0" destOrd="0" presId="urn:microsoft.com/office/officeart/2005/8/layout/pyramid1"/>
    <dgm:cxn modelId="{F2FFFCA8-FC22-AE4A-B6F1-3849B26FAB34}" type="presOf" srcId="{2E9E6C01-7C26-4A4C-A1F8-B01F44E311FB}" destId="{D04BD80A-1E08-4146-9FA0-52AF05C4B7DE}" srcOrd="1" destOrd="0" presId="urn:microsoft.com/office/officeart/2005/8/layout/pyramid1"/>
    <dgm:cxn modelId="{87DBADB5-CA24-8D46-81D4-5EE6042C8E25}" type="presOf" srcId="{11498017-55F6-8E41-88CD-39664B8F2299}" destId="{444F5993-A0DA-A341-9CF3-EC87161A5B0F}" srcOrd="0" destOrd="0" presId="urn:microsoft.com/office/officeart/2005/8/layout/pyramid1"/>
    <dgm:cxn modelId="{6A1BAEB8-4F2C-764E-A8D1-3A5C274EC67B}" type="presOf" srcId="{3DB02328-6E11-B545-B6A0-EE49FAAE14D0}" destId="{A4EAE70E-6864-4C44-AFB4-89136C79E7DC}" srcOrd="0" destOrd="0" presId="urn:microsoft.com/office/officeart/2005/8/layout/pyramid1"/>
    <dgm:cxn modelId="{0BDEBEC9-AA16-A143-BFFA-34E8213124D5}" type="presOf" srcId="{9D301182-D261-3340-8032-C8B2E4ED0413}" destId="{6727E15D-A8A8-1846-A32E-3ED549E239BE}" srcOrd="0" destOrd="0" presId="urn:microsoft.com/office/officeart/2005/8/layout/pyramid1"/>
    <dgm:cxn modelId="{D14513D0-CB17-C840-A55F-7AC850E61CE0}" type="presOf" srcId="{D8C2F2D0-9A3F-1B4F-820D-9C2E4F8A9F23}" destId="{9FAAC3DA-F90D-424E-B07E-A81796926EEF}" srcOrd="1" destOrd="0" presId="urn:microsoft.com/office/officeart/2005/8/layout/pyramid1"/>
    <dgm:cxn modelId="{005D24DC-A013-1C45-881D-7022F954B130}" type="presOf" srcId="{9D301182-D261-3340-8032-C8B2E4ED0413}" destId="{8ADCEEBB-11A4-7A4A-93FB-137DAAE51320}" srcOrd="1" destOrd="0" presId="urn:microsoft.com/office/officeart/2005/8/layout/pyramid1"/>
    <dgm:cxn modelId="{81CB4CDC-D02F-7F4B-AB47-D8063FD48CD8}" type="presOf" srcId="{2E9E6C01-7C26-4A4C-A1F8-B01F44E311FB}" destId="{048A76DA-6852-A941-8B04-6EEED2DD99C8}" srcOrd="0" destOrd="0" presId="urn:microsoft.com/office/officeart/2005/8/layout/pyramid1"/>
    <dgm:cxn modelId="{60C4E5E5-B2D5-504B-9895-CF9D3CFA6B93}" type="presOf" srcId="{11498017-55F6-8E41-88CD-39664B8F2299}" destId="{0CDCD97E-F0CD-F64D-9F2F-480C1963DBB0}" srcOrd="1" destOrd="0" presId="urn:microsoft.com/office/officeart/2005/8/layout/pyramid1"/>
    <dgm:cxn modelId="{3A5072DF-9810-BA46-B168-DAD77A5F46EA}" type="presParOf" srcId="{F9F48063-1FF5-EC41-A453-B824824ABF7A}" destId="{49024149-5DA6-EA4B-8222-767FBB1090FB}" srcOrd="0" destOrd="0" presId="urn:microsoft.com/office/officeart/2005/8/layout/pyramid1"/>
    <dgm:cxn modelId="{427009C1-3A56-9D4E-B5D3-B32B4D8D6CC5}" type="presParOf" srcId="{49024149-5DA6-EA4B-8222-767FBB1090FB}" destId="{7CACEAA5-55D2-4D41-A9A9-BFDE45EE714D}" srcOrd="0" destOrd="0" presId="urn:microsoft.com/office/officeart/2005/8/layout/pyramid1"/>
    <dgm:cxn modelId="{4CDE93C9-7DAF-F14E-B605-F0E9E82613FA}" type="presParOf" srcId="{49024149-5DA6-EA4B-8222-767FBB1090FB}" destId="{9FAAC3DA-F90D-424E-B07E-A81796926EEF}" srcOrd="1" destOrd="0" presId="urn:microsoft.com/office/officeart/2005/8/layout/pyramid1"/>
    <dgm:cxn modelId="{9E4BEFFE-2650-8541-B036-161A02091DFC}" type="presParOf" srcId="{F9F48063-1FF5-EC41-A453-B824824ABF7A}" destId="{7A373044-27E0-D540-8DD3-2BD7997BBC8F}" srcOrd="1" destOrd="0" presId="urn:microsoft.com/office/officeart/2005/8/layout/pyramid1"/>
    <dgm:cxn modelId="{0D5C9A3F-5540-6E47-8AB5-A73D7E20CCBD}" type="presParOf" srcId="{7A373044-27E0-D540-8DD3-2BD7997BBC8F}" destId="{EB562380-D9CC-1344-A314-42D1220A25B4}" srcOrd="0" destOrd="0" presId="urn:microsoft.com/office/officeart/2005/8/layout/pyramid1"/>
    <dgm:cxn modelId="{83BCF106-BCE2-5642-9025-8F681B94E328}" type="presParOf" srcId="{7A373044-27E0-D540-8DD3-2BD7997BBC8F}" destId="{B9301774-D678-3248-A9EE-ED4E3F5F70E3}" srcOrd="1" destOrd="0" presId="urn:microsoft.com/office/officeart/2005/8/layout/pyramid1"/>
    <dgm:cxn modelId="{9A6A5B84-AEF9-B347-8DFD-1B596A81A7C8}" type="presParOf" srcId="{F9F48063-1FF5-EC41-A453-B824824ABF7A}" destId="{D145A361-5647-5440-87F6-74FA4EE20323}" srcOrd="2" destOrd="0" presId="urn:microsoft.com/office/officeart/2005/8/layout/pyramid1"/>
    <dgm:cxn modelId="{F26B0061-4C70-5F4C-BF61-C8D04F762FBF}" type="presParOf" srcId="{D145A361-5647-5440-87F6-74FA4EE20323}" destId="{A4EAE70E-6864-4C44-AFB4-89136C79E7DC}" srcOrd="0" destOrd="0" presId="urn:microsoft.com/office/officeart/2005/8/layout/pyramid1"/>
    <dgm:cxn modelId="{5A36FA2A-62E0-EA44-B7C6-B206AAF5D371}" type="presParOf" srcId="{D145A361-5647-5440-87F6-74FA4EE20323}" destId="{EDFE8FF9-3CA9-7748-90C2-91EBCD0656E0}" srcOrd="1" destOrd="0" presId="urn:microsoft.com/office/officeart/2005/8/layout/pyramid1"/>
    <dgm:cxn modelId="{308ED701-9A04-AF4B-BD66-AA6A5BE592CB}" type="presParOf" srcId="{F9F48063-1FF5-EC41-A453-B824824ABF7A}" destId="{B95EA96E-A8AC-A84E-9B89-83CD23B42DAC}" srcOrd="3" destOrd="0" presId="urn:microsoft.com/office/officeart/2005/8/layout/pyramid1"/>
    <dgm:cxn modelId="{379031AA-032D-E449-A957-2C8D0F9E1A6B}" type="presParOf" srcId="{B95EA96E-A8AC-A84E-9B89-83CD23B42DAC}" destId="{444F5993-A0DA-A341-9CF3-EC87161A5B0F}" srcOrd="0" destOrd="0" presId="urn:microsoft.com/office/officeart/2005/8/layout/pyramid1"/>
    <dgm:cxn modelId="{A0BF93D6-1F72-E648-BE7B-FA3C325E59FA}" type="presParOf" srcId="{B95EA96E-A8AC-A84E-9B89-83CD23B42DAC}" destId="{0CDCD97E-F0CD-F64D-9F2F-480C1963DBB0}" srcOrd="1" destOrd="0" presId="urn:microsoft.com/office/officeart/2005/8/layout/pyramid1"/>
    <dgm:cxn modelId="{F70183E0-9055-3547-97A3-05C2740EE1D4}" type="presParOf" srcId="{F9F48063-1FF5-EC41-A453-B824824ABF7A}" destId="{9AE1FCC0-BFD6-6840-A7F7-F56ADD827977}" srcOrd="4" destOrd="0" presId="urn:microsoft.com/office/officeart/2005/8/layout/pyramid1"/>
    <dgm:cxn modelId="{B3C34CB2-DAB8-6F46-9FB8-5C342BB57594}" type="presParOf" srcId="{9AE1FCC0-BFD6-6840-A7F7-F56ADD827977}" destId="{048A76DA-6852-A941-8B04-6EEED2DD99C8}" srcOrd="0" destOrd="0" presId="urn:microsoft.com/office/officeart/2005/8/layout/pyramid1"/>
    <dgm:cxn modelId="{2EE37321-4FDE-2744-B4C2-0A7650276B4E}" type="presParOf" srcId="{9AE1FCC0-BFD6-6840-A7F7-F56ADD827977}" destId="{D04BD80A-1E08-4146-9FA0-52AF05C4B7DE}" srcOrd="1" destOrd="0" presId="urn:microsoft.com/office/officeart/2005/8/layout/pyramid1"/>
    <dgm:cxn modelId="{25FD73A2-D2D0-5949-84B6-4879F64AA8C7}" type="presParOf" srcId="{F9F48063-1FF5-EC41-A453-B824824ABF7A}" destId="{DC91245C-9D0A-6047-AF77-C112F4EBF31F}" srcOrd="5" destOrd="0" presId="urn:microsoft.com/office/officeart/2005/8/layout/pyramid1"/>
    <dgm:cxn modelId="{76C66FDD-C786-7E4E-9233-0314D45BEA69}" type="presParOf" srcId="{DC91245C-9D0A-6047-AF77-C112F4EBF31F}" destId="{11B0D671-AC68-8748-B7BB-72C5302EEB7B}" srcOrd="0" destOrd="0" presId="urn:microsoft.com/office/officeart/2005/8/layout/pyramid1"/>
    <dgm:cxn modelId="{91CCC73B-37F1-B540-AD7F-BFAA17A995AE}" type="presParOf" srcId="{DC91245C-9D0A-6047-AF77-C112F4EBF31F}" destId="{3D7358E0-E384-884F-A7DF-2DBFE0A28F31}" srcOrd="1" destOrd="0" presId="urn:microsoft.com/office/officeart/2005/8/layout/pyramid1"/>
    <dgm:cxn modelId="{EA6894F3-918A-CC43-8869-BBCBA09AF8EA}" type="presParOf" srcId="{F9F48063-1FF5-EC41-A453-B824824ABF7A}" destId="{C91A3480-E123-534A-82A7-A6DC7A1F1C54}" srcOrd="6" destOrd="0" presId="urn:microsoft.com/office/officeart/2005/8/layout/pyramid1"/>
    <dgm:cxn modelId="{B420F3E9-2E9C-904E-874D-336AC4EE79E4}" type="presParOf" srcId="{C91A3480-E123-534A-82A7-A6DC7A1F1C54}" destId="{3479AF6D-63FE-C84D-9D14-1ED329C3278C}" srcOrd="0" destOrd="0" presId="urn:microsoft.com/office/officeart/2005/8/layout/pyramid1"/>
    <dgm:cxn modelId="{6F58BF89-6ECF-7D42-BF0D-FFE4E5AEBC58}" type="presParOf" srcId="{C91A3480-E123-534A-82A7-A6DC7A1F1C54}" destId="{7AE33E7D-3210-3744-99C6-DC5308FB4EAD}" srcOrd="1" destOrd="0" presId="urn:microsoft.com/office/officeart/2005/8/layout/pyramid1"/>
    <dgm:cxn modelId="{9C6AEAF0-8C23-084B-A4E5-B247584398C5}" type="presParOf" srcId="{F9F48063-1FF5-EC41-A453-B824824ABF7A}" destId="{AE3968B5-18DD-D244-9FE8-5764D43771A1}" srcOrd="7" destOrd="0" presId="urn:microsoft.com/office/officeart/2005/8/layout/pyramid1"/>
    <dgm:cxn modelId="{91B489D9-C8FA-8945-979C-107D3F4C5FB8}" type="presParOf" srcId="{AE3968B5-18DD-D244-9FE8-5764D43771A1}" destId="{6727E15D-A8A8-1846-A32E-3ED549E239BE}" srcOrd="0" destOrd="0" presId="urn:microsoft.com/office/officeart/2005/8/layout/pyramid1"/>
    <dgm:cxn modelId="{A31AD776-27A2-5B41-A9C3-FD339F66A3D3}" type="presParOf" srcId="{AE3968B5-18DD-D244-9FE8-5764D43771A1}" destId="{8ADCEEBB-11A4-7A4A-93FB-137DAAE51320}"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ACEAA5-55D2-4D41-A9A9-BFDE45EE714D}">
      <dsp:nvSpPr>
        <dsp:cNvPr id="0" name=""/>
        <dsp:cNvSpPr/>
      </dsp:nvSpPr>
      <dsp:spPr>
        <a:xfrm>
          <a:off x="2164338" y="0"/>
          <a:ext cx="504823" cy="307525"/>
        </a:xfrm>
        <a:prstGeom prst="trapezoid">
          <a:avLst>
            <a:gd name="adj" fmla="val 82078"/>
          </a:avLst>
        </a:prstGeom>
        <a:solidFill>
          <a:srgbClr val="78909C">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endParaRPr>
        </a:p>
      </dsp:txBody>
      <dsp:txXfrm>
        <a:off x="2332612" y="102508"/>
        <a:ext cx="168275" cy="205017"/>
      </dsp:txXfrm>
    </dsp:sp>
    <dsp:sp modelId="{EB562380-D9CC-1344-A314-42D1220A25B4}">
      <dsp:nvSpPr>
        <dsp:cNvPr id="0" name=""/>
        <dsp:cNvSpPr/>
      </dsp:nvSpPr>
      <dsp:spPr>
        <a:xfrm>
          <a:off x="1886684" y="307525"/>
          <a:ext cx="1060130" cy="338278"/>
        </a:xfrm>
        <a:prstGeom prst="trapezoid">
          <a:avLst>
            <a:gd name="adj" fmla="val 82078"/>
          </a:avLst>
        </a:prstGeom>
        <a:solidFill>
          <a:srgbClr val="78909C">
            <a:hueOff val="-1426188"/>
            <a:satOff val="12088"/>
            <a:lumOff val="1204"/>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endParaRPr>
        </a:p>
      </dsp:txBody>
      <dsp:txXfrm>
        <a:off x="2257308" y="398393"/>
        <a:ext cx="318882" cy="247410"/>
      </dsp:txXfrm>
    </dsp:sp>
    <dsp:sp modelId="{A4EAE70E-6864-4C44-AFB4-89136C79E7DC}">
      <dsp:nvSpPr>
        <dsp:cNvPr id="0" name=""/>
        <dsp:cNvSpPr/>
      </dsp:nvSpPr>
      <dsp:spPr>
        <a:xfrm>
          <a:off x="1480169" y="645803"/>
          <a:ext cx="1873160" cy="495276"/>
        </a:xfrm>
        <a:prstGeom prst="trapezoid">
          <a:avLst>
            <a:gd name="adj" fmla="val 82078"/>
          </a:avLst>
        </a:prstGeom>
        <a:solidFill>
          <a:srgbClr val="78909C">
            <a:hueOff val="-2852377"/>
            <a:satOff val="24176"/>
            <a:lumOff val="2409"/>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Main Memory</a:t>
          </a:r>
        </a:p>
      </dsp:txBody>
      <dsp:txXfrm>
        <a:off x="2078980" y="756044"/>
        <a:ext cx="675538" cy="385035"/>
      </dsp:txXfrm>
    </dsp:sp>
    <dsp:sp modelId="{444F5993-A0DA-A341-9CF3-EC87161A5B0F}">
      <dsp:nvSpPr>
        <dsp:cNvPr id="0" name=""/>
        <dsp:cNvSpPr/>
      </dsp:nvSpPr>
      <dsp:spPr>
        <a:xfrm>
          <a:off x="1110613" y="1141080"/>
          <a:ext cx="2612273" cy="450248"/>
        </a:xfrm>
        <a:prstGeom prst="trapezoid">
          <a:avLst>
            <a:gd name="adj" fmla="val 82078"/>
          </a:avLst>
        </a:prstGeom>
        <a:solidFill>
          <a:srgbClr val="78909C">
            <a:hueOff val="-4278565"/>
            <a:satOff val="36264"/>
            <a:lumOff val="3613"/>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CXL-Memory</a:t>
          </a:r>
        </a:p>
      </dsp:txBody>
      <dsp:txXfrm>
        <a:off x="1814131" y="1206409"/>
        <a:ext cx="1205237" cy="384919"/>
      </dsp:txXfrm>
    </dsp:sp>
    <dsp:sp modelId="{048A76DA-6852-A941-8B04-6EEED2DD99C8}">
      <dsp:nvSpPr>
        <dsp:cNvPr id="0" name=""/>
        <dsp:cNvSpPr/>
      </dsp:nvSpPr>
      <dsp:spPr>
        <a:xfrm>
          <a:off x="832959" y="1591329"/>
          <a:ext cx="3167580" cy="338278"/>
        </a:xfrm>
        <a:prstGeom prst="trapezoid">
          <a:avLst>
            <a:gd name="adj" fmla="val 82078"/>
          </a:avLst>
        </a:prstGeom>
        <a:solidFill>
          <a:srgbClr val="78909C">
            <a:hueOff val="-5704754"/>
            <a:satOff val="48351"/>
            <a:lumOff val="4818"/>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NVM </a:t>
          </a:r>
        </a:p>
      </dsp:txBody>
      <dsp:txXfrm>
        <a:off x="1572387" y="1621741"/>
        <a:ext cx="1688725" cy="307866"/>
      </dsp:txXfrm>
    </dsp:sp>
    <dsp:sp modelId="{11B0D671-AC68-8748-B7BB-72C5302EEB7B}">
      <dsp:nvSpPr>
        <dsp:cNvPr id="0" name=""/>
        <dsp:cNvSpPr/>
      </dsp:nvSpPr>
      <dsp:spPr>
        <a:xfrm>
          <a:off x="555306" y="1929607"/>
          <a:ext cx="3722886" cy="338278"/>
        </a:xfrm>
        <a:prstGeom prst="trapezoid">
          <a:avLst>
            <a:gd name="adj" fmla="val 82078"/>
          </a:avLst>
        </a:prstGeom>
        <a:solidFill>
          <a:srgbClr val="78909C">
            <a:hueOff val="-7130942"/>
            <a:satOff val="60439"/>
            <a:lumOff val="6022"/>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Network Attached Memory</a:t>
          </a:r>
        </a:p>
      </dsp:txBody>
      <dsp:txXfrm>
        <a:off x="1391912" y="1955483"/>
        <a:ext cx="2049674" cy="312402"/>
      </dsp:txXfrm>
    </dsp:sp>
    <dsp:sp modelId="{3479AF6D-63FE-C84D-9D14-1ED329C3278C}">
      <dsp:nvSpPr>
        <dsp:cNvPr id="0" name=""/>
        <dsp:cNvSpPr/>
      </dsp:nvSpPr>
      <dsp:spPr>
        <a:xfrm>
          <a:off x="277653" y="2267886"/>
          <a:ext cx="4278193" cy="338278"/>
        </a:xfrm>
        <a:prstGeom prst="trapezoid">
          <a:avLst>
            <a:gd name="adj" fmla="val 82078"/>
          </a:avLst>
        </a:prstGeom>
        <a:solidFill>
          <a:srgbClr val="78909C">
            <a:hueOff val="-8557130"/>
            <a:satOff val="72527"/>
            <a:lumOff val="7227"/>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SSD</a:t>
          </a:r>
        </a:p>
      </dsp:txBody>
      <dsp:txXfrm>
        <a:off x="1211438" y="2290403"/>
        <a:ext cx="2410623" cy="315761"/>
      </dsp:txXfrm>
    </dsp:sp>
    <dsp:sp modelId="{6727E15D-A8A8-1846-A32E-3ED549E239BE}">
      <dsp:nvSpPr>
        <dsp:cNvPr id="0" name=""/>
        <dsp:cNvSpPr/>
      </dsp:nvSpPr>
      <dsp:spPr>
        <a:xfrm>
          <a:off x="0" y="2606164"/>
          <a:ext cx="4833499" cy="338278"/>
        </a:xfrm>
        <a:prstGeom prst="trapezoid">
          <a:avLst>
            <a:gd name="adj" fmla="val 82078"/>
          </a:avLst>
        </a:prstGeom>
        <a:solidFill>
          <a:srgbClr val="78909C">
            <a:hueOff val="-9983318"/>
            <a:satOff val="84615"/>
            <a:lumOff val="8431"/>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HDD</a:t>
          </a:r>
        </a:p>
      </dsp:txBody>
      <dsp:txXfrm>
        <a:off x="1030963" y="2626094"/>
        <a:ext cx="2771572" cy="318348"/>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04D10A-81D1-8748-8404-C44E2799F913}" type="datetimeFigureOut">
              <a:rPr lang="en-US" smtClean="0"/>
              <a:t>1/12/26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2DBF5F-E884-8D4B-8536-498293E3FBD0}" type="slidenum">
              <a:rPr lang="en-US" smtClean="0"/>
              <a:t>‹#›</a:t>
            </a:fld>
            <a:endParaRPr lang="en-US"/>
          </a:p>
        </p:txBody>
      </p:sp>
    </p:spTree>
    <p:extLst>
      <p:ext uri="{BB962C8B-B14F-4D97-AF65-F5344CB8AC3E}">
        <p14:creationId xmlns:p14="http://schemas.microsoft.com/office/powerpoint/2010/main" val="995821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2DBF5F-E884-8D4B-8536-498293E3FBD0}" type="slidenum">
              <a:rPr lang="en-US" smtClean="0"/>
              <a:t>1</a:t>
            </a:fld>
            <a:endParaRPr lang="en-US"/>
          </a:p>
        </p:txBody>
      </p:sp>
    </p:spTree>
    <p:extLst>
      <p:ext uri="{BB962C8B-B14F-4D97-AF65-F5344CB8AC3E}">
        <p14:creationId xmlns:p14="http://schemas.microsoft.com/office/powerpoint/2010/main" val="1276240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2DBF5F-E884-8D4B-8536-498293E3FBD0}" type="slidenum">
              <a:rPr lang="en-US" smtClean="0"/>
              <a:t>9</a:t>
            </a:fld>
            <a:endParaRPr lang="en-US"/>
          </a:p>
        </p:txBody>
      </p:sp>
    </p:spTree>
    <p:extLst>
      <p:ext uri="{BB962C8B-B14F-4D97-AF65-F5344CB8AC3E}">
        <p14:creationId xmlns:p14="http://schemas.microsoft.com/office/powerpoint/2010/main" val="1127822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2DBF5F-E884-8D4B-8536-498293E3FBD0}" type="slidenum">
              <a:rPr lang="en-US" smtClean="0"/>
              <a:t>39</a:t>
            </a:fld>
            <a:endParaRPr lang="en-US"/>
          </a:p>
        </p:txBody>
      </p:sp>
    </p:spTree>
    <p:extLst>
      <p:ext uri="{BB962C8B-B14F-4D97-AF65-F5344CB8AC3E}">
        <p14:creationId xmlns:p14="http://schemas.microsoft.com/office/powerpoint/2010/main" val="298107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US"/>
              <a:t>1/13/26</a:t>
            </a:r>
          </a:p>
        </p:txBody>
      </p:sp>
      <p:sp>
        <p:nvSpPr>
          <p:cNvPr id="5" name="Footer Placeholder 4"/>
          <p:cNvSpPr>
            <a:spLocks noGrp="1"/>
          </p:cNvSpPr>
          <p:nvPr>
            <p:ph type="ftr" sz="quarter" idx="11"/>
          </p:nvPr>
        </p:nvSpPr>
        <p:spPr/>
        <p:txBody>
          <a:bodyPr/>
          <a:lstStyle/>
          <a:p>
            <a:r>
              <a:rPr lang="en-US"/>
              <a:t>CSE 585 – W26</a:t>
            </a:r>
            <a:endParaRPr lang="en-US" dirty="0"/>
          </a:p>
        </p:txBody>
      </p:sp>
      <p:sp>
        <p:nvSpPr>
          <p:cNvPr id="6" name="Slide Number Placeholder 5"/>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2095256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1/13/26</a:t>
            </a:r>
          </a:p>
        </p:txBody>
      </p:sp>
      <p:sp>
        <p:nvSpPr>
          <p:cNvPr id="5" name="Footer Placeholder 4"/>
          <p:cNvSpPr>
            <a:spLocks noGrp="1"/>
          </p:cNvSpPr>
          <p:nvPr>
            <p:ph type="ftr" sz="quarter" idx="11"/>
          </p:nvPr>
        </p:nvSpPr>
        <p:spPr/>
        <p:txBody>
          <a:bodyPr/>
          <a:lstStyle/>
          <a:p>
            <a:r>
              <a:rPr lang="en-US"/>
              <a:t>CSE 585 – W26</a:t>
            </a:r>
          </a:p>
        </p:txBody>
      </p:sp>
      <p:sp>
        <p:nvSpPr>
          <p:cNvPr id="6" name="Slide Number Placeholder 5"/>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1977216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1/13/26</a:t>
            </a:r>
          </a:p>
        </p:txBody>
      </p:sp>
      <p:sp>
        <p:nvSpPr>
          <p:cNvPr id="5" name="Footer Placeholder 4"/>
          <p:cNvSpPr>
            <a:spLocks noGrp="1"/>
          </p:cNvSpPr>
          <p:nvPr>
            <p:ph type="ftr" sz="quarter" idx="11"/>
          </p:nvPr>
        </p:nvSpPr>
        <p:spPr/>
        <p:txBody>
          <a:bodyPr/>
          <a:lstStyle/>
          <a:p>
            <a:r>
              <a:rPr lang="en-US"/>
              <a:t>CSE 585 – W26</a:t>
            </a:r>
          </a:p>
        </p:txBody>
      </p:sp>
      <p:sp>
        <p:nvSpPr>
          <p:cNvPr id="6" name="Slide Number Placeholder 5"/>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907761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1/13/26</a:t>
            </a:r>
          </a:p>
        </p:txBody>
      </p:sp>
      <p:sp>
        <p:nvSpPr>
          <p:cNvPr id="6" name="Footer Placeholder 5"/>
          <p:cNvSpPr>
            <a:spLocks noGrp="1"/>
          </p:cNvSpPr>
          <p:nvPr>
            <p:ph type="ftr" sz="quarter" idx="11"/>
          </p:nvPr>
        </p:nvSpPr>
        <p:spPr/>
        <p:txBody>
          <a:bodyPr/>
          <a:lstStyle/>
          <a:p>
            <a:r>
              <a:rPr lang="en-US"/>
              <a:t>CSE 585 – W26</a:t>
            </a:r>
          </a:p>
        </p:txBody>
      </p:sp>
      <p:sp>
        <p:nvSpPr>
          <p:cNvPr id="7" name="Slide Number Placeholder 6"/>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1026895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1/13/26</a:t>
            </a:r>
          </a:p>
        </p:txBody>
      </p:sp>
      <p:sp>
        <p:nvSpPr>
          <p:cNvPr id="8" name="Footer Placeholder 7"/>
          <p:cNvSpPr>
            <a:spLocks noGrp="1"/>
          </p:cNvSpPr>
          <p:nvPr>
            <p:ph type="ftr" sz="quarter" idx="11"/>
          </p:nvPr>
        </p:nvSpPr>
        <p:spPr/>
        <p:txBody>
          <a:bodyPr/>
          <a:lstStyle/>
          <a:p>
            <a:r>
              <a:rPr lang="en-US"/>
              <a:t>CSE 585 – W26</a:t>
            </a:r>
          </a:p>
        </p:txBody>
      </p:sp>
      <p:sp>
        <p:nvSpPr>
          <p:cNvPr id="9" name="Slide Number Placeholder 8"/>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1854787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1/13/26</a:t>
            </a:r>
          </a:p>
        </p:txBody>
      </p:sp>
      <p:sp>
        <p:nvSpPr>
          <p:cNvPr id="4" name="Footer Placeholder 3"/>
          <p:cNvSpPr>
            <a:spLocks noGrp="1"/>
          </p:cNvSpPr>
          <p:nvPr>
            <p:ph type="ftr" sz="quarter" idx="11"/>
          </p:nvPr>
        </p:nvSpPr>
        <p:spPr/>
        <p:txBody>
          <a:bodyPr/>
          <a:lstStyle/>
          <a:p>
            <a:r>
              <a:rPr lang="en-US"/>
              <a:t>CSE 585 – W26</a:t>
            </a:r>
          </a:p>
        </p:txBody>
      </p:sp>
      <p:sp>
        <p:nvSpPr>
          <p:cNvPr id="5" name="Slide Number Placeholder 4"/>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534203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1/13/26</a:t>
            </a:r>
          </a:p>
        </p:txBody>
      </p:sp>
      <p:sp>
        <p:nvSpPr>
          <p:cNvPr id="3" name="Footer Placeholder 2"/>
          <p:cNvSpPr>
            <a:spLocks noGrp="1"/>
          </p:cNvSpPr>
          <p:nvPr>
            <p:ph type="ftr" sz="quarter" idx="11"/>
          </p:nvPr>
        </p:nvSpPr>
        <p:spPr/>
        <p:txBody>
          <a:bodyPr/>
          <a:lstStyle/>
          <a:p>
            <a:r>
              <a:rPr lang="en-US"/>
              <a:t>CSE 585 – W26</a:t>
            </a:r>
          </a:p>
        </p:txBody>
      </p:sp>
      <p:sp>
        <p:nvSpPr>
          <p:cNvPr id="4" name="Slide Number Placeholder 3"/>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1875941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nchor="t"/>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1/13/26</a:t>
            </a:r>
          </a:p>
        </p:txBody>
      </p:sp>
      <p:sp>
        <p:nvSpPr>
          <p:cNvPr id="6" name="Footer Placeholder 5"/>
          <p:cNvSpPr>
            <a:spLocks noGrp="1"/>
          </p:cNvSpPr>
          <p:nvPr>
            <p:ph type="ftr" sz="quarter" idx="11"/>
          </p:nvPr>
        </p:nvSpPr>
        <p:spPr/>
        <p:txBody>
          <a:bodyPr/>
          <a:lstStyle/>
          <a:p>
            <a:r>
              <a:rPr lang="en-US"/>
              <a:t>CSE 585 – W26</a:t>
            </a:r>
          </a:p>
        </p:txBody>
      </p:sp>
      <p:sp>
        <p:nvSpPr>
          <p:cNvPr id="7" name="Slide Number Placeholder 6"/>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1739251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1/13/26</a:t>
            </a:r>
          </a:p>
        </p:txBody>
      </p:sp>
      <p:sp>
        <p:nvSpPr>
          <p:cNvPr id="6" name="Footer Placeholder 5"/>
          <p:cNvSpPr>
            <a:spLocks noGrp="1"/>
          </p:cNvSpPr>
          <p:nvPr>
            <p:ph type="ftr" sz="quarter" idx="11"/>
          </p:nvPr>
        </p:nvSpPr>
        <p:spPr/>
        <p:txBody>
          <a:bodyPr/>
          <a:lstStyle/>
          <a:p>
            <a:r>
              <a:rPr lang="en-US"/>
              <a:t>CSE 585 – W26</a:t>
            </a:r>
          </a:p>
        </p:txBody>
      </p:sp>
      <p:sp>
        <p:nvSpPr>
          <p:cNvPr id="7" name="Slide Number Placeholder 6"/>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47700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1/13/26</a:t>
            </a:r>
          </a:p>
        </p:txBody>
      </p:sp>
      <p:sp>
        <p:nvSpPr>
          <p:cNvPr id="5" name="Footer Placeholder 4"/>
          <p:cNvSpPr>
            <a:spLocks noGrp="1"/>
          </p:cNvSpPr>
          <p:nvPr>
            <p:ph type="ftr" sz="quarter" idx="11"/>
          </p:nvPr>
        </p:nvSpPr>
        <p:spPr/>
        <p:txBody>
          <a:bodyPr/>
          <a:lstStyle/>
          <a:p>
            <a:r>
              <a:rPr lang="en-US"/>
              <a:t>CSE 585 – W26</a:t>
            </a:r>
          </a:p>
        </p:txBody>
      </p:sp>
      <p:sp>
        <p:nvSpPr>
          <p:cNvPr id="6" name="Slide Number Placeholder 5"/>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687760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1/13/26</a:t>
            </a:r>
          </a:p>
        </p:txBody>
      </p:sp>
      <p:sp>
        <p:nvSpPr>
          <p:cNvPr id="5" name="Footer Placeholder 4"/>
          <p:cNvSpPr>
            <a:spLocks noGrp="1"/>
          </p:cNvSpPr>
          <p:nvPr>
            <p:ph type="ftr" sz="quarter" idx="11"/>
          </p:nvPr>
        </p:nvSpPr>
        <p:spPr/>
        <p:txBody>
          <a:bodyPr/>
          <a:lstStyle/>
          <a:p>
            <a:r>
              <a:rPr lang="en-US"/>
              <a:t>CSE 585 – W26</a:t>
            </a:r>
          </a:p>
        </p:txBody>
      </p:sp>
      <p:sp>
        <p:nvSpPr>
          <p:cNvPr id="6" name="Slide Number Placeholder 5"/>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1429701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Gill Sans Light" charset="0"/>
                <a:ea typeface="Gill Sans Light" charset="0"/>
                <a:cs typeface="Gill Sans Light" charset="0"/>
              </a:defRPr>
            </a:lvl1pPr>
          </a:lstStyle>
          <a:p>
            <a:r>
              <a:rPr lang="en-US"/>
              <a:t>1/13/26</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Gill Sans Light" charset="0"/>
                <a:ea typeface="Gill Sans Light" charset="0"/>
                <a:cs typeface="Gill Sans Light" charset="0"/>
              </a:defRPr>
            </a:lvl1pPr>
          </a:lstStyle>
          <a:p>
            <a:r>
              <a:rPr lang="en-US"/>
              <a:t>CSE 585 – W26</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Gill Sans Light" charset="0"/>
                <a:ea typeface="Gill Sans Light" charset="0"/>
                <a:cs typeface="Gill Sans Light" charset="0"/>
              </a:defRPr>
            </a:lvl1pPr>
          </a:lstStyle>
          <a:p>
            <a:fld id="{4EEF9975-6C58-5C4C-8961-54FFA2646BAA}" type="slidenum">
              <a:rPr lang="en-US" smtClean="0"/>
              <a:pPr/>
              <a:t>‹#›</a:t>
            </a:fld>
            <a:endParaRPr lang="en-US"/>
          </a:p>
        </p:txBody>
      </p:sp>
    </p:spTree>
    <p:extLst>
      <p:ext uri="{BB962C8B-B14F-4D97-AF65-F5344CB8AC3E}">
        <p14:creationId xmlns:p14="http://schemas.microsoft.com/office/powerpoint/2010/main" val="872687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Gill Sans" charset="0"/>
          <a:ea typeface="Gill Sans" charset="0"/>
          <a:cs typeface="Gill Sans"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Gill Sans" charset="0"/>
          <a:ea typeface="Gill Sans" charset="0"/>
          <a:cs typeface="Gill Sans" charset="0"/>
        </a:defRPr>
      </a:lvl1pPr>
      <a:lvl2pPr marL="685800" indent="-228600" algn="l" defTabSz="914400" rtl="0" eaLnBrk="1" latinLnBrk="0" hangingPunct="1">
        <a:lnSpc>
          <a:spcPct val="90000"/>
        </a:lnSpc>
        <a:spcBef>
          <a:spcPts val="500"/>
        </a:spcBef>
        <a:buFont typeface="Arial"/>
        <a:buChar char="•"/>
        <a:defRPr sz="2400" b="0" i="0" kern="1200">
          <a:solidFill>
            <a:schemeClr val="tx1"/>
          </a:solidFill>
          <a:latin typeface="Gill Sans Light" charset="0"/>
          <a:ea typeface="Gill Sans Light" charset="0"/>
          <a:cs typeface="Gill Sans Light" charset="0"/>
        </a:defRPr>
      </a:lvl2pPr>
      <a:lvl3pPr marL="1143000" indent="-228600" algn="l" defTabSz="914400" rtl="0" eaLnBrk="1" latinLnBrk="0" hangingPunct="1">
        <a:lnSpc>
          <a:spcPct val="90000"/>
        </a:lnSpc>
        <a:spcBef>
          <a:spcPts val="500"/>
        </a:spcBef>
        <a:buFont typeface="Arial"/>
        <a:buChar char="•"/>
        <a:defRPr sz="2000" b="0" i="0" kern="1200">
          <a:solidFill>
            <a:schemeClr val="tx1"/>
          </a:solidFill>
          <a:latin typeface="Gill Sans Light" charset="0"/>
          <a:ea typeface="Gill Sans Light" charset="0"/>
          <a:cs typeface="Gill Sans Light" charset="0"/>
        </a:defRPr>
      </a:lvl3pPr>
      <a:lvl4pPr marL="1600200" indent="-228600" algn="l" defTabSz="914400" rtl="0" eaLnBrk="1" latinLnBrk="0" hangingPunct="1">
        <a:lnSpc>
          <a:spcPct val="90000"/>
        </a:lnSpc>
        <a:spcBef>
          <a:spcPts val="500"/>
        </a:spcBef>
        <a:buFont typeface="Arial"/>
        <a:buChar char="•"/>
        <a:defRPr sz="1800" b="0" i="0" kern="1200">
          <a:solidFill>
            <a:schemeClr val="tx1"/>
          </a:solidFill>
          <a:latin typeface="Gill Sans Light" charset="0"/>
          <a:ea typeface="Gill Sans Light" charset="0"/>
          <a:cs typeface="Gill Sans Light" charset="0"/>
        </a:defRPr>
      </a:lvl4pPr>
      <a:lvl5pPr marL="2057400" indent="-228600" algn="l" defTabSz="914400" rtl="0" eaLnBrk="1" latinLnBrk="0" hangingPunct="1">
        <a:lnSpc>
          <a:spcPct val="90000"/>
        </a:lnSpc>
        <a:spcBef>
          <a:spcPts val="500"/>
        </a:spcBef>
        <a:buFont typeface="Arial"/>
        <a:buChar char="•"/>
        <a:defRPr sz="1800" b="0" i="0" kern="1200">
          <a:solidFill>
            <a:schemeClr val="tx1"/>
          </a:solidFill>
          <a:latin typeface="Gill Sans Light" charset="0"/>
          <a:ea typeface="Gill Sans Light" charset="0"/>
          <a:cs typeface="Gill Sans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symbioticlab.org/" TargetMode="External"/><Relationship Id="rId7" Type="http://schemas.openxmlformats.org/officeDocument/2006/relationships/image" Target="../media/image6.png"/><Relationship Id="rId2" Type="http://schemas.openxmlformats.org/officeDocument/2006/relationships/hyperlink" Target="http://www.mosharaf.com/" TargetMode="Externa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mosharaf/cse585"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edstem.org/us/join/99Gwqq" TargetMode="External"/><Relationship Id="rId2" Type="http://schemas.openxmlformats.org/officeDocument/2006/relationships/hyperlink" Target="https://docs.google.com/forms/d/e/1FAIpQLSe46GejPTulNCZO9q7CRaAJsIQJT0ZesRKlNC2zNIAKWmQxSA/viewform?usp=header"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cs.berkeley.edu/~pattrsn/talks/BadTalk.pdf" TargetMode="External"/><Relationship Id="rId2" Type="http://schemas.openxmlformats.org/officeDocument/2006/relationships/hyperlink" Target="mailto:cse585-staff@umich.edu"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mailto:cse585-staff@umich.edu"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image" Target="../media/image9.tiff"/><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tiff"/></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image" Target="../media/image9.tiff"/><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tiff"/></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research.microsoft.com/en-us/um/people/simonpj/papers/giving-a-talk/writing-a-paper-slides.pdf"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2420" y="1122363"/>
            <a:ext cx="11567160" cy="2387600"/>
          </a:xfrm>
        </p:spPr>
        <p:txBody>
          <a:bodyPr anchor="ctr"/>
          <a:lstStyle/>
          <a:p>
            <a:r>
              <a:rPr lang="en-US" dirty="0"/>
              <a:t>CSE 585: Advanced Scalable Systems for Agentic AI</a:t>
            </a:r>
          </a:p>
        </p:txBody>
      </p:sp>
      <p:sp>
        <p:nvSpPr>
          <p:cNvPr id="4" name="Footer Placeholder 3"/>
          <p:cNvSpPr>
            <a:spLocks noGrp="1"/>
          </p:cNvSpPr>
          <p:nvPr>
            <p:ph type="ftr" sz="quarter" idx="11"/>
          </p:nvPr>
        </p:nvSpPr>
        <p:spPr/>
        <p:txBody>
          <a:bodyPr/>
          <a:lstStyle/>
          <a:p>
            <a:r>
              <a:rPr lang="en-US"/>
              <a:t>CSE 585 – W26</a:t>
            </a:r>
            <a:endParaRPr lang="en-US" dirty="0"/>
          </a:p>
        </p:txBody>
      </p:sp>
      <p:sp>
        <p:nvSpPr>
          <p:cNvPr id="5" name="Slide Number Placeholder 4"/>
          <p:cNvSpPr>
            <a:spLocks noGrp="1"/>
          </p:cNvSpPr>
          <p:nvPr>
            <p:ph type="sldNum" sz="quarter" idx="12"/>
          </p:nvPr>
        </p:nvSpPr>
        <p:spPr/>
        <p:txBody>
          <a:bodyPr/>
          <a:lstStyle/>
          <a:p>
            <a:fld id="{4EEF9975-6C58-5C4C-8961-54FFA2646BAA}" type="slidenum">
              <a:rPr lang="en-US" smtClean="0"/>
              <a:t>1</a:t>
            </a:fld>
            <a:endParaRPr lang="en-US"/>
          </a:p>
        </p:txBody>
      </p:sp>
      <p:sp>
        <p:nvSpPr>
          <p:cNvPr id="6" name="Date Placeholder 5"/>
          <p:cNvSpPr>
            <a:spLocks noGrp="1"/>
          </p:cNvSpPr>
          <p:nvPr>
            <p:ph type="dt" sz="half" idx="10"/>
          </p:nvPr>
        </p:nvSpPr>
        <p:spPr/>
        <p:txBody>
          <a:bodyPr/>
          <a:lstStyle/>
          <a:p>
            <a:r>
              <a:rPr lang="en-US"/>
              <a:t>1/13/26</a:t>
            </a:r>
          </a:p>
        </p:txBody>
      </p:sp>
      <p:grpSp>
        <p:nvGrpSpPr>
          <p:cNvPr id="9" name="Group 8">
            <a:extLst>
              <a:ext uri="{FF2B5EF4-FFF2-40B4-BE49-F238E27FC236}">
                <a16:creationId xmlns:a16="http://schemas.microsoft.com/office/drawing/2014/main" id="{E4D97E45-98E1-9A5E-07AF-831584FE14C3}"/>
              </a:ext>
            </a:extLst>
          </p:cNvPr>
          <p:cNvGrpSpPr/>
          <p:nvPr/>
        </p:nvGrpSpPr>
        <p:grpSpPr>
          <a:xfrm>
            <a:off x="3468924" y="3994577"/>
            <a:ext cx="5254151" cy="1333041"/>
            <a:chOff x="3509813" y="3514517"/>
            <a:chExt cx="5254151" cy="1333041"/>
          </a:xfrm>
        </p:grpSpPr>
        <p:pic>
          <p:nvPicPr>
            <p:cNvPr id="10" name="Picture 9">
              <a:extLst>
                <a:ext uri="{FF2B5EF4-FFF2-40B4-BE49-F238E27FC236}">
                  <a16:creationId xmlns:a16="http://schemas.microsoft.com/office/drawing/2014/main" id="{940D7E11-9D86-5BAA-6164-203857AB668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09813" y="4240170"/>
              <a:ext cx="2286000" cy="607388"/>
            </a:xfrm>
            <a:prstGeom prst="rect">
              <a:avLst/>
            </a:prstGeom>
          </p:spPr>
        </p:pic>
        <p:pic>
          <p:nvPicPr>
            <p:cNvPr id="11" name="Picture 10">
              <a:extLst>
                <a:ext uri="{FF2B5EF4-FFF2-40B4-BE49-F238E27FC236}">
                  <a16:creationId xmlns:a16="http://schemas.microsoft.com/office/drawing/2014/main" id="{116C58C0-A606-37F0-F404-D6557A3AD6F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477964" y="4314120"/>
              <a:ext cx="2286000" cy="459488"/>
            </a:xfrm>
            <a:prstGeom prst="rect">
              <a:avLst/>
            </a:prstGeom>
          </p:spPr>
        </p:pic>
        <p:sp>
          <p:nvSpPr>
            <p:cNvPr id="12" name="Subtitle 8">
              <a:extLst>
                <a:ext uri="{FF2B5EF4-FFF2-40B4-BE49-F238E27FC236}">
                  <a16:creationId xmlns:a16="http://schemas.microsoft.com/office/drawing/2014/main" id="{003AB824-0F81-BC69-DE9B-34B6EF0EF0E2}"/>
                </a:ext>
              </a:extLst>
            </p:cNvPr>
            <p:cNvSpPr txBox="1">
              <a:spLocks/>
            </p:cNvSpPr>
            <p:nvPr/>
          </p:nvSpPr>
          <p:spPr bwMode="auto">
            <a:xfrm>
              <a:off x="4541533" y="3514517"/>
              <a:ext cx="3136922" cy="50970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0" indent="0" algn="l" defTabSz="457200" rtl="0" eaLnBrk="0" fontAlgn="base" hangingPunct="0">
                <a:spcBef>
                  <a:spcPts val="2000"/>
                </a:spcBef>
                <a:spcAft>
                  <a:spcPct val="0"/>
                </a:spcAft>
                <a:buNone/>
                <a:defRPr sz="2800" kern="1200">
                  <a:solidFill>
                    <a:schemeClr val="tx1"/>
                  </a:solidFill>
                  <a:latin typeface="Gill Sans"/>
                  <a:ea typeface="ＭＳ Ｐゴシック" pitchFamily="-65" charset="-128"/>
                  <a:cs typeface="Gill Sans"/>
                </a:defRPr>
              </a:lvl1pPr>
              <a:lvl2pPr marL="457200" indent="0" algn="ctr" defTabSz="457200" rtl="0" eaLnBrk="0" fontAlgn="base" hangingPunct="0">
                <a:spcBef>
                  <a:spcPct val="0"/>
                </a:spcBef>
                <a:spcAft>
                  <a:spcPct val="0"/>
                </a:spcAft>
                <a:buSzPct val="100000"/>
                <a:buFont typeface="Lucida Grande" charset="0"/>
                <a:buNone/>
                <a:defRPr sz="2700" kern="1200">
                  <a:solidFill>
                    <a:schemeClr val="tx1">
                      <a:tint val="75000"/>
                    </a:schemeClr>
                  </a:solidFill>
                  <a:latin typeface="Gill Sans"/>
                  <a:ea typeface="ＭＳ Ｐゴシック" pitchFamily="-65" charset="-128"/>
                  <a:cs typeface="Gill Sans"/>
                </a:defRPr>
              </a:lvl2pPr>
              <a:lvl3pPr marL="914400" indent="0" algn="ctr" defTabSz="457200" rtl="0" eaLnBrk="0" fontAlgn="base" hangingPunct="0">
                <a:spcBef>
                  <a:spcPct val="20000"/>
                </a:spcBef>
                <a:spcAft>
                  <a:spcPct val="0"/>
                </a:spcAft>
                <a:buFont typeface="Arial" charset="0"/>
                <a:buNone/>
                <a:defRPr sz="2400" kern="1200">
                  <a:solidFill>
                    <a:schemeClr val="tx1">
                      <a:tint val="75000"/>
                    </a:schemeClr>
                  </a:solidFill>
                  <a:latin typeface="Gill Sans"/>
                  <a:ea typeface="ＭＳ Ｐゴシック" pitchFamily="-65" charset="-128"/>
                  <a:cs typeface="Gill Sans"/>
                </a:defRPr>
              </a:lvl3pPr>
              <a:lvl4pPr marL="1371600" indent="0" algn="ctr" defTabSz="457200" rtl="0" eaLnBrk="0" fontAlgn="base" hangingPunct="0">
                <a:spcBef>
                  <a:spcPct val="20000"/>
                </a:spcBef>
                <a:spcAft>
                  <a:spcPct val="0"/>
                </a:spcAft>
                <a:buFont typeface="Arial" charset="0"/>
                <a:buNone/>
                <a:defRPr sz="2000" kern="1200">
                  <a:solidFill>
                    <a:schemeClr val="tx1">
                      <a:tint val="75000"/>
                    </a:schemeClr>
                  </a:solidFill>
                  <a:latin typeface="Gill Sans"/>
                  <a:ea typeface="ＭＳ Ｐゴシック" pitchFamily="-65" charset="-128"/>
                  <a:cs typeface="Gill Sans"/>
                </a:defRPr>
              </a:lvl4pPr>
              <a:lvl5pPr marL="1828800" indent="0" algn="ctr" defTabSz="457200" rtl="0" eaLnBrk="0" fontAlgn="base" hangingPunct="0">
                <a:spcBef>
                  <a:spcPct val="20000"/>
                </a:spcBef>
                <a:spcAft>
                  <a:spcPct val="0"/>
                </a:spcAft>
                <a:buFont typeface="Arial" charset="0"/>
                <a:buNone/>
                <a:defRPr sz="2000" kern="1200">
                  <a:solidFill>
                    <a:schemeClr val="tx1">
                      <a:tint val="75000"/>
                    </a:schemeClr>
                  </a:solidFill>
                  <a:latin typeface="Gill Sans"/>
                  <a:ea typeface="ＭＳ Ｐゴシック" pitchFamily="-65" charset="-128"/>
                  <a:cs typeface="Gill San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ctr"/>
              <a:r>
                <a:rPr lang="en-US" sz="2400" dirty="0">
                  <a:latin typeface="Gill Sans" panose="020B0502020104020203" pitchFamily="34" charset="-79"/>
                  <a:ea typeface="Gill Sans" charset="0"/>
                  <a:cs typeface="Gill Sans" panose="020B0502020104020203" pitchFamily="34" charset="-79"/>
                </a:rPr>
                <a:t>Mosharaf Chowdhury</a:t>
              </a:r>
            </a:p>
          </p:txBody>
        </p:sp>
      </p:grpSp>
    </p:spTree>
    <p:extLst>
      <p:ext uri="{BB962C8B-B14F-4D97-AF65-F5344CB8AC3E}">
        <p14:creationId xmlns:p14="http://schemas.microsoft.com/office/powerpoint/2010/main" val="532126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Today’s Agenda</a:t>
            </a:r>
          </a:p>
        </p:txBody>
      </p:sp>
      <p:sp>
        <p:nvSpPr>
          <p:cNvPr id="3" name="Content Placeholder 2"/>
          <p:cNvSpPr>
            <a:spLocks noGrp="1"/>
          </p:cNvSpPr>
          <p:nvPr>
            <p:ph idx="1"/>
          </p:nvPr>
        </p:nvSpPr>
        <p:spPr/>
        <p:txBody>
          <a:bodyPr/>
          <a:lstStyle/>
          <a:p>
            <a:r>
              <a:rPr lang="en-US" dirty="0"/>
              <a:t>Administrivia</a:t>
            </a:r>
          </a:p>
          <a:p>
            <a:r>
              <a:rPr lang="en-US" dirty="0"/>
              <a:t>Topics</a:t>
            </a:r>
          </a:p>
          <a:p>
            <a:r>
              <a:rPr lang="en-US" dirty="0"/>
              <a:t>Projects</a:t>
            </a:r>
          </a:p>
        </p:txBody>
      </p:sp>
      <p:sp>
        <p:nvSpPr>
          <p:cNvPr id="4" name="Footer Placeholder 3"/>
          <p:cNvSpPr>
            <a:spLocks noGrp="1"/>
          </p:cNvSpPr>
          <p:nvPr>
            <p:ph type="ftr" sz="quarter" idx="11"/>
          </p:nvPr>
        </p:nvSpPr>
        <p:spPr/>
        <p:txBody>
          <a:bodyPr/>
          <a:lstStyle/>
          <a:p>
            <a:r>
              <a:rPr lang="en-US"/>
              <a:t>CSE 585 – W26</a:t>
            </a:r>
          </a:p>
        </p:txBody>
      </p:sp>
      <p:sp>
        <p:nvSpPr>
          <p:cNvPr id="5" name="Slide Number Placeholder 4"/>
          <p:cNvSpPr>
            <a:spLocks noGrp="1"/>
          </p:cNvSpPr>
          <p:nvPr>
            <p:ph type="sldNum" sz="quarter" idx="12"/>
          </p:nvPr>
        </p:nvSpPr>
        <p:spPr/>
        <p:txBody>
          <a:bodyPr/>
          <a:lstStyle/>
          <a:p>
            <a:fld id="{4EEF9975-6C58-5C4C-8961-54FFA2646BAA}" type="slidenum">
              <a:rPr lang="en-US" smtClean="0"/>
              <a:t>2</a:t>
            </a:fld>
            <a:endParaRPr lang="en-US"/>
          </a:p>
        </p:txBody>
      </p:sp>
      <p:sp>
        <p:nvSpPr>
          <p:cNvPr id="6" name="Date Placeholder 5"/>
          <p:cNvSpPr>
            <a:spLocks noGrp="1"/>
          </p:cNvSpPr>
          <p:nvPr>
            <p:ph type="dt" sz="half" idx="10"/>
          </p:nvPr>
        </p:nvSpPr>
        <p:spPr/>
        <p:txBody>
          <a:bodyPr/>
          <a:lstStyle/>
          <a:p>
            <a:r>
              <a:rPr lang="en-US"/>
              <a:t>1/13/26</a:t>
            </a:r>
          </a:p>
        </p:txBody>
      </p:sp>
    </p:spTree>
    <p:extLst>
      <p:ext uri="{BB962C8B-B14F-4D97-AF65-F5344CB8AC3E}">
        <p14:creationId xmlns:p14="http://schemas.microsoft.com/office/powerpoint/2010/main" val="2102742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About Mosharaf</a:t>
            </a:r>
          </a:p>
        </p:txBody>
      </p:sp>
      <p:sp>
        <p:nvSpPr>
          <p:cNvPr id="3" name="Content Placeholder 2"/>
          <p:cNvSpPr>
            <a:spLocks noGrp="1"/>
          </p:cNvSpPr>
          <p:nvPr>
            <p:ph idx="1"/>
          </p:nvPr>
        </p:nvSpPr>
        <p:spPr>
          <a:xfrm>
            <a:off x="838200" y="1825625"/>
            <a:ext cx="5257800" cy="4351338"/>
          </a:xfrm>
        </p:spPr>
        <p:txBody>
          <a:bodyPr>
            <a:normAutofit/>
          </a:bodyPr>
          <a:lstStyle/>
          <a:p>
            <a:r>
              <a:rPr lang="en-US" dirty="0"/>
              <a:t>Associate Professor of CSE</a:t>
            </a:r>
          </a:p>
          <a:p>
            <a:pPr lvl="1"/>
            <a:r>
              <a:rPr lang="en-US" dirty="0">
                <a:hlinkClick r:id="rId2"/>
              </a:rPr>
              <a:t>http://www.mosharaf.com/</a:t>
            </a:r>
            <a:endParaRPr lang="en-US" dirty="0"/>
          </a:p>
          <a:p>
            <a:pPr lvl="1"/>
            <a:r>
              <a:rPr lang="en-US" dirty="0">
                <a:hlinkClick r:id="rId3"/>
              </a:rPr>
              <a:t>https://symbioticlab.org/</a:t>
            </a:r>
            <a:endParaRPr lang="en-US" dirty="0"/>
          </a:p>
          <a:p>
            <a:r>
              <a:rPr lang="en-US" dirty="0"/>
              <a:t>Office hours:</a:t>
            </a:r>
          </a:p>
          <a:p>
            <a:pPr lvl="1"/>
            <a:r>
              <a:rPr lang="en-US" dirty="0"/>
              <a:t>Appointment-only</a:t>
            </a:r>
          </a:p>
        </p:txBody>
      </p:sp>
      <p:sp>
        <p:nvSpPr>
          <p:cNvPr id="4" name="Date Placeholder 3"/>
          <p:cNvSpPr>
            <a:spLocks noGrp="1"/>
          </p:cNvSpPr>
          <p:nvPr>
            <p:ph type="dt" sz="half" idx="10"/>
          </p:nvPr>
        </p:nvSpPr>
        <p:spPr/>
        <p:txBody>
          <a:bodyPr/>
          <a:lstStyle/>
          <a:p>
            <a:r>
              <a:rPr lang="en-US"/>
              <a:t>1/13/26</a:t>
            </a:r>
          </a:p>
        </p:txBody>
      </p:sp>
      <p:sp>
        <p:nvSpPr>
          <p:cNvPr id="5" name="Footer Placeholder 4"/>
          <p:cNvSpPr>
            <a:spLocks noGrp="1"/>
          </p:cNvSpPr>
          <p:nvPr>
            <p:ph type="ftr" sz="quarter" idx="11"/>
          </p:nvPr>
        </p:nvSpPr>
        <p:spPr/>
        <p:txBody>
          <a:bodyPr/>
          <a:lstStyle/>
          <a:p>
            <a:r>
              <a:rPr lang="en-US"/>
              <a:t>CSE 585 – W26</a:t>
            </a:r>
          </a:p>
        </p:txBody>
      </p:sp>
      <p:sp>
        <p:nvSpPr>
          <p:cNvPr id="6" name="Slide Number Placeholder 5"/>
          <p:cNvSpPr>
            <a:spLocks noGrp="1"/>
          </p:cNvSpPr>
          <p:nvPr>
            <p:ph type="sldNum" sz="quarter" idx="12"/>
          </p:nvPr>
        </p:nvSpPr>
        <p:spPr/>
        <p:txBody>
          <a:bodyPr/>
          <a:lstStyle/>
          <a:p>
            <a:fld id="{4EEF9975-6C58-5C4C-8961-54FFA2646BAA}" type="slidenum">
              <a:rPr lang="en-US" smtClean="0"/>
              <a:t>3</a:t>
            </a:fld>
            <a:endParaRPr lang="en-US"/>
          </a:p>
        </p:txBody>
      </p:sp>
      <p:sp>
        <p:nvSpPr>
          <p:cNvPr id="11" name="TextBox 10">
            <a:extLst>
              <a:ext uri="{FF2B5EF4-FFF2-40B4-BE49-F238E27FC236}">
                <a16:creationId xmlns:a16="http://schemas.microsoft.com/office/drawing/2014/main" id="{FD51733C-4038-E067-CB9C-880C1AFF0FBD}"/>
              </a:ext>
            </a:extLst>
          </p:cNvPr>
          <p:cNvSpPr txBox="1"/>
          <p:nvPr/>
        </p:nvSpPr>
        <p:spPr>
          <a:xfrm>
            <a:off x="7828200" y="5371157"/>
            <a:ext cx="1000595" cy="1323439"/>
          </a:xfrm>
          <a:prstGeom prst="rect">
            <a:avLst/>
          </a:prstGeom>
          <a:noFill/>
        </p:spPr>
        <p:txBody>
          <a:bodyPr wrap="none" rtlCol="0">
            <a:spAutoFit/>
          </a:bodyPr>
          <a:lstStyle/>
          <a:p>
            <a:r>
              <a:rPr lang="en-US" sz="8000" dirty="0">
                <a:latin typeface="Abril Fatface" panose="02000503000000020003" pitchFamily="2" charset="77"/>
              </a:rPr>
              <a:t>…</a:t>
            </a:r>
          </a:p>
        </p:txBody>
      </p:sp>
      <p:grpSp>
        <p:nvGrpSpPr>
          <p:cNvPr id="27" name="Group 26">
            <a:extLst>
              <a:ext uri="{FF2B5EF4-FFF2-40B4-BE49-F238E27FC236}">
                <a16:creationId xmlns:a16="http://schemas.microsoft.com/office/drawing/2014/main" id="{F99DC82B-2E6C-9B58-5188-C5B12F73F8ED}"/>
              </a:ext>
            </a:extLst>
          </p:cNvPr>
          <p:cNvGrpSpPr/>
          <p:nvPr/>
        </p:nvGrpSpPr>
        <p:grpSpPr>
          <a:xfrm>
            <a:off x="9151996" y="795510"/>
            <a:ext cx="2563522" cy="1088152"/>
            <a:chOff x="9394825" y="2114386"/>
            <a:chExt cx="2563522" cy="1088152"/>
          </a:xfrm>
        </p:grpSpPr>
        <p:pic>
          <p:nvPicPr>
            <p:cNvPr id="28" name="Picture 2">
              <a:extLst>
                <a:ext uri="{FF2B5EF4-FFF2-40B4-BE49-F238E27FC236}">
                  <a16:creationId xmlns:a16="http://schemas.microsoft.com/office/drawing/2014/main" id="{6A481548-4350-3309-11C8-8FB8A2254D06}"/>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9875851" y="2114386"/>
              <a:ext cx="1601470" cy="832014"/>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EA8BCC39-0A7A-49C5-C303-92CF947659A1}"/>
                </a:ext>
              </a:extLst>
            </p:cNvPr>
            <p:cNvSpPr txBox="1"/>
            <p:nvPr/>
          </p:nvSpPr>
          <p:spPr>
            <a:xfrm>
              <a:off x="9394825" y="2925539"/>
              <a:ext cx="2563522" cy="276999"/>
            </a:xfrm>
            <a:prstGeom prst="rect">
              <a:avLst/>
            </a:prstGeom>
            <a:noFill/>
          </p:spPr>
          <p:txBody>
            <a:bodyPr wrap="none" rtlCol="0">
              <a:spAutoFit/>
            </a:bodyPr>
            <a:lstStyle/>
            <a:p>
              <a:r>
                <a:rPr lang="en-US" sz="1200" i="1" dirty="0">
                  <a:solidFill>
                    <a:schemeClr val="bg1">
                      <a:lumMod val="50000"/>
                    </a:schemeClr>
                  </a:solidFill>
                  <a:latin typeface="Helvetica Light Oblique" panose="020B0403020202020204" pitchFamily="34" charset="0"/>
                  <a:cs typeface="Arial" panose="020B0604020202020204" pitchFamily="34" charset="0"/>
                </a:rPr>
                <a:t>in-memory computing (2009-2014)</a:t>
              </a:r>
            </a:p>
          </p:txBody>
        </p:sp>
      </p:grpSp>
      <p:grpSp>
        <p:nvGrpSpPr>
          <p:cNvPr id="30" name="Group 29">
            <a:extLst>
              <a:ext uri="{FF2B5EF4-FFF2-40B4-BE49-F238E27FC236}">
                <a16:creationId xmlns:a16="http://schemas.microsoft.com/office/drawing/2014/main" id="{07435FF9-87DD-E145-28B5-A81309775C58}"/>
              </a:ext>
            </a:extLst>
          </p:cNvPr>
          <p:cNvGrpSpPr/>
          <p:nvPr/>
        </p:nvGrpSpPr>
        <p:grpSpPr>
          <a:xfrm>
            <a:off x="9199899" y="2213921"/>
            <a:ext cx="2701381" cy="861138"/>
            <a:chOff x="9389404" y="3794760"/>
            <a:chExt cx="2701381" cy="861138"/>
          </a:xfrm>
        </p:grpSpPr>
        <p:sp>
          <p:nvSpPr>
            <p:cNvPr id="31" name="TextBox 30">
              <a:extLst>
                <a:ext uri="{FF2B5EF4-FFF2-40B4-BE49-F238E27FC236}">
                  <a16:creationId xmlns:a16="http://schemas.microsoft.com/office/drawing/2014/main" id="{C580B5B0-5BB0-9364-BA74-B69807A5FF12}"/>
                </a:ext>
              </a:extLst>
            </p:cNvPr>
            <p:cNvSpPr txBox="1"/>
            <p:nvPr/>
          </p:nvSpPr>
          <p:spPr>
            <a:xfrm>
              <a:off x="9493599" y="3794760"/>
              <a:ext cx="2492990" cy="646331"/>
            </a:xfrm>
            <a:prstGeom prst="rect">
              <a:avLst/>
            </a:prstGeom>
            <a:noFill/>
          </p:spPr>
          <p:txBody>
            <a:bodyPr wrap="none" rtlCol="0">
              <a:spAutoFit/>
            </a:bodyPr>
            <a:lstStyle/>
            <a:p>
              <a:r>
                <a:rPr lang="en-US" sz="3600" dirty="0">
                  <a:latin typeface="Abril Fatface" panose="02000503000000020003" pitchFamily="2" charset="77"/>
                </a:rPr>
                <a:t>Infiniswap</a:t>
              </a:r>
            </a:p>
          </p:txBody>
        </p:sp>
        <p:sp>
          <p:nvSpPr>
            <p:cNvPr id="32" name="TextBox 31">
              <a:extLst>
                <a:ext uri="{FF2B5EF4-FFF2-40B4-BE49-F238E27FC236}">
                  <a16:creationId xmlns:a16="http://schemas.microsoft.com/office/drawing/2014/main" id="{54FA467F-D9B1-1A1D-19B0-F21B5F65C578}"/>
                </a:ext>
              </a:extLst>
            </p:cNvPr>
            <p:cNvSpPr txBox="1"/>
            <p:nvPr/>
          </p:nvSpPr>
          <p:spPr>
            <a:xfrm>
              <a:off x="9389404" y="4378899"/>
              <a:ext cx="2701381" cy="276999"/>
            </a:xfrm>
            <a:prstGeom prst="rect">
              <a:avLst/>
            </a:prstGeom>
            <a:noFill/>
          </p:spPr>
          <p:txBody>
            <a:bodyPr wrap="none" rtlCol="0">
              <a:spAutoFit/>
            </a:bodyPr>
            <a:lstStyle/>
            <a:p>
              <a:r>
                <a:rPr lang="en-US" sz="1200" i="1" dirty="0">
                  <a:solidFill>
                    <a:schemeClr val="bg1">
                      <a:lumMod val="50000"/>
                    </a:schemeClr>
                  </a:solidFill>
                  <a:latin typeface="Helvetica Light Oblique" panose="020B0403020202020204" pitchFamily="34" charset="0"/>
                  <a:cs typeface="Arial" panose="020B0604020202020204" pitchFamily="34" charset="0"/>
                </a:rPr>
                <a:t>memory disaggregation (2016-2022)</a:t>
              </a:r>
            </a:p>
          </p:txBody>
        </p:sp>
      </p:grpSp>
      <p:grpSp>
        <p:nvGrpSpPr>
          <p:cNvPr id="33" name="Group 32">
            <a:extLst>
              <a:ext uri="{FF2B5EF4-FFF2-40B4-BE49-F238E27FC236}">
                <a16:creationId xmlns:a16="http://schemas.microsoft.com/office/drawing/2014/main" id="{CE3BC501-4758-9208-419D-3D1D11283BB9}"/>
              </a:ext>
            </a:extLst>
          </p:cNvPr>
          <p:cNvGrpSpPr/>
          <p:nvPr/>
        </p:nvGrpSpPr>
        <p:grpSpPr>
          <a:xfrm>
            <a:off x="5772659" y="3097424"/>
            <a:ext cx="2981907" cy="784831"/>
            <a:chOff x="6545226" y="4441090"/>
            <a:chExt cx="2981907" cy="784831"/>
          </a:xfrm>
        </p:grpSpPr>
        <p:sp>
          <p:nvSpPr>
            <p:cNvPr id="34" name="TextBox 33">
              <a:extLst>
                <a:ext uri="{FF2B5EF4-FFF2-40B4-BE49-F238E27FC236}">
                  <a16:creationId xmlns:a16="http://schemas.microsoft.com/office/drawing/2014/main" id="{BFCB1B7D-3E2F-3F78-7411-58F992A86A91}"/>
                </a:ext>
              </a:extLst>
            </p:cNvPr>
            <p:cNvSpPr txBox="1"/>
            <p:nvPr/>
          </p:nvSpPr>
          <p:spPr>
            <a:xfrm>
              <a:off x="7366765" y="4441090"/>
              <a:ext cx="1338828" cy="646331"/>
            </a:xfrm>
            <a:prstGeom prst="rect">
              <a:avLst/>
            </a:prstGeom>
            <a:noFill/>
          </p:spPr>
          <p:txBody>
            <a:bodyPr wrap="none" rtlCol="0">
              <a:spAutoFit/>
            </a:bodyPr>
            <a:lstStyle/>
            <a:p>
              <a:r>
                <a:rPr lang="en-US" sz="3600" dirty="0">
                  <a:latin typeface="Helvetica" pitchFamily="2" charset="0"/>
                </a:rPr>
                <a:t>Salus</a:t>
              </a:r>
            </a:p>
          </p:txBody>
        </p:sp>
        <p:sp>
          <p:nvSpPr>
            <p:cNvPr id="35" name="TextBox 34">
              <a:extLst>
                <a:ext uri="{FF2B5EF4-FFF2-40B4-BE49-F238E27FC236}">
                  <a16:creationId xmlns:a16="http://schemas.microsoft.com/office/drawing/2014/main" id="{6D8ED162-E15C-1413-7702-86ED933EF8B3}"/>
                </a:ext>
              </a:extLst>
            </p:cNvPr>
            <p:cNvSpPr txBox="1"/>
            <p:nvPr/>
          </p:nvSpPr>
          <p:spPr>
            <a:xfrm>
              <a:off x="6545226" y="4948922"/>
              <a:ext cx="2981907" cy="276999"/>
            </a:xfrm>
            <a:prstGeom prst="rect">
              <a:avLst/>
            </a:prstGeom>
            <a:noFill/>
          </p:spPr>
          <p:txBody>
            <a:bodyPr wrap="none" rtlCol="0">
              <a:spAutoFit/>
            </a:bodyPr>
            <a:lstStyle/>
            <a:p>
              <a:r>
                <a:rPr lang="en-US" sz="1200" i="1" dirty="0">
                  <a:solidFill>
                    <a:schemeClr val="bg1">
                      <a:lumMod val="50000"/>
                    </a:schemeClr>
                  </a:solidFill>
                  <a:latin typeface="Helvetica Light Oblique" panose="020B0403020202020204" pitchFamily="34" charset="0"/>
                  <a:cs typeface="Arial" panose="020B0604020202020204" pitchFamily="34" charset="0"/>
                </a:rPr>
                <a:t>GPU resource management (2017-2022)</a:t>
              </a:r>
            </a:p>
          </p:txBody>
        </p:sp>
      </p:grpSp>
      <p:grpSp>
        <p:nvGrpSpPr>
          <p:cNvPr id="39" name="Group 38">
            <a:extLst>
              <a:ext uri="{FF2B5EF4-FFF2-40B4-BE49-F238E27FC236}">
                <a16:creationId xmlns:a16="http://schemas.microsoft.com/office/drawing/2014/main" id="{EDE5B0AF-D5AA-084A-D95E-719ADA3498DC}"/>
              </a:ext>
            </a:extLst>
          </p:cNvPr>
          <p:cNvGrpSpPr/>
          <p:nvPr/>
        </p:nvGrpSpPr>
        <p:grpSpPr>
          <a:xfrm>
            <a:off x="6612338" y="4543935"/>
            <a:ext cx="2302233" cy="900415"/>
            <a:chOff x="6581678" y="5699213"/>
            <a:chExt cx="2302233" cy="900415"/>
          </a:xfrm>
        </p:grpSpPr>
        <p:pic>
          <p:nvPicPr>
            <p:cNvPr id="40" name="Graphic 39">
              <a:extLst>
                <a:ext uri="{FF2B5EF4-FFF2-40B4-BE49-F238E27FC236}">
                  <a16:creationId xmlns:a16="http://schemas.microsoft.com/office/drawing/2014/main" id="{C55F9079-6DF9-D747-E41D-D569E85A8E2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18395" y="5699213"/>
              <a:ext cx="1828800" cy="626832"/>
            </a:xfrm>
            <a:prstGeom prst="rect">
              <a:avLst/>
            </a:prstGeom>
          </p:spPr>
        </p:pic>
        <p:sp>
          <p:nvSpPr>
            <p:cNvPr id="41" name="TextBox 40">
              <a:extLst>
                <a:ext uri="{FF2B5EF4-FFF2-40B4-BE49-F238E27FC236}">
                  <a16:creationId xmlns:a16="http://schemas.microsoft.com/office/drawing/2014/main" id="{86AFD077-7EC4-242C-6C55-A3ECF04B034E}"/>
                </a:ext>
              </a:extLst>
            </p:cNvPr>
            <p:cNvSpPr txBox="1"/>
            <p:nvPr/>
          </p:nvSpPr>
          <p:spPr>
            <a:xfrm>
              <a:off x="6581678" y="6322629"/>
              <a:ext cx="2302233" cy="276999"/>
            </a:xfrm>
            <a:prstGeom prst="rect">
              <a:avLst/>
            </a:prstGeom>
            <a:noFill/>
          </p:spPr>
          <p:txBody>
            <a:bodyPr wrap="none" rtlCol="0">
              <a:spAutoFit/>
            </a:bodyPr>
            <a:lstStyle/>
            <a:p>
              <a:r>
                <a:rPr lang="en-US" sz="1200" i="1" dirty="0">
                  <a:solidFill>
                    <a:schemeClr val="bg1">
                      <a:lumMod val="50000"/>
                    </a:schemeClr>
                  </a:solidFill>
                  <a:latin typeface="Helvetica Light Oblique" panose="020B0403020202020204" pitchFamily="34" charset="0"/>
                  <a:cs typeface="Arial" panose="020B0604020202020204" pitchFamily="34" charset="0"/>
                </a:rPr>
                <a:t>AI energy optimization (2021-)</a:t>
              </a:r>
            </a:p>
          </p:txBody>
        </p:sp>
      </p:grpSp>
      <p:grpSp>
        <p:nvGrpSpPr>
          <p:cNvPr id="42" name="Group 41">
            <a:extLst>
              <a:ext uri="{FF2B5EF4-FFF2-40B4-BE49-F238E27FC236}">
                <a16:creationId xmlns:a16="http://schemas.microsoft.com/office/drawing/2014/main" id="{CA2A2F51-104E-96FF-EFA2-1BE4AF9DBCDC}"/>
              </a:ext>
            </a:extLst>
          </p:cNvPr>
          <p:cNvGrpSpPr/>
          <p:nvPr/>
        </p:nvGrpSpPr>
        <p:grpSpPr>
          <a:xfrm>
            <a:off x="9269163" y="4512574"/>
            <a:ext cx="2491388" cy="1228418"/>
            <a:chOff x="6097412" y="4767527"/>
            <a:chExt cx="2491388" cy="1228418"/>
          </a:xfrm>
        </p:grpSpPr>
        <p:pic>
          <p:nvPicPr>
            <p:cNvPr id="43" name="Picture 42" descr="A corn on the cob&#10;&#10;AI-generated content may be incorrect.">
              <a:extLst>
                <a:ext uri="{FF2B5EF4-FFF2-40B4-BE49-F238E27FC236}">
                  <a16:creationId xmlns:a16="http://schemas.microsoft.com/office/drawing/2014/main" id="{A6F2446A-F23F-A17B-6B50-B189CCA16F7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906227" y="4767527"/>
              <a:ext cx="873759" cy="1005840"/>
            </a:xfrm>
            <a:prstGeom prst="rect">
              <a:avLst/>
            </a:prstGeom>
          </p:spPr>
        </p:pic>
        <p:sp>
          <p:nvSpPr>
            <p:cNvPr id="44" name="TextBox 43">
              <a:extLst>
                <a:ext uri="{FF2B5EF4-FFF2-40B4-BE49-F238E27FC236}">
                  <a16:creationId xmlns:a16="http://schemas.microsoft.com/office/drawing/2014/main" id="{56D4793C-F9B0-EDBB-7B0F-5F73943331AD}"/>
                </a:ext>
              </a:extLst>
            </p:cNvPr>
            <p:cNvSpPr txBox="1"/>
            <p:nvPr/>
          </p:nvSpPr>
          <p:spPr>
            <a:xfrm>
              <a:off x="6097412" y="5718946"/>
              <a:ext cx="2491388" cy="276999"/>
            </a:xfrm>
            <a:prstGeom prst="rect">
              <a:avLst/>
            </a:prstGeom>
            <a:noFill/>
          </p:spPr>
          <p:txBody>
            <a:bodyPr wrap="none" rtlCol="0">
              <a:spAutoFit/>
            </a:bodyPr>
            <a:lstStyle/>
            <a:p>
              <a:r>
                <a:rPr lang="en-US" sz="1200" i="1" dirty="0">
                  <a:solidFill>
                    <a:schemeClr val="bg1">
                      <a:lumMod val="50000"/>
                    </a:schemeClr>
                  </a:solidFill>
                  <a:latin typeface="Helvetica Light Oblique" panose="020B0403020202020204" pitchFamily="34" charset="0"/>
                  <a:cs typeface="Arial" panose="020B0604020202020204" pitchFamily="34" charset="0"/>
                </a:rPr>
                <a:t>systems for multimodal AI (2022-)</a:t>
              </a:r>
            </a:p>
          </p:txBody>
        </p:sp>
      </p:grpSp>
      <p:grpSp>
        <p:nvGrpSpPr>
          <p:cNvPr id="45" name="Group 44">
            <a:extLst>
              <a:ext uri="{FF2B5EF4-FFF2-40B4-BE49-F238E27FC236}">
                <a16:creationId xmlns:a16="http://schemas.microsoft.com/office/drawing/2014/main" id="{D57A9951-F380-A4F0-1394-2A063F527299}"/>
              </a:ext>
            </a:extLst>
          </p:cNvPr>
          <p:cNvGrpSpPr/>
          <p:nvPr/>
        </p:nvGrpSpPr>
        <p:grpSpPr>
          <a:xfrm>
            <a:off x="6263064" y="435276"/>
            <a:ext cx="2888932" cy="738427"/>
            <a:chOff x="6573320" y="1690688"/>
            <a:chExt cx="2888932" cy="738427"/>
          </a:xfrm>
        </p:grpSpPr>
        <p:sp>
          <p:nvSpPr>
            <p:cNvPr id="46" name="TextBox 45">
              <a:extLst>
                <a:ext uri="{FF2B5EF4-FFF2-40B4-BE49-F238E27FC236}">
                  <a16:creationId xmlns:a16="http://schemas.microsoft.com/office/drawing/2014/main" id="{20CD3287-A756-078E-CB67-64CE5211E7A7}"/>
                </a:ext>
              </a:extLst>
            </p:cNvPr>
            <p:cNvSpPr txBox="1"/>
            <p:nvPr/>
          </p:nvSpPr>
          <p:spPr>
            <a:xfrm>
              <a:off x="7004945" y="1690688"/>
              <a:ext cx="2025683" cy="584775"/>
            </a:xfrm>
            <a:prstGeom prst="rect">
              <a:avLst/>
            </a:prstGeom>
            <a:noFill/>
          </p:spPr>
          <p:txBody>
            <a:bodyPr wrap="none" rtlCol="0">
              <a:spAutoFit/>
            </a:bodyPr>
            <a:lstStyle/>
            <a:p>
              <a:r>
                <a:rPr lang="en-US" sz="3200" b="1" dirty="0" err="1">
                  <a:latin typeface="Helvetica" pitchFamily="2" charset="0"/>
                </a:rPr>
                <a:t>ViNEYard</a:t>
              </a:r>
              <a:endParaRPr lang="en-US" sz="3200" b="1" dirty="0">
                <a:latin typeface="Helvetica" pitchFamily="2" charset="0"/>
              </a:endParaRPr>
            </a:p>
          </p:txBody>
        </p:sp>
        <p:sp>
          <p:nvSpPr>
            <p:cNvPr id="47" name="TextBox 46">
              <a:extLst>
                <a:ext uri="{FF2B5EF4-FFF2-40B4-BE49-F238E27FC236}">
                  <a16:creationId xmlns:a16="http://schemas.microsoft.com/office/drawing/2014/main" id="{23142CEC-F8D2-E7F8-F5E8-15E7A613BB93}"/>
                </a:ext>
              </a:extLst>
            </p:cNvPr>
            <p:cNvSpPr txBox="1"/>
            <p:nvPr/>
          </p:nvSpPr>
          <p:spPr>
            <a:xfrm>
              <a:off x="6573320" y="2152116"/>
              <a:ext cx="2888932" cy="276999"/>
            </a:xfrm>
            <a:prstGeom prst="rect">
              <a:avLst/>
            </a:prstGeom>
            <a:noFill/>
          </p:spPr>
          <p:txBody>
            <a:bodyPr wrap="none" rtlCol="0">
              <a:spAutoFit/>
            </a:bodyPr>
            <a:lstStyle/>
            <a:p>
              <a:r>
                <a:rPr lang="en-US" sz="1200" i="1" dirty="0">
                  <a:solidFill>
                    <a:schemeClr val="bg1">
                      <a:lumMod val="50000"/>
                    </a:schemeClr>
                  </a:solidFill>
                  <a:latin typeface="Helvetica Light Oblique" panose="020B0403020202020204" pitchFamily="34" charset="0"/>
                  <a:cs typeface="Arial" panose="020B0604020202020204" pitchFamily="34" charset="0"/>
                </a:rPr>
                <a:t>virtual network embedding (2008-2012)</a:t>
              </a:r>
            </a:p>
          </p:txBody>
        </p:sp>
      </p:grpSp>
      <p:grpSp>
        <p:nvGrpSpPr>
          <p:cNvPr id="48" name="Group 47">
            <a:extLst>
              <a:ext uri="{FF2B5EF4-FFF2-40B4-BE49-F238E27FC236}">
                <a16:creationId xmlns:a16="http://schemas.microsoft.com/office/drawing/2014/main" id="{7E0CCFD3-6F2E-AC4E-A798-96604D6DA50C}"/>
              </a:ext>
            </a:extLst>
          </p:cNvPr>
          <p:cNvGrpSpPr/>
          <p:nvPr/>
        </p:nvGrpSpPr>
        <p:grpSpPr>
          <a:xfrm>
            <a:off x="5919102" y="1786609"/>
            <a:ext cx="3012363" cy="760119"/>
            <a:chOff x="6475079" y="3032686"/>
            <a:chExt cx="3012363" cy="760119"/>
          </a:xfrm>
        </p:grpSpPr>
        <p:sp>
          <p:nvSpPr>
            <p:cNvPr id="49" name="TextBox 48">
              <a:extLst>
                <a:ext uri="{FF2B5EF4-FFF2-40B4-BE49-F238E27FC236}">
                  <a16:creationId xmlns:a16="http://schemas.microsoft.com/office/drawing/2014/main" id="{4ABD52E1-C40D-4D14-616D-6DAA44A04D91}"/>
                </a:ext>
              </a:extLst>
            </p:cNvPr>
            <p:cNvSpPr txBox="1"/>
            <p:nvPr/>
          </p:nvSpPr>
          <p:spPr>
            <a:xfrm>
              <a:off x="7160630" y="3032686"/>
              <a:ext cx="1565172" cy="646331"/>
            </a:xfrm>
            <a:prstGeom prst="rect">
              <a:avLst/>
            </a:prstGeom>
            <a:noFill/>
          </p:spPr>
          <p:txBody>
            <a:bodyPr wrap="none" rtlCol="0">
              <a:spAutoFit/>
            </a:bodyPr>
            <a:lstStyle/>
            <a:p>
              <a:r>
                <a:rPr lang="en-US" sz="3600" dirty="0">
                  <a:latin typeface="Gill Sans" panose="020B0502020104020203" pitchFamily="34" charset="-79"/>
                  <a:cs typeface="Gill Sans" panose="020B0502020104020203" pitchFamily="34" charset="-79"/>
                </a:rPr>
                <a:t>Coflow</a:t>
              </a:r>
            </a:p>
          </p:txBody>
        </p:sp>
        <p:sp>
          <p:nvSpPr>
            <p:cNvPr id="50" name="TextBox 49">
              <a:extLst>
                <a:ext uri="{FF2B5EF4-FFF2-40B4-BE49-F238E27FC236}">
                  <a16:creationId xmlns:a16="http://schemas.microsoft.com/office/drawing/2014/main" id="{9480D588-9D6C-5C22-AD46-F6C23D21FFFE}"/>
                </a:ext>
              </a:extLst>
            </p:cNvPr>
            <p:cNvSpPr txBox="1"/>
            <p:nvPr/>
          </p:nvSpPr>
          <p:spPr>
            <a:xfrm>
              <a:off x="6475079" y="3515806"/>
              <a:ext cx="3012363" cy="276999"/>
            </a:xfrm>
            <a:prstGeom prst="rect">
              <a:avLst/>
            </a:prstGeom>
            <a:noFill/>
          </p:spPr>
          <p:txBody>
            <a:bodyPr wrap="none" rtlCol="0">
              <a:spAutoFit/>
            </a:bodyPr>
            <a:lstStyle/>
            <a:p>
              <a:r>
                <a:rPr lang="en-US" sz="1200" i="1" dirty="0">
                  <a:solidFill>
                    <a:schemeClr val="bg1">
                      <a:lumMod val="50000"/>
                    </a:schemeClr>
                  </a:solidFill>
                  <a:latin typeface="Helvetica Light Oblique" panose="020B0403020202020204" pitchFamily="34" charset="0"/>
                  <a:cs typeface="Arial" panose="020B0604020202020204" pitchFamily="34" charset="0"/>
                </a:rPr>
                <a:t>data-parallel communication (2010-2016)</a:t>
              </a:r>
            </a:p>
          </p:txBody>
        </p:sp>
      </p:grpSp>
      <p:grpSp>
        <p:nvGrpSpPr>
          <p:cNvPr id="51" name="Group 50">
            <a:extLst>
              <a:ext uri="{FF2B5EF4-FFF2-40B4-BE49-F238E27FC236}">
                <a16:creationId xmlns:a16="http://schemas.microsoft.com/office/drawing/2014/main" id="{75CAE1B9-14B3-F3B6-AE1E-1CC99DDB8F31}"/>
              </a:ext>
            </a:extLst>
          </p:cNvPr>
          <p:cNvGrpSpPr/>
          <p:nvPr/>
        </p:nvGrpSpPr>
        <p:grpSpPr>
          <a:xfrm>
            <a:off x="8914571" y="3572651"/>
            <a:ext cx="3155031" cy="649129"/>
            <a:chOff x="9002207" y="5230366"/>
            <a:chExt cx="3155031" cy="649129"/>
          </a:xfrm>
        </p:grpSpPr>
        <p:pic>
          <p:nvPicPr>
            <p:cNvPr id="52" name="Picture 4" descr="Logo">
              <a:extLst>
                <a:ext uri="{FF2B5EF4-FFF2-40B4-BE49-F238E27FC236}">
                  <a16:creationId xmlns:a16="http://schemas.microsoft.com/office/drawing/2014/main" id="{9CD9BBF1-7439-6984-8236-416E67F4B02A}"/>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9529677" y="5230366"/>
              <a:ext cx="1828800" cy="336709"/>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CFAECF9C-AD09-162E-341E-000E3A011883}"/>
                </a:ext>
              </a:extLst>
            </p:cNvPr>
            <p:cNvSpPr txBox="1"/>
            <p:nvPr/>
          </p:nvSpPr>
          <p:spPr>
            <a:xfrm>
              <a:off x="9002207" y="5602496"/>
              <a:ext cx="3155031" cy="276999"/>
            </a:xfrm>
            <a:prstGeom prst="rect">
              <a:avLst/>
            </a:prstGeom>
            <a:noFill/>
          </p:spPr>
          <p:txBody>
            <a:bodyPr wrap="none" rtlCol="0">
              <a:spAutoFit/>
            </a:bodyPr>
            <a:lstStyle/>
            <a:p>
              <a:r>
                <a:rPr lang="en-US" sz="1200" i="1" dirty="0">
                  <a:solidFill>
                    <a:schemeClr val="bg1">
                      <a:lumMod val="50000"/>
                    </a:schemeClr>
                  </a:solidFill>
                  <a:latin typeface="Helvetica Light Oblique" panose="020B0403020202020204" pitchFamily="34" charset="0"/>
                  <a:cs typeface="Arial" panose="020B0604020202020204" pitchFamily="34" charset="0"/>
                </a:rPr>
                <a:t>systems for federated learning (2019-2024)</a:t>
              </a:r>
            </a:p>
          </p:txBody>
        </p:sp>
      </p:grpSp>
    </p:spTree>
    <p:extLst>
      <p:ext uri="{BB962C8B-B14F-4D97-AF65-F5344CB8AC3E}">
        <p14:creationId xmlns:p14="http://schemas.microsoft.com/office/powerpoint/2010/main" val="727720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Shiqi He (GSI)</a:t>
            </a:r>
          </a:p>
        </p:txBody>
      </p:sp>
      <p:sp>
        <p:nvSpPr>
          <p:cNvPr id="7" name="Content Placeholder 6"/>
          <p:cNvSpPr>
            <a:spLocks noGrp="1"/>
          </p:cNvSpPr>
          <p:nvPr>
            <p:ph sz="half" idx="1"/>
          </p:nvPr>
        </p:nvSpPr>
        <p:spPr/>
        <p:txBody>
          <a:bodyPr anchor="ctr"/>
          <a:lstStyle/>
          <a:p>
            <a:r>
              <a:rPr lang="en-US" dirty="0"/>
              <a:t>3</a:t>
            </a:r>
            <a:r>
              <a:rPr lang="en-US" baseline="30000" dirty="0"/>
              <a:t>rd</a:t>
            </a:r>
            <a:r>
              <a:rPr lang="en-US" dirty="0"/>
              <a:t>-year PhD student at SymbioticLab</a:t>
            </a:r>
          </a:p>
          <a:p>
            <a:endParaRPr lang="en-US" dirty="0"/>
          </a:p>
          <a:p>
            <a:r>
              <a:rPr lang="en-US" dirty="0"/>
              <a:t>Office hours</a:t>
            </a:r>
          </a:p>
          <a:p>
            <a:pPr lvl="1"/>
            <a:r>
              <a:rPr lang="en-US" dirty="0"/>
              <a:t>Check course website</a:t>
            </a:r>
            <a:endParaRPr lang="en-US" dirty="0">
              <a:latin typeface="Gill Sans Light" charset="0"/>
              <a:ea typeface="Gill Sans Light" charset="0"/>
              <a:cs typeface="Gill Sans Light" charset="0"/>
            </a:endParaRPr>
          </a:p>
          <a:p>
            <a:pPr lvl="1"/>
            <a:r>
              <a:rPr lang="en-US" dirty="0" err="1"/>
              <a:t>shiqihe@umich.edu</a:t>
            </a:r>
            <a:endParaRPr lang="en-US" dirty="0">
              <a:latin typeface="Gill Sans Light" charset="0"/>
              <a:ea typeface="Gill Sans Light" charset="0"/>
              <a:cs typeface="Gill Sans Light" charset="0"/>
            </a:endParaRPr>
          </a:p>
        </p:txBody>
      </p:sp>
      <p:sp>
        <p:nvSpPr>
          <p:cNvPr id="4" name="Date Placeholder 3"/>
          <p:cNvSpPr>
            <a:spLocks noGrp="1"/>
          </p:cNvSpPr>
          <p:nvPr>
            <p:ph type="dt" sz="half" idx="10"/>
          </p:nvPr>
        </p:nvSpPr>
        <p:spPr/>
        <p:txBody>
          <a:bodyPr/>
          <a:lstStyle/>
          <a:p>
            <a:r>
              <a:rPr lang="en-US"/>
              <a:t>1/13/26</a:t>
            </a:r>
          </a:p>
        </p:txBody>
      </p:sp>
      <p:sp>
        <p:nvSpPr>
          <p:cNvPr id="5" name="Footer Placeholder 4"/>
          <p:cNvSpPr>
            <a:spLocks noGrp="1"/>
          </p:cNvSpPr>
          <p:nvPr>
            <p:ph type="ftr" sz="quarter" idx="11"/>
          </p:nvPr>
        </p:nvSpPr>
        <p:spPr/>
        <p:txBody>
          <a:bodyPr/>
          <a:lstStyle/>
          <a:p>
            <a:r>
              <a:rPr lang="en-US"/>
              <a:t>CSE 585 – W26</a:t>
            </a:r>
          </a:p>
        </p:txBody>
      </p:sp>
      <p:sp>
        <p:nvSpPr>
          <p:cNvPr id="6" name="Slide Number Placeholder 5"/>
          <p:cNvSpPr>
            <a:spLocks noGrp="1"/>
          </p:cNvSpPr>
          <p:nvPr>
            <p:ph type="sldNum" sz="quarter" idx="12"/>
          </p:nvPr>
        </p:nvSpPr>
        <p:spPr/>
        <p:txBody>
          <a:bodyPr/>
          <a:lstStyle/>
          <a:p>
            <a:fld id="{4EEF9975-6C58-5C4C-8961-54FFA2646BAA}" type="slidenum">
              <a:rPr lang="en-US" smtClean="0"/>
              <a:t>4</a:t>
            </a:fld>
            <a:endParaRPr lang="en-US"/>
          </a:p>
        </p:txBody>
      </p:sp>
      <p:pic>
        <p:nvPicPr>
          <p:cNvPr id="8" name="Picture 2" descr="Shiqi HE">
            <a:extLst>
              <a:ext uri="{FF2B5EF4-FFF2-40B4-BE49-F238E27FC236}">
                <a16:creationId xmlns:a16="http://schemas.microsoft.com/office/drawing/2014/main" id="{1DE481F5-D974-4AA3-1B41-2AE49D2A731C}"/>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587331" y="1825625"/>
            <a:ext cx="435133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082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Status</a:t>
            </a:r>
          </a:p>
        </p:txBody>
      </p:sp>
      <p:sp>
        <p:nvSpPr>
          <p:cNvPr id="3" name="Content Placeholder 2"/>
          <p:cNvSpPr>
            <a:spLocks noGrp="1"/>
          </p:cNvSpPr>
          <p:nvPr>
            <p:ph idx="1"/>
          </p:nvPr>
        </p:nvSpPr>
        <p:spPr/>
        <p:txBody>
          <a:bodyPr/>
          <a:lstStyle/>
          <a:p>
            <a:r>
              <a:rPr lang="en-US" dirty="0"/>
              <a:t>As of today: </a:t>
            </a:r>
            <a:r>
              <a:rPr lang="en-US" dirty="0">
                <a:solidFill>
                  <a:srgbClr val="FF0000"/>
                </a:solidFill>
              </a:rPr>
              <a:t>64</a:t>
            </a:r>
            <a:r>
              <a:rPr lang="en-US" dirty="0"/>
              <a:t> registered or w/ override</a:t>
            </a:r>
          </a:p>
          <a:p>
            <a:r>
              <a:rPr lang="en-US" dirty="0"/>
              <a:t>If you are not planning to take the class,</a:t>
            </a:r>
            <a:r>
              <a:rPr lang="en-US" dirty="0">
                <a:solidFill>
                  <a:srgbClr val="FF0000"/>
                </a:solidFill>
              </a:rPr>
              <a:t> drop ASAP</a:t>
            </a:r>
          </a:p>
          <a:p>
            <a:pPr lvl="1"/>
            <a:r>
              <a:rPr lang="en-US" dirty="0"/>
              <a:t>Existing overrides that have not converted will be revoked</a:t>
            </a:r>
          </a:p>
        </p:txBody>
      </p:sp>
      <p:sp>
        <p:nvSpPr>
          <p:cNvPr id="4" name="Footer Placeholder 3"/>
          <p:cNvSpPr>
            <a:spLocks noGrp="1"/>
          </p:cNvSpPr>
          <p:nvPr>
            <p:ph type="ftr" sz="quarter" idx="11"/>
          </p:nvPr>
        </p:nvSpPr>
        <p:spPr/>
        <p:txBody>
          <a:bodyPr/>
          <a:lstStyle/>
          <a:p>
            <a:r>
              <a:rPr lang="en-US"/>
              <a:t>CSE 585 – W26</a:t>
            </a:r>
          </a:p>
        </p:txBody>
      </p:sp>
      <p:sp>
        <p:nvSpPr>
          <p:cNvPr id="5" name="Slide Number Placeholder 4"/>
          <p:cNvSpPr>
            <a:spLocks noGrp="1"/>
          </p:cNvSpPr>
          <p:nvPr>
            <p:ph type="sldNum" sz="quarter" idx="12"/>
          </p:nvPr>
        </p:nvSpPr>
        <p:spPr/>
        <p:txBody>
          <a:bodyPr/>
          <a:lstStyle/>
          <a:p>
            <a:fld id="{4EEF9975-6C58-5C4C-8961-54FFA2646BAA}" type="slidenum">
              <a:rPr lang="en-US" smtClean="0"/>
              <a:t>5</a:t>
            </a:fld>
            <a:endParaRPr lang="en-US"/>
          </a:p>
        </p:txBody>
      </p:sp>
      <p:sp>
        <p:nvSpPr>
          <p:cNvPr id="6" name="Date Placeholder 5"/>
          <p:cNvSpPr>
            <a:spLocks noGrp="1"/>
          </p:cNvSpPr>
          <p:nvPr>
            <p:ph type="dt" sz="half" idx="10"/>
          </p:nvPr>
        </p:nvSpPr>
        <p:spPr/>
        <p:txBody>
          <a:bodyPr/>
          <a:lstStyle/>
          <a:p>
            <a:r>
              <a:rPr lang="en-US"/>
              <a:t>1/13/26</a:t>
            </a:r>
          </a:p>
        </p:txBody>
      </p:sp>
    </p:spTree>
    <p:extLst>
      <p:ext uri="{BB962C8B-B14F-4D97-AF65-F5344CB8AC3E}">
        <p14:creationId xmlns:p14="http://schemas.microsoft.com/office/powerpoint/2010/main" val="562164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Schedule</a:t>
            </a:r>
          </a:p>
        </p:txBody>
      </p:sp>
      <p:sp>
        <p:nvSpPr>
          <p:cNvPr id="3" name="Content Placeholder 2"/>
          <p:cNvSpPr>
            <a:spLocks noGrp="1"/>
          </p:cNvSpPr>
          <p:nvPr>
            <p:ph idx="1"/>
          </p:nvPr>
        </p:nvSpPr>
        <p:spPr/>
        <p:txBody>
          <a:bodyPr/>
          <a:lstStyle/>
          <a:p>
            <a:r>
              <a:rPr lang="en-US" dirty="0"/>
              <a:t>Webpage: </a:t>
            </a:r>
            <a:r>
              <a:rPr lang="en-US" dirty="0">
                <a:hlinkClick r:id="rId2"/>
              </a:rPr>
              <a:t>https://github.com/mosharaf/cse585</a:t>
            </a:r>
            <a:endParaRPr lang="en-US" dirty="0"/>
          </a:p>
          <a:p>
            <a:r>
              <a:rPr lang="en-US" dirty="0"/>
              <a:t>Meetings</a:t>
            </a:r>
          </a:p>
          <a:p>
            <a:pPr lvl="1"/>
            <a:r>
              <a:rPr lang="en-US" dirty="0"/>
              <a:t>10:30 AM – 12PM (</a:t>
            </a:r>
            <a:r>
              <a:rPr lang="en-US" dirty="0">
                <a:latin typeface="Gill Sans" charset="0"/>
                <a:ea typeface="Gill Sans" charset="0"/>
                <a:cs typeface="Gill Sans" charset="0"/>
              </a:rPr>
              <a:t>T/Th </a:t>
            </a:r>
            <a:r>
              <a:rPr lang="en-US" dirty="0"/>
              <a:t>for lectures and seminars)</a:t>
            </a:r>
          </a:p>
          <a:p>
            <a:pPr lvl="1"/>
            <a:r>
              <a:rPr lang="en-US" dirty="0"/>
              <a:t>1:30 PM – 2:30 PM (</a:t>
            </a:r>
            <a:r>
              <a:rPr lang="en-US" dirty="0">
                <a:latin typeface="Gill Sans" charset="0"/>
                <a:ea typeface="Gill Sans" charset="0"/>
                <a:cs typeface="Gill Sans" charset="0"/>
              </a:rPr>
              <a:t>Fri</a:t>
            </a:r>
            <a:r>
              <a:rPr lang="en-US" dirty="0"/>
              <a:t> for makeups)</a:t>
            </a:r>
          </a:p>
          <a:p>
            <a:r>
              <a:rPr lang="en-US" dirty="0"/>
              <a:t>Pay attention to the online announcements and schedule</a:t>
            </a:r>
          </a:p>
          <a:p>
            <a:pPr lvl="1"/>
            <a:r>
              <a:rPr lang="en-US" dirty="0"/>
              <a:t>On average, two meetings per week</a:t>
            </a:r>
          </a:p>
          <a:p>
            <a:pPr lvl="1"/>
            <a:r>
              <a:rPr lang="en-US" dirty="0"/>
              <a:t>Friday makeups will be added on a need-to-add basis</a:t>
            </a:r>
          </a:p>
        </p:txBody>
      </p:sp>
      <p:sp>
        <p:nvSpPr>
          <p:cNvPr id="4" name="Footer Placeholder 3"/>
          <p:cNvSpPr>
            <a:spLocks noGrp="1"/>
          </p:cNvSpPr>
          <p:nvPr>
            <p:ph type="ftr" sz="quarter" idx="11"/>
          </p:nvPr>
        </p:nvSpPr>
        <p:spPr/>
        <p:txBody>
          <a:bodyPr/>
          <a:lstStyle/>
          <a:p>
            <a:r>
              <a:rPr lang="en-US"/>
              <a:t>CSE 585 – W26</a:t>
            </a:r>
          </a:p>
        </p:txBody>
      </p:sp>
      <p:sp>
        <p:nvSpPr>
          <p:cNvPr id="5" name="Slide Number Placeholder 4"/>
          <p:cNvSpPr>
            <a:spLocks noGrp="1"/>
          </p:cNvSpPr>
          <p:nvPr>
            <p:ph type="sldNum" sz="quarter" idx="12"/>
          </p:nvPr>
        </p:nvSpPr>
        <p:spPr/>
        <p:txBody>
          <a:bodyPr/>
          <a:lstStyle/>
          <a:p>
            <a:fld id="{4EEF9975-6C58-5C4C-8961-54FFA2646BAA}" type="slidenum">
              <a:rPr lang="en-US" smtClean="0"/>
              <a:t>6</a:t>
            </a:fld>
            <a:endParaRPr lang="en-US"/>
          </a:p>
        </p:txBody>
      </p:sp>
      <p:sp>
        <p:nvSpPr>
          <p:cNvPr id="6" name="Date Placeholder 5"/>
          <p:cNvSpPr>
            <a:spLocks noGrp="1"/>
          </p:cNvSpPr>
          <p:nvPr>
            <p:ph type="dt" sz="half" idx="10"/>
          </p:nvPr>
        </p:nvSpPr>
        <p:spPr/>
        <p:txBody>
          <a:bodyPr/>
          <a:lstStyle/>
          <a:p>
            <a:r>
              <a:rPr lang="en-US"/>
              <a:t>1/13/26</a:t>
            </a:r>
          </a:p>
        </p:txBody>
      </p:sp>
    </p:spTree>
    <p:extLst>
      <p:ext uri="{BB962C8B-B14F-4D97-AF65-F5344CB8AC3E}">
        <p14:creationId xmlns:p14="http://schemas.microsoft.com/office/powerpoint/2010/main" val="1846708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Prerequisites</a:t>
            </a:r>
          </a:p>
        </p:txBody>
      </p:sp>
      <p:sp>
        <p:nvSpPr>
          <p:cNvPr id="3" name="Content Placeholder 2"/>
          <p:cNvSpPr>
            <a:spLocks noGrp="1"/>
          </p:cNvSpPr>
          <p:nvPr>
            <p:ph idx="1"/>
          </p:nvPr>
        </p:nvSpPr>
        <p:spPr/>
        <p:txBody>
          <a:bodyPr/>
          <a:lstStyle/>
          <a:p>
            <a:r>
              <a:rPr lang="en-US" dirty="0"/>
              <a:t>EECS 482 / 484 / 489 / 491</a:t>
            </a:r>
          </a:p>
          <a:p>
            <a:pPr lvl="1"/>
            <a:r>
              <a:rPr lang="en-US" dirty="0"/>
              <a:t>Equivalent courses are acceptable as well</a:t>
            </a:r>
          </a:p>
          <a:p>
            <a:r>
              <a:rPr lang="en-US" dirty="0"/>
              <a:t>Good programming skills</a:t>
            </a:r>
          </a:p>
          <a:p>
            <a:pPr lvl="1"/>
            <a:r>
              <a:rPr lang="en-US" dirty="0"/>
              <a:t>Build substantial systems for course project</a:t>
            </a:r>
          </a:p>
        </p:txBody>
      </p:sp>
      <p:sp>
        <p:nvSpPr>
          <p:cNvPr id="4" name="Footer Placeholder 3"/>
          <p:cNvSpPr>
            <a:spLocks noGrp="1"/>
          </p:cNvSpPr>
          <p:nvPr>
            <p:ph type="ftr" sz="quarter" idx="11"/>
          </p:nvPr>
        </p:nvSpPr>
        <p:spPr/>
        <p:txBody>
          <a:bodyPr/>
          <a:lstStyle/>
          <a:p>
            <a:r>
              <a:rPr lang="en-US"/>
              <a:t>CSE 585 – W26</a:t>
            </a:r>
          </a:p>
        </p:txBody>
      </p:sp>
      <p:sp>
        <p:nvSpPr>
          <p:cNvPr id="5" name="Slide Number Placeholder 4"/>
          <p:cNvSpPr>
            <a:spLocks noGrp="1"/>
          </p:cNvSpPr>
          <p:nvPr>
            <p:ph type="sldNum" sz="quarter" idx="12"/>
          </p:nvPr>
        </p:nvSpPr>
        <p:spPr/>
        <p:txBody>
          <a:bodyPr/>
          <a:lstStyle/>
          <a:p>
            <a:fld id="{4EEF9975-6C58-5C4C-8961-54FFA2646BAA}" type="slidenum">
              <a:rPr lang="en-US" smtClean="0"/>
              <a:t>7</a:t>
            </a:fld>
            <a:endParaRPr lang="en-US"/>
          </a:p>
        </p:txBody>
      </p:sp>
      <p:sp>
        <p:nvSpPr>
          <p:cNvPr id="6" name="Date Placeholder 5"/>
          <p:cNvSpPr>
            <a:spLocks noGrp="1"/>
          </p:cNvSpPr>
          <p:nvPr>
            <p:ph type="dt" sz="half" idx="10"/>
          </p:nvPr>
        </p:nvSpPr>
        <p:spPr/>
        <p:txBody>
          <a:bodyPr/>
          <a:lstStyle/>
          <a:p>
            <a:r>
              <a:rPr lang="en-US"/>
              <a:t>1/13/26</a:t>
            </a:r>
          </a:p>
        </p:txBody>
      </p:sp>
    </p:spTree>
    <p:extLst>
      <p:ext uri="{BB962C8B-B14F-4D97-AF65-F5344CB8AC3E}">
        <p14:creationId xmlns:p14="http://schemas.microsoft.com/office/powerpoint/2010/main" val="2052391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Requirements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230054476"/>
              </p:ext>
            </p:extLst>
          </p:nvPr>
        </p:nvGraphicFramePr>
        <p:xfrm>
          <a:off x="838200" y="2501900"/>
          <a:ext cx="10515600" cy="2590800"/>
        </p:xfrm>
        <a:graphic>
          <a:graphicData uri="http://schemas.openxmlformats.org/drawingml/2006/table">
            <a:tbl>
              <a:tblPr firstRow="1" bandRow="1">
                <a:tableStyleId>{5940675A-B579-460E-94D1-54222C63F5DA}</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70840">
                <a:tc>
                  <a:txBody>
                    <a:bodyPr/>
                    <a:lstStyle/>
                    <a:p>
                      <a:r>
                        <a:rPr lang="en-US" sz="2800" dirty="0">
                          <a:latin typeface="Gill Sans" charset="0"/>
                          <a:ea typeface="Gill Sans" charset="0"/>
                          <a:cs typeface="Gill Sans" charset="0"/>
                        </a:rPr>
                        <a:t>Paper Summary</a:t>
                      </a:r>
                    </a:p>
                  </a:txBody>
                  <a:tcPr/>
                </a:tc>
                <a:tc>
                  <a:txBody>
                    <a:bodyPr/>
                    <a:lstStyle/>
                    <a:p>
                      <a:pPr algn="r"/>
                      <a:r>
                        <a:rPr lang="en-US" sz="2800" dirty="0">
                          <a:latin typeface="Gill Sans" charset="0"/>
                          <a:ea typeface="Gill Sans" charset="0"/>
                          <a:cs typeface="Gill Sans" charset="0"/>
                        </a:rPr>
                        <a:t>15%</a:t>
                      </a:r>
                    </a:p>
                  </a:txBody>
                  <a:tcPr/>
                </a:tc>
                <a:extLst>
                  <a:ext uri="{0D108BD9-81ED-4DB2-BD59-A6C34878D82A}">
                    <a16:rowId xmlns:a16="http://schemas.microsoft.com/office/drawing/2014/main" val="10000"/>
                  </a:ext>
                </a:extLst>
              </a:tr>
              <a:tr h="370840">
                <a:tc>
                  <a:txBody>
                    <a:bodyPr/>
                    <a:lstStyle/>
                    <a:p>
                      <a:r>
                        <a:rPr lang="en-US" sz="2800" dirty="0">
                          <a:latin typeface="Gill Sans" charset="0"/>
                          <a:ea typeface="Gill Sans" charset="0"/>
                          <a:cs typeface="Gill Sans" charset="0"/>
                        </a:rPr>
                        <a:t>Paper</a:t>
                      </a:r>
                      <a:r>
                        <a:rPr lang="en-US" sz="2800" baseline="0" dirty="0">
                          <a:latin typeface="Gill Sans" charset="0"/>
                          <a:ea typeface="Gill Sans" charset="0"/>
                          <a:cs typeface="Gill Sans" charset="0"/>
                        </a:rPr>
                        <a:t> Presentation</a:t>
                      </a:r>
                      <a:endParaRPr lang="en-US" sz="2800" dirty="0">
                        <a:latin typeface="Gill Sans" charset="0"/>
                        <a:ea typeface="Gill Sans" charset="0"/>
                        <a:cs typeface="Gill Sans" charset="0"/>
                      </a:endParaRPr>
                    </a:p>
                  </a:txBody>
                  <a:tcPr/>
                </a:tc>
                <a:tc>
                  <a:txBody>
                    <a:bodyPr/>
                    <a:lstStyle/>
                    <a:p>
                      <a:pPr algn="r"/>
                      <a:r>
                        <a:rPr lang="en-US" sz="2800" dirty="0">
                          <a:latin typeface="Gill Sans" charset="0"/>
                          <a:ea typeface="Gill Sans" charset="0"/>
                          <a:cs typeface="Gill Sans" charset="0"/>
                        </a:rPr>
                        <a:t>15%</a:t>
                      </a:r>
                    </a:p>
                  </a:txBody>
                  <a:tcPr/>
                </a:tc>
                <a:extLst>
                  <a:ext uri="{0D108BD9-81ED-4DB2-BD59-A6C34878D82A}">
                    <a16:rowId xmlns:a16="http://schemas.microsoft.com/office/drawing/2014/main" val="10001"/>
                  </a:ext>
                </a:extLst>
              </a:tr>
              <a:tr h="370840">
                <a:tc>
                  <a:txBody>
                    <a:bodyPr/>
                    <a:lstStyle/>
                    <a:p>
                      <a:r>
                        <a:rPr lang="en-US" sz="2800" dirty="0">
                          <a:latin typeface="Gill Sans" charset="0"/>
                          <a:ea typeface="Gill Sans" charset="0"/>
                          <a:cs typeface="Gill Sans" charset="0"/>
                        </a:rPr>
                        <a:t>Participation</a:t>
                      </a:r>
                    </a:p>
                  </a:txBody>
                  <a:tcPr/>
                </a:tc>
                <a:tc>
                  <a:txBody>
                    <a:bodyPr/>
                    <a:lstStyle/>
                    <a:p>
                      <a:pPr algn="r"/>
                      <a:r>
                        <a:rPr lang="en-US" sz="2800" dirty="0">
                          <a:latin typeface="Gill Sans" charset="0"/>
                          <a:ea typeface="Gill Sans" charset="0"/>
                          <a:cs typeface="Gill Sans" charset="0"/>
                        </a:rPr>
                        <a:t>10%</a:t>
                      </a:r>
                    </a:p>
                  </a:txBody>
                  <a:tcPr/>
                </a:tc>
                <a:extLst>
                  <a:ext uri="{0D108BD9-81ED-4DB2-BD59-A6C34878D82A}">
                    <a16:rowId xmlns:a16="http://schemas.microsoft.com/office/drawing/2014/main" val="10002"/>
                  </a:ext>
                </a:extLst>
              </a:tr>
              <a:tr h="370840">
                <a:tc>
                  <a:txBody>
                    <a:bodyPr/>
                    <a:lstStyle/>
                    <a:p>
                      <a:r>
                        <a:rPr lang="en-US" sz="2800" dirty="0">
                          <a:latin typeface="Gill Sans" charset="0"/>
                          <a:ea typeface="Gill Sans" charset="0"/>
                          <a:cs typeface="Gill Sans" charset="0"/>
                        </a:rPr>
                        <a:t>Project Report</a:t>
                      </a:r>
                    </a:p>
                  </a:txBody>
                  <a:tcPr/>
                </a:tc>
                <a:tc>
                  <a:txBody>
                    <a:bodyPr/>
                    <a:lstStyle/>
                    <a:p>
                      <a:pPr algn="r"/>
                      <a:r>
                        <a:rPr lang="en-US" sz="2800" dirty="0">
                          <a:latin typeface="Gill Sans" charset="0"/>
                          <a:ea typeface="Gill Sans" charset="0"/>
                          <a:cs typeface="Gill Sans" charset="0"/>
                        </a:rPr>
                        <a:t>40%</a:t>
                      </a:r>
                    </a:p>
                  </a:txBody>
                  <a:tcPr/>
                </a:tc>
                <a:extLst>
                  <a:ext uri="{0D108BD9-81ED-4DB2-BD59-A6C34878D82A}">
                    <a16:rowId xmlns:a16="http://schemas.microsoft.com/office/drawing/2014/main" val="1339468468"/>
                  </a:ext>
                </a:extLst>
              </a:tr>
              <a:tr h="370840">
                <a:tc>
                  <a:txBody>
                    <a:bodyPr/>
                    <a:lstStyle/>
                    <a:p>
                      <a:r>
                        <a:rPr lang="en-US" sz="2800" baseline="0" dirty="0">
                          <a:latin typeface="Gill Sans" charset="0"/>
                          <a:ea typeface="Gill Sans" charset="0"/>
                          <a:cs typeface="Gill Sans" charset="0"/>
                        </a:rPr>
                        <a:t>Project Presentations</a:t>
                      </a:r>
                      <a:endParaRPr lang="en-US" sz="2800" dirty="0">
                        <a:latin typeface="Gill Sans" charset="0"/>
                        <a:ea typeface="Gill Sans" charset="0"/>
                        <a:cs typeface="Gill Sans" charset="0"/>
                      </a:endParaRPr>
                    </a:p>
                  </a:txBody>
                  <a:tcPr/>
                </a:tc>
                <a:tc>
                  <a:txBody>
                    <a:bodyPr/>
                    <a:lstStyle/>
                    <a:p>
                      <a:pPr algn="r"/>
                      <a:r>
                        <a:rPr lang="en-US" sz="2800" dirty="0">
                          <a:latin typeface="Gill Sans" charset="0"/>
                          <a:ea typeface="Gill Sans" charset="0"/>
                          <a:cs typeface="Gill Sans" charset="0"/>
                        </a:rPr>
                        <a:t>20%</a:t>
                      </a:r>
                    </a:p>
                  </a:txBody>
                  <a:tcPr/>
                </a:tc>
                <a:extLst>
                  <a:ext uri="{0D108BD9-81ED-4DB2-BD59-A6C34878D82A}">
                    <a16:rowId xmlns:a16="http://schemas.microsoft.com/office/drawing/2014/main" val="10003"/>
                  </a:ext>
                </a:extLst>
              </a:tr>
            </a:tbl>
          </a:graphicData>
        </a:graphic>
      </p:graphicFrame>
      <p:sp>
        <p:nvSpPr>
          <p:cNvPr id="4" name="Footer Placeholder 3"/>
          <p:cNvSpPr>
            <a:spLocks noGrp="1"/>
          </p:cNvSpPr>
          <p:nvPr>
            <p:ph type="ftr" sz="quarter" idx="11"/>
          </p:nvPr>
        </p:nvSpPr>
        <p:spPr/>
        <p:txBody>
          <a:bodyPr/>
          <a:lstStyle/>
          <a:p>
            <a:r>
              <a:rPr lang="en-US"/>
              <a:t>CSE 585 – W26</a:t>
            </a:r>
          </a:p>
        </p:txBody>
      </p:sp>
      <p:sp>
        <p:nvSpPr>
          <p:cNvPr id="5" name="Slide Number Placeholder 4"/>
          <p:cNvSpPr>
            <a:spLocks noGrp="1"/>
          </p:cNvSpPr>
          <p:nvPr>
            <p:ph type="sldNum" sz="quarter" idx="12"/>
          </p:nvPr>
        </p:nvSpPr>
        <p:spPr/>
        <p:txBody>
          <a:bodyPr/>
          <a:lstStyle/>
          <a:p>
            <a:fld id="{4EEF9975-6C58-5C4C-8961-54FFA2646BAA}" type="slidenum">
              <a:rPr lang="en-US" smtClean="0"/>
              <a:t>8</a:t>
            </a:fld>
            <a:endParaRPr lang="en-US"/>
          </a:p>
        </p:txBody>
      </p:sp>
      <p:sp>
        <p:nvSpPr>
          <p:cNvPr id="7" name="Date Placeholder 6"/>
          <p:cNvSpPr>
            <a:spLocks noGrp="1"/>
          </p:cNvSpPr>
          <p:nvPr>
            <p:ph type="dt" sz="half" idx="10"/>
          </p:nvPr>
        </p:nvSpPr>
        <p:spPr/>
        <p:txBody>
          <a:bodyPr/>
          <a:lstStyle/>
          <a:p>
            <a:r>
              <a:rPr lang="en-US"/>
              <a:t>1/13/26</a:t>
            </a:r>
          </a:p>
        </p:txBody>
      </p:sp>
    </p:spTree>
    <p:extLst>
      <p:ext uri="{BB962C8B-B14F-4D97-AF65-F5344CB8AC3E}">
        <p14:creationId xmlns:p14="http://schemas.microsoft.com/office/powerpoint/2010/main" val="1910357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(#Lectures)</a:t>
            </a:r>
          </a:p>
        </p:txBody>
      </p:sp>
      <p:sp>
        <p:nvSpPr>
          <p:cNvPr id="3" name="Content Placeholder 2"/>
          <p:cNvSpPr>
            <a:spLocks noGrp="1"/>
          </p:cNvSpPr>
          <p:nvPr>
            <p:ph idx="1"/>
          </p:nvPr>
        </p:nvSpPr>
        <p:spPr/>
        <p:txBody>
          <a:bodyPr>
            <a:normAutofit/>
          </a:bodyPr>
          <a:lstStyle/>
          <a:p>
            <a:r>
              <a:rPr lang="en-US" dirty="0"/>
              <a:t>Basics (3)</a:t>
            </a:r>
          </a:p>
          <a:p>
            <a:r>
              <a:rPr lang="en-US" dirty="0"/>
              <a:t>Pre-Training (3)</a:t>
            </a:r>
          </a:p>
          <a:p>
            <a:r>
              <a:rPr lang="en-US" dirty="0"/>
              <a:t>Post-Training (1)	</a:t>
            </a:r>
          </a:p>
          <a:p>
            <a:r>
              <a:rPr lang="en-US" dirty="0"/>
              <a:t>Inference (5)</a:t>
            </a:r>
          </a:p>
          <a:p>
            <a:r>
              <a:rPr lang="en-US" dirty="0"/>
              <a:t>Agentic Systems (3)</a:t>
            </a:r>
          </a:p>
          <a:p>
            <a:r>
              <a:rPr lang="en-US" dirty="0"/>
              <a:t>Hardware/Infrastructure (1)</a:t>
            </a:r>
          </a:p>
          <a:p>
            <a:r>
              <a:rPr lang="en-US" dirty="0"/>
              <a:t>Power and Energy (2)</a:t>
            </a:r>
          </a:p>
          <a:p>
            <a:r>
              <a:rPr lang="en-US" dirty="0"/>
              <a:t>Ethical Considerations (1)</a:t>
            </a:r>
          </a:p>
        </p:txBody>
      </p:sp>
      <p:sp>
        <p:nvSpPr>
          <p:cNvPr id="4" name="Date Placeholder 3"/>
          <p:cNvSpPr>
            <a:spLocks noGrp="1"/>
          </p:cNvSpPr>
          <p:nvPr>
            <p:ph type="dt" sz="half" idx="10"/>
          </p:nvPr>
        </p:nvSpPr>
        <p:spPr/>
        <p:txBody>
          <a:bodyPr/>
          <a:lstStyle/>
          <a:p>
            <a:r>
              <a:rPr lang="en-US"/>
              <a:t>1/13/26</a:t>
            </a:r>
          </a:p>
        </p:txBody>
      </p:sp>
      <p:sp>
        <p:nvSpPr>
          <p:cNvPr id="5" name="Footer Placeholder 4"/>
          <p:cNvSpPr>
            <a:spLocks noGrp="1"/>
          </p:cNvSpPr>
          <p:nvPr>
            <p:ph type="ftr" sz="quarter" idx="11"/>
          </p:nvPr>
        </p:nvSpPr>
        <p:spPr/>
        <p:txBody>
          <a:bodyPr/>
          <a:lstStyle/>
          <a:p>
            <a:r>
              <a:rPr lang="en-US"/>
              <a:t>CSE 585 – W26</a:t>
            </a:r>
          </a:p>
        </p:txBody>
      </p:sp>
      <p:sp>
        <p:nvSpPr>
          <p:cNvPr id="6" name="Slide Number Placeholder 5"/>
          <p:cNvSpPr>
            <a:spLocks noGrp="1"/>
          </p:cNvSpPr>
          <p:nvPr>
            <p:ph type="sldNum" sz="quarter" idx="12"/>
          </p:nvPr>
        </p:nvSpPr>
        <p:spPr/>
        <p:txBody>
          <a:bodyPr/>
          <a:lstStyle/>
          <a:p>
            <a:fld id="{4EEF9975-6C58-5C4C-8961-54FFA2646BAA}" type="slidenum">
              <a:rPr lang="en-US" smtClean="0"/>
              <a:t>9</a:t>
            </a:fld>
            <a:endParaRPr lang="en-US"/>
          </a:p>
        </p:txBody>
      </p:sp>
    </p:spTree>
    <p:extLst>
      <p:ext uri="{BB962C8B-B14F-4D97-AF65-F5344CB8AC3E}">
        <p14:creationId xmlns:p14="http://schemas.microsoft.com/office/powerpoint/2010/main" val="3280797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Group-Based Work</a:t>
            </a:r>
          </a:p>
        </p:txBody>
      </p:sp>
      <p:sp>
        <p:nvSpPr>
          <p:cNvPr id="3" name="Content Placeholder 2"/>
          <p:cNvSpPr>
            <a:spLocks noGrp="1"/>
          </p:cNvSpPr>
          <p:nvPr>
            <p:ph idx="1"/>
          </p:nvPr>
        </p:nvSpPr>
        <p:spPr/>
        <p:txBody>
          <a:bodyPr/>
          <a:lstStyle/>
          <a:p>
            <a:r>
              <a:rPr lang="en-US" dirty="0"/>
              <a:t>ALL activities will be done in groups </a:t>
            </a:r>
            <a:r>
              <a:rPr lang="en-US" dirty="0">
                <a:solidFill>
                  <a:srgbClr val="FF0000"/>
                </a:solidFill>
              </a:rPr>
              <a:t>except</a:t>
            </a:r>
            <a:r>
              <a:rPr lang="en-US" dirty="0"/>
              <a:t> for participation</a:t>
            </a:r>
          </a:p>
          <a:p>
            <a:pPr lvl="1"/>
            <a:r>
              <a:rPr lang="en-US" dirty="0"/>
              <a:t>Paper presentation</a:t>
            </a:r>
          </a:p>
          <a:p>
            <a:pPr lvl="1"/>
            <a:r>
              <a:rPr lang="en-US" dirty="0"/>
              <a:t>Paper summary</a:t>
            </a:r>
          </a:p>
          <a:p>
            <a:pPr lvl="1"/>
            <a:r>
              <a:rPr lang="en-US" dirty="0"/>
              <a:t>Research projects</a:t>
            </a:r>
          </a:p>
        </p:txBody>
      </p:sp>
      <p:sp>
        <p:nvSpPr>
          <p:cNvPr id="4" name="Date Placeholder 3"/>
          <p:cNvSpPr>
            <a:spLocks noGrp="1"/>
          </p:cNvSpPr>
          <p:nvPr>
            <p:ph type="dt" sz="half" idx="10"/>
          </p:nvPr>
        </p:nvSpPr>
        <p:spPr/>
        <p:txBody>
          <a:bodyPr/>
          <a:lstStyle/>
          <a:p>
            <a:r>
              <a:rPr lang="en-US"/>
              <a:t>1/13/26</a:t>
            </a:r>
          </a:p>
        </p:txBody>
      </p:sp>
      <p:sp>
        <p:nvSpPr>
          <p:cNvPr id="5" name="Footer Placeholder 4"/>
          <p:cNvSpPr>
            <a:spLocks noGrp="1"/>
          </p:cNvSpPr>
          <p:nvPr>
            <p:ph type="ftr" sz="quarter" idx="11"/>
          </p:nvPr>
        </p:nvSpPr>
        <p:spPr/>
        <p:txBody>
          <a:bodyPr/>
          <a:lstStyle/>
          <a:p>
            <a:r>
              <a:rPr lang="en-US"/>
              <a:t>CSE 585 – W26</a:t>
            </a:r>
          </a:p>
        </p:txBody>
      </p:sp>
      <p:sp>
        <p:nvSpPr>
          <p:cNvPr id="6" name="Slide Number Placeholder 5"/>
          <p:cNvSpPr>
            <a:spLocks noGrp="1"/>
          </p:cNvSpPr>
          <p:nvPr>
            <p:ph type="sldNum" sz="quarter" idx="12"/>
          </p:nvPr>
        </p:nvSpPr>
        <p:spPr/>
        <p:txBody>
          <a:bodyPr/>
          <a:lstStyle/>
          <a:p>
            <a:fld id="{4EEF9975-6C58-5C4C-8961-54FFA2646BAA}" type="slidenum">
              <a:rPr lang="en-US" smtClean="0"/>
              <a:t>10</a:t>
            </a:fld>
            <a:endParaRPr lang="en-US"/>
          </a:p>
        </p:txBody>
      </p:sp>
    </p:spTree>
    <p:extLst>
      <p:ext uri="{BB962C8B-B14F-4D97-AF65-F5344CB8AC3E}">
        <p14:creationId xmlns:p14="http://schemas.microsoft.com/office/powerpoint/2010/main" val="859408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 Groups ASAP</a:t>
            </a:r>
          </a:p>
        </p:txBody>
      </p:sp>
      <p:sp>
        <p:nvSpPr>
          <p:cNvPr id="3" name="Content Placeholder 2"/>
          <p:cNvSpPr>
            <a:spLocks noGrp="1"/>
          </p:cNvSpPr>
          <p:nvPr>
            <p:ph idx="1"/>
          </p:nvPr>
        </p:nvSpPr>
        <p:spPr/>
        <p:txBody>
          <a:bodyPr/>
          <a:lstStyle/>
          <a:p>
            <a:r>
              <a:rPr lang="en-US" dirty="0"/>
              <a:t>Submit </a:t>
            </a:r>
            <a:r>
              <a:rPr lang="en-US" dirty="0">
                <a:hlinkClick r:id="rId2"/>
              </a:rPr>
              <a:t>Google Form</a:t>
            </a:r>
            <a:r>
              <a:rPr lang="en-US" dirty="0"/>
              <a:t> (also linked from course website)</a:t>
            </a:r>
          </a:p>
          <a:p>
            <a:pPr lvl="1"/>
            <a:r>
              <a:rPr lang="en-US" dirty="0"/>
              <a:t>By January 23 the latest, but </a:t>
            </a:r>
            <a:r>
              <a:rPr lang="en-US" b="1" dirty="0">
                <a:solidFill>
                  <a:srgbClr val="FF0000"/>
                </a:solidFill>
                <a:latin typeface="Gill Sans" panose="020B0502020104020203" pitchFamily="34" charset="-79"/>
                <a:cs typeface="Gill Sans" panose="020B0502020104020203" pitchFamily="34" charset="-79"/>
              </a:rPr>
              <a:t>right now</a:t>
            </a:r>
            <a:r>
              <a:rPr lang="en-US" dirty="0"/>
              <a:t> is better</a:t>
            </a:r>
          </a:p>
          <a:p>
            <a:pPr lvl="1"/>
            <a:r>
              <a:rPr lang="en-US" dirty="0"/>
              <a:t>Use </a:t>
            </a:r>
            <a:r>
              <a:rPr lang="en-US" dirty="0">
                <a:hlinkClick r:id="rId3"/>
              </a:rPr>
              <a:t>Ed</a:t>
            </a:r>
            <a:r>
              <a:rPr lang="en-US" dirty="0"/>
              <a:t> to find group members</a:t>
            </a:r>
          </a:p>
          <a:p>
            <a:pPr lvl="1"/>
            <a:r>
              <a:rPr lang="en-US" dirty="0"/>
              <a:t>With the current class size, group size should be 4</a:t>
            </a:r>
          </a:p>
        </p:txBody>
      </p:sp>
      <p:sp>
        <p:nvSpPr>
          <p:cNvPr id="4" name="Date Placeholder 3"/>
          <p:cNvSpPr>
            <a:spLocks noGrp="1"/>
          </p:cNvSpPr>
          <p:nvPr>
            <p:ph type="dt" sz="half" idx="10"/>
          </p:nvPr>
        </p:nvSpPr>
        <p:spPr/>
        <p:txBody>
          <a:bodyPr/>
          <a:lstStyle/>
          <a:p>
            <a:r>
              <a:rPr lang="en-US"/>
              <a:t>1/13/26</a:t>
            </a:r>
          </a:p>
        </p:txBody>
      </p:sp>
      <p:sp>
        <p:nvSpPr>
          <p:cNvPr id="5" name="Footer Placeholder 4"/>
          <p:cNvSpPr>
            <a:spLocks noGrp="1"/>
          </p:cNvSpPr>
          <p:nvPr>
            <p:ph type="ftr" sz="quarter" idx="11"/>
          </p:nvPr>
        </p:nvSpPr>
        <p:spPr/>
        <p:txBody>
          <a:bodyPr/>
          <a:lstStyle/>
          <a:p>
            <a:r>
              <a:rPr lang="en-US"/>
              <a:t>CSE 585 – W26</a:t>
            </a:r>
          </a:p>
        </p:txBody>
      </p:sp>
      <p:sp>
        <p:nvSpPr>
          <p:cNvPr id="6" name="Slide Number Placeholder 5"/>
          <p:cNvSpPr>
            <a:spLocks noGrp="1"/>
          </p:cNvSpPr>
          <p:nvPr>
            <p:ph type="sldNum" sz="quarter" idx="12"/>
          </p:nvPr>
        </p:nvSpPr>
        <p:spPr/>
        <p:txBody>
          <a:bodyPr/>
          <a:lstStyle/>
          <a:p>
            <a:fld id="{4EEF9975-6C58-5C4C-8961-54FFA2646BAA}" type="slidenum">
              <a:rPr lang="en-US" smtClean="0"/>
              <a:t>11</a:t>
            </a:fld>
            <a:endParaRPr lang="en-US"/>
          </a:p>
        </p:txBody>
      </p:sp>
    </p:spTree>
    <p:extLst>
      <p:ext uri="{BB962C8B-B14F-4D97-AF65-F5344CB8AC3E}">
        <p14:creationId xmlns:p14="http://schemas.microsoft.com/office/powerpoint/2010/main" val="309008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Readings</a:t>
            </a:r>
          </a:p>
        </p:txBody>
      </p:sp>
      <p:sp>
        <p:nvSpPr>
          <p:cNvPr id="3" name="Content Placeholder 2"/>
          <p:cNvSpPr>
            <a:spLocks noGrp="1"/>
          </p:cNvSpPr>
          <p:nvPr>
            <p:ph idx="1"/>
          </p:nvPr>
        </p:nvSpPr>
        <p:spPr/>
        <p:txBody>
          <a:bodyPr/>
          <a:lstStyle/>
          <a:p>
            <a:r>
              <a:rPr lang="en-US" dirty="0"/>
              <a:t>~40 papers/articles across</a:t>
            </a:r>
          </a:p>
          <a:p>
            <a:pPr lvl="1"/>
            <a:r>
              <a:rPr lang="en-US" dirty="0"/>
              <a:t>Primarily from systems venues like SOSP, OSDI, NSDI, ASPLOS, FAST, etc.</a:t>
            </a:r>
          </a:p>
          <a:p>
            <a:pPr lvl="1"/>
            <a:r>
              <a:rPr lang="en-US" dirty="0"/>
              <a:t>A couple from traditional AI/ML venues but still with systems-y flavor</a:t>
            </a:r>
          </a:p>
        </p:txBody>
      </p:sp>
      <p:sp>
        <p:nvSpPr>
          <p:cNvPr id="4" name="Footer Placeholder 3"/>
          <p:cNvSpPr>
            <a:spLocks noGrp="1"/>
          </p:cNvSpPr>
          <p:nvPr>
            <p:ph type="ftr" sz="quarter" idx="11"/>
          </p:nvPr>
        </p:nvSpPr>
        <p:spPr/>
        <p:txBody>
          <a:bodyPr/>
          <a:lstStyle/>
          <a:p>
            <a:r>
              <a:rPr lang="en-US"/>
              <a:t>CSE 585 – W26</a:t>
            </a:r>
          </a:p>
        </p:txBody>
      </p:sp>
      <p:sp>
        <p:nvSpPr>
          <p:cNvPr id="5" name="Slide Number Placeholder 4"/>
          <p:cNvSpPr>
            <a:spLocks noGrp="1"/>
          </p:cNvSpPr>
          <p:nvPr>
            <p:ph type="sldNum" sz="quarter" idx="12"/>
          </p:nvPr>
        </p:nvSpPr>
        <p:spPr/>
        <p:txBody>
          <a:bodyPr/>
          <a:lstStyle/>
          <a:p>
            <a:fld id="{4EEF9975-6C58-5C4C-8961-54FFA2646BAA}" type="slidenum">
              <a:rPr lang="en-US" smtClean="0"/>
              <a:t>12</a:t>
            </a:fld>
            <a:endParaRPr lang="en-US"/>
          </a:p>
        </p:txBody>
      </p:sp>
      <p:sp>
        <p:nvSpPr>
          <p:cNvPr id="6" name="Date Placeholder 5"/>
          <p:cNvSpPr>
            <a:spLocks noGrp="1"/>
          </p:cNvSpPr>
          <p:nvPr>
            <p:ph type="dt" sz="half" idx="10"/>
          </p:nvPr>
        </p:nvSpPr>
        <p:spPr/>
        <p:txBody>
          <a:bodyPr/>
          <a:lstStyle/>
          <a:p>
            <a:r>
              <a:rPr lang="en-US"/>
              <a:t>1/13/26</a:t>
            </a:r>
          </a:p>
        </p:txBody>
      </p:sp>
    </p:spTree>
    <p:extLst>
      <p:ext uri="{BB962C8B-B14F-4D97-AF65-F5344CB8AC3E}">
        <p14:creationId xmlns:p14="http://schemas.microsoft.com/office/powerpoint/2010/main" val="1935758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Paper Presentation</a:t>
            </a:r>
          </a:p>
        </p:txBody>
      </p:sp>
      <p:sp>
        <p:nvSpPr>
          <p:cNvPr id="3" name="Content Placeholder 2"/>
          <p:cNvSpPr>
            <a:spLocks noGrp="1"/>
          </p:cNvSpPr>
          <p:nvPr>
            <p:ph idx="1"/>
          </p:nvPr>
        </p:nvSpPr>
        <p:spPr/>
        <p:txBody>
          <a:bodyPr>
            <a:normAutofit/>
          </a:bodyPr>
          <a:lstStyle/>
          <a:p>
            <a:r>
              <a:rPr lang="en-US" dirty="0"/>
              <a:t>This is a seminar-style course</a:t>
            </a:r>
          </a:p>
          <a:p>
            <a:pPr lvl="1"/>
            <a:r>
              <a:rPr lang="en-US" dirty="0"/>
              <a:t>Each group must present at least one lecture (required papers and the rest)</a:t>
            </a:r>
          </a:p>
          <a:p>
            <a:pPr lvl="1"/>
            <a:r>
              <a:rPr lang="en-US" dirty="0"/>
              <a:t>Paper presentation account for </a:t>
            </a:r>
            <a:r>
              <a:rPr lang="en-US" dirty="0">
                <a:latin typeface="Gill Sans" charset="0"/>
                <a:cs typeface="Gill Sans" charset="0"/>
              </a:rPr>
              <a:t>15</a:t>
            </a:r>
            <a:r>
              <a:rPr lang="en-US" dirty="0">
                <a:latin typeface="Gill Sans" charset="0"/>
                <a:ea typeface="Gill Sans" charset="0"/>
                <a:cs typeface="Gill Sans" charset="0"/>
              </a:rPr>
              <a:t>%</a:t>
            </a:r>
            <a:r>
              <a:rPr lang="en-US" dirty="0"/>
              <a:t> of the total grade</a:t>
            </a:r>
          </a:p>
          <a:p>
            <a:r>
              <a:rPr lang="en-US" dirty="0"/>
              <a:t>The entire class will be dedicated to the assigned paper(s)</a:t>
            </a:r>
          </a:p>
          <a:p>
            <a:pPr lvl="1"/>
            <a:r>
              <a:rPr lang="en-US" dirty="0"/>
              <a:t>Aim for 40-minute presentation without interruption</a:t>
            </a:r>
          </a:p>
          <a:p>
            <a:pPr lvl="1"/>
            <a:r>
              <a:rPr lang="en-US" dirty="0"/>
              <a:t>But there will be intermittent discussions</a:t>
            </a:r>
          </a:p>
          <a:p>
            <a:r>
              <a:rPr lang="en-US" dirty="0"/>
              <a:t>Lead the discussion</a:t>
            </a:r>
          </a:p>
          <a:p>
            <a:pPr lvl="1"/>
            <a:r>
              <a:rPr lang="en-US" dirty="0"/>
              <a:t>Go through the paper in details, along with its strengths and weaknesses</a:t>
            </a:r>
          </a:p>
          <a:p>
            <a:pPr lvl="1"/>
            <a:r>
              <a:rPr lang="en-US" dirty="0"/>
              <a:t>Include companion papers and other related papers</a:t>
            </a:r>
          </a:p>
        </p:txBody>
      </p:sp>
      <p:sp>
        <p:nvSpPr>
          <p:cNvPr id="4" name="Footer Placeholder 3"/>
          <p:cNvSpPr>
            <a:spLocks noGrp="1"/>
          </p:cNvSpPr>
          <p:nvPr>
            <p:ph type="ftr" sz="quarter" idx="11"/>
          </p:nvPr>
        </p:nvSpPr>
        <p:spPr/>
        <p:txBody>
          <a:bodyPr/>
          <a:lstStyle/>
          <a:p>
            <a:r>
              <a:rPr lang="en-US"/>
              <a:t>CSE 585 – W26</a:t>
            </a:r>
          </a:p>
        </p:txBody>
      </p:sp>
      <p:sp>
        <p:nvSpPr>
          <p:cNvPr id="5" name="Slide Number Placeholder 4"/>
          <p:cNvSpPr>
            <a:spLocks noGrp="1"/>
          </p:cNvSpPr>
          <p:nvPr>
            <p:ph type="sldNum" sz="quarter" idx="12"/>
          </p:nvPr>
        </p:nvSpPr>
        <p:spPr/>
        <p:txBody>
          <a:bodyPr/>
          <a:lstStyle/>
          <a:p>
            <a:fld id="{4EEF9975-6C58-5C4C-8961-54FFA2646BAA}" type="slidenum">
              <a:rPr lang="en-US" smtClean="0"/>
              <a:t>13</a:t>
            </a:fld>
            <a:endParaRPr lang="en-US"/>
          </a:p>
        </p:txBody>
      </p:sp>
      <p:sp>
        <p:nvSpPr>
          <p:cNvPr id="6" name="Date Placeholder 5"/>
          <p:cNvSpPr>
            <a:spLocks noGrp="1"/>
          </p:cNvSpPr>
          <p:nvPr>
            <p:ph type="dt" sz="half" idx="10"/>
          </p:nvPr>
        </p:nvSpPr>
        <p:spPr/>
        <p:txBody>
          <a:bodyPr/>
          <a:lstStyle/>
          <a:p>
            <a:r>
              <a:rPr lang="en-US"/>
              <a:t>1/13/26</a:t>
            </a:r>
          </a:p>
        </p:txBody>
      </p:sp>
    </p:spTree>
    <p:extLst>
      <p:ext uri="{BB962C8B-B14F-4D97-AF65-F5344CB8AC3E}">
        <p14:creationId xmlns:p14="http://schemas.microsoft.com/office/powerpoint/2010/main" val="1730461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Paper Presentation</a:t>
            </a:r>
          </a:p>
        </p:txBody>
      </p:sp>
      <p:sp>
        <p:nvSpPr>
          <p:cNvPr id="3" name="Content Placeholder 2"/>
          <p:cNvSpPr>
            <a:spLocks noGrp="1"/>
          </p:cNvSpPr>
          <p:nvPr>
            <p:ph idx="1"/>
          </p:nvPr>
        </p:nvSpPr>
        <p:spPr/>
        <p:txBody>
          <a:bodyPr/>
          <a:lstStyle/>
          <a:p>
            <a:r>
              <a:rPr lang="en-US" dirty="0"/>
              <a:t>Share your slides to </a:t>
            </a:r>
            <a:r>
              <a:rPr lang="en-US" dirty="0">
                <a:hlinkClick r:id="rId2"/>
              </a:rPr>
              <a:t>cse585-staff@umich.edu</a:t>
            </a:r>
            <a:r>
              <a:rPr lang="en-US" dirty="0"/>
              <a:t> 24 hours before the class</a:t>
            </a:r>
          </a:p>
          <a:p>
            <a:pPr lvl="1"/>
            <a:r>
              <a:rPr lang="en-US" dirty="0"/>
              <a:t>Use Google Slides so we can provide in-place comments/feedback</a:t>
            </a:r>
          </a:p>
          <a:p>
            <a:r>
              <a:rPr lang="en-US" dirty="0"/>
              <a:t>Prepare early</a:t>
            </a:r>
          </a:p>
          <a:p>
            <a:r>
              <a:rPr lang="en-US" dirty="0"/>
              <a:t>Practice a lot</a:t>
            </a:r>
          </a:p>
          <a:p>
            <a:r>
              <a:rPr lang="en-US" dirty="0"/>
              <a:t>Also, read</a:t>
            </a:r>
          </a:p>
          <a:p>
            <a:pPr lvl="1"/>
            <a:r>
              <a:rPr lang="en-US" dirty="0">
                <a:hlinkClick r:id="rId3"/>
              </a:rPr>
              <a:t>How to Give a Bad Talk</a:t>
            </a:r>
            <a:r>
              <a:rPr lang="en-US" dirty="0"/>
              <a:t>, by David A. Patterson </a:t>
            </a:r>
          </a:p>
          <a:p>
            <a:pPr lvl="1"/>
            <a:endParaRPr lang="en-US" dirty="0"/>
          </a:p>
        </p:txBody>
      </p:sp>
      <p:sp>
        <p:nvSpPr>
          <p:cNvPr id="4" name="Footer Placeholder 3"/>
          <p:cNvSpPr>
            <a:spLocks noGrp="1"/>
          </p:cNvSpPr>
          <p:nvPr>
            <p:ph type="ftr" sz="quarter" idx="11"/>
          </p:nvPr>
        </p:nvSpPr>
        <p:spPr/>
        <p:txBody>
          <a:bodyPr/>
          <a:lstStyle/>
          <a:p>
            <a:r>
              <a:rPr lang="en-US"/>
              <a:t>CSE 585 – W26</a:t>
            </a:r>
          </a:p>
        </p:txBody>
      </p:sp>
      <p:sp>
        <p:nvSpPr>
          <p:cNvPr id="5" name="Slide Number Placeholder 4"/>
          <p:cNvSpPr>
            <a:spLocks noGrp="1"/>
          </p:cNvSpPr>
          <p:nvPr>
            <p:ph type="sldNum" sz="quarter" idx="12"/>
          </p:nvPr>
        </p:nvSpPr>
        <p:spPr/>
        <p:txBody>
          <a:bodyPr/>
          <a:lstStyle/>
          <a:p>
            <a:fld id="{4EEF9975-6C58-5C4C-8961-54FFA2646BAA}" type="slidenum">
              <a:rPr lang="en-US" smtClean="0"/>
              <a:t>14</a:t>
            </a:fld>
            <a:endParaRPr lang="en-US"/>
          </a:p>
        </p:txBody>
      </p:sp>
      <p:sp>
        <p:nvSpPr>
          <p:cNvPr id="6" name="Date Placeholder 5"/>
          <p:cNvSpPr>
            <a:spLocks noGrp="1"/>
          </p:cNvSpPr>
          <p:nvPr>
            <p:ph type="dt" sz="half" idx="10"/>
          </p:nvPr>
        </p:nvSpPr>
        <p:spPr/>
        <p:txBody>
          <a:bodyPr/>
          <a:lstStyle/>
          <a:p>
            <a:r>
              <a:rPr lang="en-US"/>
              <a:t>1/13/26</a:t>
            </a:r>
          </a:p>
        </p:txBody>
      </p:sp>
    </p:spTree>
    <p:extLst>
      <p:ext uri="{BB962C8B-B14F-4D97-AF65-F5344CB8AC3E}">
        <p14:creationId xmlns:p14="http://schemas.microsoft.com/office/powerpoint/2010/main" val="922069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Paper Summaries</a:t>
            </a:r>
          </a:p>
        </p:txBody>
      </p:sp>
      <p:sp>
        <p:nvSpPr>
          <p:cNvPr id="3" name="Content Placeholder 2"/>
          <p:cNvSpPr>
            <a:spLocks noGrp="1"/>
          </p:cNvSpPr>
          <p:nvPr>
            <p:ph idx="1"/>
          </p:nvPr>
        </p:nvSpPr>
        <p:spPr/>
        <p:txBody>
          <a:bodyPr>
            <a:normAutofit/>
          </a:bodyPr>
          <a:lstStyle/>
          <a:p>
            <a:r>
              <a:rPr lang="en-US" dirty="0"/>
              <a:t>This is a paper-reading course</a:t>
            </a:r>
          </a:p>
          <a:p>
            <a:pPr lvl="1"/>
            <a:r>
              <a:rPr lang="en-US" dirty="0"/>
              <a:t>Paper summaries account for </a:t>
            </a:r>
            <a:r>
              <a:rPr lang="en-US" dirty="0">
                <a:latin typeface="Gill Sans" charset="0"/>
                <a:cs typeface="Gill Sans" charset="0"/>
              </a:rPr>
              <a:t>15</a:t>
            </a:r>
            <a:r>
              <a:rPr lang="en-US" dirty="0">
                <a:latin typeface="Gill Sans" charset="0"/>
                <a:ea typeface="Gill Sans" charset="0"/>
                <a:cs typeface="Gill Sans" charset="0"/>
              </a:rPr>
              <a:t>%</a:t>
            </a:r>
            <a:r>
              <a:rPr lang="en-US" dirty="0"/>
              <a:t> of the total grade</a:t>
            </a:r>
          </a:p>
          <a:p>
            <a:r>
              <a:rPr lang="en-US" dirty="0"/>
              <a:t>Roughly 1-2 summary per-group (assigned)</a:t>
            </a:r>
          </a:p>
          <a:p>
            <a:r>
              <a:rPr lang="en-US" dirty="0"/>
              <a:t>Each summary must follow the template and address the following</a:t>
            </a:r>
          </a:p>
          <a:p>
            <a:pPr lvl="1"/>
            <a:r>
              <a:rPr lang="en-US" dirty="0"/>
              <a:t>What is the problem and why is it important?</a:t>
            </a:r>
          </a:p>
          <a:p>
            <a:pPr lvl="1"/>
            <a:r>
              <a:rPr lang="en-US" dirty="0"/>
              <a:t>What is the hypothesis of the work?</a:t>
            </a:r>
          </a:p>
          <a:p>
            <a:pPr lvl="1"/>
            <a:r>
              <a:rPr lang="en-US" dirty="0"/>
              <a:t>What is the proposed solution, and what key insight guides their solution?</a:t>
            </a:r>
          </a:p>
          <a:p>
            <a:pPr lvl="1"/>
            <a:r>
              <a:rPr lang="en-US" dirty="0"/>
              <a:t>What is one (or more) drawback or limitation of the proposal, and how will you improve it?</a:t>
            </a:r>
          </a:p>
          <a:p>
            <a:r>
              <a:rPr lang="en-US" dirty="0"/>
              <a:t>Summary must include the gist of class discussion</a:t>
            </a:r>
          </a:p>
        </p:txBody>
      </p:sp>
      <p:sp>
        <p:nvSpPr>
          <p:cNvPr id="4" name="Footer Placeholder 3"/>
          <p:cNvSpPr>
            <a:spLocks noGrp="1"/>
          </p:cNvSpPr>
          <p:nvPr>
            <p:ph type="ftr" sz="quarter" idx="11"/>
          </p:nvPr>
        </p:nvSpPr>
        <p:spPr/>
        <p:txBody>
          <a:bodyPr/>
          <a:lstStyle/>
          <a:p>
            <a:r>
              <a:rPr lang="en-US"/>
              <a:t>CSE 585 – W26</a:t>
            </a:r>
          </a:p>
        </p:txBody>
      </p:sp>
      <p:sp>
        <p:nvSpPr>
          <p:cNvPr id="5" name="Slide Number Placeholder 4"/>
          <p:cNvSpPr>
            <a:spLocks noGrp="1"/>
          </p:cNvSpPr>
          <p:nvPr>
            <p:ph type="sldNum" sz="quarter" idx="12"/>
          </p:nvPr>
        </p:nvSpPr>
        <p:spPr/>
        <p:txBody>
          <a:bodyPr/>
          <a:lstStyle/>
          <a:p>
            <a:fld id="{4EEF9975-6C58-5C4C-8961-54FFA2646BAA}" type="slidenum">
              <a:rPr lang="en-US" smtClean="0"/>
              <a:t>15</a:t>
            </a:fld>
            <a:endParaRPr lang="en-US"/>
          </a:p>
        </p:txBody>
      </p:sp>
      <p:sp>
        <p:nvSpPr>
          <p:cNvPr id="6" name="Date Placeholder 5"/>
          <p:cNvSpPr>
            <a:spLocks noGrp="1"/>
          </p:cNvSpPr>
          <p:nvPr>
            <p:ph type="dt" sz="half" idx="10"/>
          </p:nvPr>
        </p:nvSpPr>
        <p:spPr/>
        <p:txBody>
          <a:bodyPr/>
          <a:lstStyle/>
          <a:p>
            <a:r>
              <a:rPr lang="en-US"/>
              <a:t>1/13/26</a:t>
            </a:r>
          </a:p>
        </p:txBody>
      </p:sp>
    </p:spTree>
    <p:extLst>
      <p:ext uri="{BB962C8B-B14F-4D97-AF65-F5344CB8AC3E}">
        <p14:creationId xmlns:p14="http://schemas.microsoft.com/office/powerpoint/2010/main" val="1245640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Paper Summaries</a:t>
            </a:r>
          </a:p>
        </p:txBody>
      </p:sp>
      <p:sp>
        <p:nvSpPr>
          <p:cNvPr id="3" name="Content Placeholder 2"/>
          <p:cNvSpPr>
            <a:spLocks noGrp="1"/>
          </p:cNvSpPr>
          <p:nvPr>
            <p:ph idx="1"/>
          </p:nvPr>
        </p:nvSpPr>
        <p:spPr/>
        <p:txBody>
          <a:bodyPr>
            <a:normAutofit/>
          </a:bodyPr>
          <a:lstStyle/>
          <a:p>
            <a:r>
              <a:rPr lang="en-US" dirty="0"/>
              <a:t>Reviews must be shared to </a:t>
            </a:r>
            <a:r>
              <a:rPr lang="en-US" dirty="0">
                <a:hlinkClick r:id="rId2"/>
              </a:rPr>
              <a:t>cse585-staff@umich.edu</a:t>
            </a:r>
            <a:r>
              <a:rPr lang="en-US" dirty="0"/>
              <a:t> within 24 hours of class presentation</a:t>
            </a:r>
          </a:p>
          <a:p>
            <a:pPr lvl="1"/>
            <a:r>
              <a:rPr lang="en-US" dirty="0"/>
              <a:t>Use Google docs so we can provide in-place comments/feedback</a:t>
            </a:r>
          </a:p>
          <a:p>
            <a:r>
              <a:rPr lang="en-US" dirty="0"/>
              <a:t>Delayed submission will receive NO CREDIT</a:t>
            </a:r>
          </a:p>
          <a:p>
            <a:pPr lvl="1"/>
            <a:r>
              <a:rPr lang="en-US" dirty="0"/>
              <a:t>There will be NO extensions</a:t>
            </a:r>
          </a:p>
        </p:txBody>
      </p:sp>
      <p:sp>
        <p:nvSpPr>
          <p:cNvPr id="4" name="Footer Placeholder 3"/>
          <p:cNvSpPr>
            <a:spLocks noGrp="1"/>
          </p:cNvSpPr>
          <p:nvPr>
            <p:ph type="ftr" sz="quarter" idx="11"/>
          </p:nvPr>
        </p:nvSpPr>
        <p:spPr/>
        <p:txBody>
          <a:bodyPr/>
          <a:lstStyle/>
          <a:p>
            <a:r>
              <a:rPr lang="en-US"/>
              <a:t>CSE 585 – W26</a:t>
            </a:r>
          </a:p>
        </p:txBody>
      </p:sp>
      <p:sp>
        <p:nvSpPr>
          <p:cNvPr id="5" name="Slide Number Placeholder 4"/>
          <p:cNvSpPr>
            <a:spLocks noGrp="1"/>
          </p:cNvSpPr>
          <p:nvPr>
            <p:ph type="sldNum" sz="quarter" idx="12"/>
          </p:nvPr>
        </p:nvSpPr>
        <p:spPr/>
        <p:txBody>
          <a:bodyPr/>
          <a:lstStyle/>
          <a:p>
            <a:fld id="{4EEF9975-6C58-5C4C-8961-54FFA2646BAA}" type="slidenum">
              <a:rPr lang="en-US" smtClean="0"/>
              <a:t>16</a:t>
            </a:fld>
            <a:endParaRPr lang="en-US"/>
          </a:p>
        </p:txBody>
      </p:sp>
      <p:sp>
        <p:nvSpPr>
          <p:cNvPr id="6" name="Date Placeholder 5"/>
          <p:cNvSpPr>
            <a:spLocks noGrp="1"/>
          </p:cNvSpPr>
          <p:nvPr>
            <p:ph type="dt" sz="half" idx="10"/>
          </p:nvPr>
        </p:nvSpPr>
        <p:spPr/>
        <p:txBody>
          <a:bodyPr/>
          <a:lstStyle/>
          <a:p>
            <a:r>
              <a:rPr lang="en-US"/>
              <a:t>1/13/26</a:t>
            </a:r>
          </a:p>
        </p:txBody>
      </p:sp>
    </p:spTree>
    <p:extLst>
      <p:ext uri="{BB962C8B-B14F-4D97-AF65-F5344CB8AC3E}">
        <p14:creationId xmlns:p14="http://schemas.microsoft.com/office/powerpoint/2010/main" val="1257922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Panel Discussion</a:t>
            </a:r>
          </a:p>
        </p:txBody>
      </p:sp>
      <p:sp>
        <p:nvSpPr>
          <p:cNvPr id="3" name="Content Placeholder 2"/>
          <p:cNvSpPr>
            <a:spLocks noGrp="1"/>
          </p:cNvSpPr>
          <p:nvPr>
            <p:ph idx="1"/>
          </p:nvPr>
        </p:nvSpPr>
        <p:spPr/>
        <p:txBody>
          <a:bodyPr>
            <a:normAutofit lnSpcReduction="10000"/>
          </a:bodyPr>
          <a:lstStyle/>
          <a:p>
            <a:r>
              <a:rPr lang="en-US" dirty="0"/>
              <a:t>The Authors</a:t>
            </a:r>
          </a:p>
          <a:p>
            <a:pPr lvl="1"/>
            <a:r>
              <a:rPr lang="en-US" dirty="0"/>
              <a:t>Groups that present and write summary</a:t>
            </a:r>
          </a:p>
          <a:p>
            <a:r>
              <a:rPr lang="en-US" dirty="0"/>
              <a:t>The Reviewers</a:t>
            </a:r>
          </a:p>
          <a:p>
            <a:pPr lvl="1"/>
            <a:r>
              <a:rPr lang="en-US" dirty="0"/>
              <a:t>Each group will be assigned to at least one of these slots</a:t>
            </a:r>
          </a:p>
          <a:p>
            <a:pPr lvl="1"/>
            <a:r>
              <a:rPr lang="en-US" dirty="0"/>
              <a:t>Will have their own questions to ask to the authors</a:t>
            </a:r>
          </a:p>
          <a:p>
            <a:pPr lvl="1"/>
            <a:r>
              <a:rPr lang="en-US" dirty="0"/>
              <a:t>Will receive questions raised by the class (described below) from the GSI before the lecture</a:t>
            </a:r>
          </a:p>
          <a:p>
            <a:r>
              <a:rPr lang="en-US" dirty="0"/>
              <a:t>Rest of the Class</a:t>
            </a:r>
          </a:p>
          <a:p>
            <a:pPr lvl="1"/>
            <a:r>
              <a:rPr lang="en-US" dirty="0">
                <a:latin typeface="Gill Sans Light" panose="020B0302020104020203" pitchFamily="34" charset="-79"/>
                <a:cs typeface="Gill Sans Light" panose="020B0302020104020203" pitchFamily="34" charset="-79"/>
              </a:rPr>
              <a:t>S</a:t>
            </a:r>
            <a:r>
              <a:rPr lang="en-US" dirty="0">
                <a:effectLst/>
                <a:latin typeface="Gill Sans Light" panose="020B0302020104020203" pitchFamily="34" charset="-79"/>
                <a:cs typeface="Gill Sans Light" panose="020B0302020104020203" pitchFamily="34" charset="-79"/>
              </a:rPr>
              <a:t>ubmit</a:t>
            </a:r>
            <a:r>
              <a:rPr lang="en-US" dirty="0">
                <a:solidFill>
                  <a:srgbClr val="1F2328"/>
                </a:solidFill>
                <a:effectLst/>
                <a:latin typeface="Gill Sans Light" panose="020B0302020104020203" pitchFamily="34" charset="-79"/>
                <a:cs typeface="Gill Sans Light" panose="020B0302020104020203" pitchFamily="34" charset="-79"/>
              </a:rPr>
              <a:t> one insightful question for each presented papers by 5PM the day before</a:t>
            </a:r>
          </a:p>
          <a:p>
            <a:pPr lvl="1"/>
            <a:r>
              <a:rPr lang="en-US" dirty="0">
                <a:solidFill>
                  <a:srgbClr val="1F2328"/>
                </a:solidFill>
                <a:latin typeface="Gill Sans Light" panose="020B0302020104020203" pitchFamily="34" charset="-79"/>
                <a:cs typeface="Gill Sans Light" panose="020B0302020104020203" pitchFamily="34" charset="-79"/>
              </a:rPr>
              <a:t>Ask questions directly too</a:t>
            </a:r>
          </a:p>
        </p:txBody>
      </p:sp>
      <p:sp>
        <p:nvSpPr>
          <p:cNvPr id="4" name="Footer Placeholder 3"/>
          <p:cNvSpPr>
            <a:spLocks noGrp="1"/>
          </p:cNvSpPr>
          <p:nvPr>
            <p:ph type="ftr" sz="quarter" idx="11"/>
          </p:nvPr>
        </p:nvSpPr>
        <p:spPr/>
        <p:txBody>
          <a:bodyPr/>
          <a:lstStyle/>
          <a:p>
            <a:r>
              <a:rPr lang="en-US"/>
              <a:t>CSE 585 – W26</a:t>
            </a:r>
          </a:p>
        </p:txBody>
      </p:sp>
      <p:sp>
        <p:nvSpPr>
          <p:cNvPr id="5" name="Slide Number Placeholder 4"/>
          <p:cNvSpPr>
            <a:spLocks noGrp="1"/>
          </p:cNvSpPr>
          <p:nvPr>
            <p:ph type="sldNum" sz="quarter" idx="12"/>
          </p:nvPr>
        </p:nvSpPr>
        <p:spPr/>
        <p:txBody>
          <a:bodyPr/>
          <a:lstStyle/>
          <a:p>
            <a:fld id="{4EEF9975-6C58-5C4C-8961-54FFA2646BAA}" type="slidenum">
              <a:rPr lang="en-US" smtClean="0"/>
              <a:t>17</a:t>
            </a:fld>
            <a:endParaRPr lang="en-US"/>
          </a:p>
        </p:txBody>
      </p:sp>
      <p:sp>
        <p:nvSpPr>
          <p:cNvPr id="6" name="Date Placeholder 5"/>
          <p:cNvSpPr>
            <a:spLocks noGrp="1"/>
          </p:cNvSpPr>
          <p:nvPr>
            <p:ph type="dt" sz="half" idx="10"/>
          </p:nvPr>
        </p:nvSpPr>
        <p:spPr/>
        <p:txBody>
          <a:bodyPr/>
          <a:lstStyle/>
          <a:p>
            <a:r>
              <a:rPr lang="en-US"/>
              <a:t>1/13/26</a:t>
            </a:r>
          </a:p>
        </p:txBody>
      </p:sp>
    </p:spTree>
    <p:extLst>
      <p:ext uri="{BB962C8B-B14F-4D97-AF65-F5344CB8AC3E}">
        <p14:creationId xmlns:p14="http://schemas.microsoft.com/office/powerpoint/2010/main" val="397296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general,</a:t>
            </a:r>
          </a:p>
        </p:txBody>
      </p:sp>
      <p:sp>
        <p:nvSpPr>
          <p:cNvPr id="3" name="Content Placeholder 2"/>
          <p:cNvSpPr>
            <a:spLocks noGrp="1"/>
          </p:cNvSpPr>
          <p:nvPr>
            <p:ph idx="1"/>
          </p:nvPr>
        </p:nvSpPr>
        <p:spPr/>
        <p:txBody>
          <a:bodyPr/>
          <a:lstStyle/>
          <a:p>
            <a:r>
              <a:rPr lang="en-US" dirty="0"/>
              <a:t>No extensions</a:t>
            </a:r>
          </a:p>
          <a:p>
            <a:r>
              <a:rPr lang="en-US" dirty="0"/>
              <a:t>Everyone must come to class </a:t>
            </a:r>
            <a:r>
              <a:rPr lang="en-US" dirty="0">
                <a:latin typeface="Gill Sans" charset="0"/>
                <a:ea typeface="Gill Sans" charset="0"/>
                <a:cs typeface="Gill Sans" charset="0"/>
              </a:rPr>
              <a:t>after</a:t>
            </a:r>
            <a:r>
              <a:rPr lang="en-US" dirty="0"/>
              <a:t> reading the </a:t>
            </a:r>
            <a:r>
              <a:rPr lang="en-US" dirty="0">
                <a:solidFill>
                  <a:srgbClr val="FF0000"/>
                </a:solidFill>
              </a:rPr>
              <a:t>required</a:t>
            </a:r>
            <a:r>
              <a:rPr lang="en-US" dirty="0"/>
              <a:t> papers of the day</a:t>
            </a:r>
          </a:p>
        </p:txBody>
      </p:sp>
      <p:sp>
        <p:nvSpPr>
          <p:cNvPr id="4" name="Date Placeholder 3"/>
          <p:cNvSpPr>
            <a:spLocks noGrp="1"/>
          </p:cNvSpPr>
          <p:nvPr>
            <p:ph type="dt" sz="half" idx="10"/>
          </p:nvPr>
        </p:nvSpPr>
        <p:spPr/>
        <p:txBody>
          <a:bodyPr/>
          <a:lstStyle/>
          <a:p>
            <a:r>
              <a:rPr lang="en-US"/>
              <a:t>1/13/26</a:t>
            </a:r>
          </a:p>
        </p:txBody>
      </p:sp>
      <p:sp>
        <p:nvSpPr>
          <p:cNvPr id="5" name="Footer Placeholder 4"/>
          <p:cNvSpPr>
            <a:spLocks noGrp="1"/>
          </p:cNvSpPr>
          <p:nvPr>
            <p:ph type="ftr" sz="quarter" idx="11"/>
          </p:nvPr>
        </p:nvSpPr>
        <p:spPr/>
        <p:txBody>
          <a:bodyPr/>
          <a:lstStyle/>
          <a:p>
            <a:r>
              <a:rPr lang="en-US"/>
              <a:t>CSE 585 – W26</a:t>
            </a:r>
          </a:p>
        </p:txBody>
      </p:sp>
      <p:sp>
        <p:nvSpPr>
          <p:cNvPr id="6" name="Slide Number Placeholder 5"/>
          <p:cNvSpPr>
            <a:spLocks noGrp="1"/>
          </p:cNvSpPr>
          <p:nvPr>
            <p:ph type="sldNum" sz="quarter" idx="12"/>
          </p:nvPr>
        </p:nvSpPr>
        <p:spPr/>
        <p:txBody>
          <a:bodyPr/>
          <a:lstStyle/>
          <a:p>
            <a:fld id="{4EEF9975-6C58-5C4C-8961-54FFA2646BAA}" type="slidenum">
              <a:rPr lang="en-US" smtClean="0"/>
              <a:t>18</a:t>
            </a:fld>
            <a:endParaRPr lang="en-US"/>
          </a:p>
        </p:txBody>
      </p:sp>
    </p:spTree>
    <p:extLst>
      <p:ext uri="{BB962C8B-B14F-4D97-AF65-F5344CB8AC3E}">
        <p14:creationId xmlns:p14="http://schemas.microsoft.com/office/powerpoint/2010/main" val="3172724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68DCF-E44C-BC4D-BE45-B1C7E2FCBAD4}"/>
              </a:ext>
            </a:extLst>
          </p:cNvPr>
          <p:cNvSpPr>
            <a:spLocks noGrp="1"/>
          </p:cNvSpPr>
          <p:nvPr>
            <p:ph type="title"/>
          </p:nvPr>
        </p:nvSpPr>
        <p:spPr/>
        <p:txBody>
          <a:bodyPr>
            <a:noAutofit/>
          </a:bodyPr>
          <a:lstStyle/>
          <a:p>
            <a:r>
              <a:rPr lang="en-US" sz="4800" dirty="0"/>
              <a:t>What Do We Talk About When We Talk About “Advanced Scalable </a:t>
            </a:r>
            <a:r>
              <a:rPr lang="en-US" sz="4800" dirty="0">
                <a:solidFill>
                  <a:srgbClr val="FF0000"/>
                </a:solidFill>
              </a:rPr>
              <a:t>Systems</a:t>
            </a:r>
            <a:r>
              <a:rPr lang="en-US" sz="4800" dirty="0"/>
              <a:t> for Agentic GenAI”</a:t>
            </a:r>
          </a:p>
        </p:txBody>
      </p:sp>
      <p:sp>
        <p:nvSpPr>
          <p:cNvPr id="3" name="Text Placeholder 2">
            <a:extLst>
              <a:ext uri="{FF2B5EF4-FFF2-40B4-BE49-F238E27FC236}">
                <a16:creationId xmlns:a16="http://schemas.microsoft.com/office/drawing/2014/main" id="{11DE08D4-AD2D-2443-A31A-1259C735D719}"/>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8169AEA6-2406-424B-BD1F-E6B7585B6B6E}"/>
              </a:ext>
            </a:extLst>
          </p:cNvPr>
          <p:cNvSpPr>
            <a:spLocks noGrp="1"/>
          </p:cNvSpPr>
          <p:nvPr>
            <p:ph type="dt" sz="half" idx="10"/>
          </p:nvPr>
        </p:nvSpPr>
        <p:spPr/>
        <p:txBody>
          <a:bodyPr/>
          <a:lstStyle/>
          <a:p>
            <a:r>
              <a:rPr lang="en-US"/>
              <a:t>1/13/26</a:t>
            </a:r>
          </a:p>
        </p:txBody>
      </p:sp>
      <p:sp>
        <p:nvSpPr>
          <p:cNvPr id="5" name="Footer Placeholder 4">
            <a:extLst>
              <a:ext uri="{FF2B5EF4-FFF2-40B4-BE49-F238E27FC236}">
                <a16:creationId xmlns:a16="http://schemas.microsoft.com/office/drawing/2014/main" id="{280CA8B3-68D7-A247-8D73-263784A8B218}"/>
              </a:ext>
            </a:extLst>
          </p:cNvPr>
          <p:cNvSpPr>
            <a:spLocks noGrp="1"/>
          </p:cNvSpPr>
          <p:nvPr>
            <p:ph type="ftr" sz="quarter" idx="11"/>
          </p:nvPr>
        </p:nvSpPr>
        <p:spPr/>
        <p:txBody>
          <a:bodyPr/>
          <a:lstStyle/>
          <a:p>
            <a:r>
              <a:rPr lang="en-US"/>
              <a:t>CSE 585 – W26</a:t>
            </a:r>
          </a:p>
        </p:txBody>
      </p:sp>
      <p:sp>
        <p:nvSpPr>
          <p:cNvPr id="6" name="Slide Number Placeholder 5">
            <a:extLst>
              <a:ext uri="{FF2B5EF4-FFF2-40B4-BE49-F238E27FC236}">
                <a16:creationId xmlns:a16="http://schemas.microsoft.com/office/drawing/2014/main" id="{3B218951-B463-6C46-BEF7-9A19E5E33A29}"/>
              </a:ext>
            </a:extLst>
          </p:cNvPr>
          <p:cNvSpPr>
            <a:spLocks noGrp="1"/>
          </p:cNvSpPr>
          <p:nvPr>
            <p:ph type="sldNum" sz="quarter" idx="12"/>
          </p:nvPr>
        </p:nvSpPr>
        <p:spPr/>
        <p:txBody>
          <a:bodyPr/>
          <a:lstStyle/>
          <a:p>
            <a:fld id="{4EEF9975-6C58-5C4C-8961-54FFA2646BAA}" type="slidenum">
              <a:rPr lang="en-US" smtClean="0"/>
              <a:t>19</a:t>
            </a:fld>
            <a:endParaRPr lang="en-US"/>
          </a:p>
        </p:txBody>
      </p:sp>
    </p:spTree>
    <p:extLst>
      <p:ext uri="{BB962C8B-B14F-4D97-AF65-F5344CB8AC3E}">
        <p14:creationId xmlns:p14="http://schemas.microsoft.com/office/powerpoint/2010/main" val="2537219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68DCF-E44C-BC4D-BE45-B1C7E2FCBAD4}"/>
              </a:ext>
            </a:extLst>
          </p:cNvPr>
          <p:cNvSpPr>
            <a:spLocks noGrp="1"/>
          </p:cNvSpPr>
          <p:nvPr>
            <p:ph type="title"/>
          </p:nvPr>
        </p:nvSpPr>
        <p:spPr/>
        <p:txBody>
          <a:bodyPr>
            <a:noAutofit/>
          </a:bodyPr>
          <a:lstStyle/>
          <a:p>
            <a:r>
              <a:rPr lang="en-US" sz="4800" dirty="0"/>
              <a:t>Resource-Centric View</a:t>
            </a:r>
          </a:p>
        </p:txBody>
      </p:sp>
      <p:sp>
        <p:nvSpPr>
          <p:cNvPr id="3" name="Text Placeholder 2">
            <a:extLst>
              <a:ext uri="{FF2B5EF4-FFF2-40B4-BE49-F238E27FC236}">
                <a16:creationId xmlns:a16="http://schemas.microsoft.com/office/drawing/2014/main" id="{11DE08D4-AD2D-2443-A31A-1259C735D719}"/>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8169AEA6-2406-424B-BD1F-E6B7585B6B6E}"/>
              </a:ext>
            </a:extLst>
          </p:cNvPr>
          <p:cNvSpPr>
            <a:spLocks noGrp="1"/>
          </p:cNvSpPr>
          <p:nvPr>
            <p:ph type="dt" sz="half" idx="10"/>
          </p:nvPr>
        </p:nvSpPr>
        <p:spPr/>
        <p:txBody>
          <a:bodyPr/>
          <a:lstStyle/>
          <a:p>
            <a:r>
              <a:rPr lang="en-US"/>
              <a:t>1/13/26</a:t>
            </a:r>
          </a:p>
        </p:txBody>
      </p:sp>
      <p:sp>
        <p:nvSpPr>
          <p:cNvPr id="5" name="Footer Placeholder 4">
            <a:extLst>
              <a:ext uri="{FF2B5EF4-FFF2-40B4-BE49-F238E27FC236}">
                <a16:creationId xmlns:a16="http://schemas.microsoft.com/office/drawing/2014/main" id="{280CA8B3-68D7-A247-8D73-263784A8B218}"/>
              </a:ext>
            </a:extLst>
          </p:cNvPr>
          <p:cNvSpPr>
            <a:spLocks noGrp="1"/>
          </p:cNvSpPr>
          <p:nvPr>
            <p:ph type="ftr" sz="quarter" idx="11"/>
          </p:nvPr>
        </p:nvSpPr>
        <p:spPr/>
        <p:txBody>
          <a:bodyPr/>
          <a:lstStyle/>
          <a:p>
            <a:r>
              <a:rPr lang="en-US"/>
              <a:t>CSE 585 – W26</a:t>
            </a:r>
          </a:p>
        </p:txBody>
      </p:sp>
      <p:sp>
        <p:nvSpPr>
          <p:cNvPr id="6" name="Slide Number Placeholder 5">
            <a:extLst>
              <a:ext uri="{FF2B5EF4-FFF2-40B4-BE49-F238E27FC236}">
                <a16:creationId xmlns:a16="http://schemas.microsoft.com/office/drawing/2014/main" id="{3B218951-B463-6C46-BEF7-9A19E5E33A29}"/>
              </a:ext>
            </a:extLst>
          </p:cNvPr>
          <p:cNvSpPr>
            <a:spLocks noGrp="1"/>
          </p:cNvSpPr>
          <p:nvPr>
            <p:ph type="sldNum" sz="quarter" idx="12"/>
          </p:nvPr>
        </p:nvSpPr>
        <p:spPr/>
        <p:txBody>
          <a:bodyPr/>
          <a:lstStyle/>
          <a:p>
            <a:fld id="{4EEF9975-6C58-5C4C-8961-54FFA2646BAA}" type="slidenum">
              <a:rPr lang="en-US" smtClean="0"/>
              <a:t>20</a:t>
            </a:fld>
            <a:endParaRPr lang="en-US"/>
          </a:p>
        </p:txBody>
      </p:sp>
    </p:spTree>
    <p:extLst>
      <p:ext uri="{BB962C8B-B14F-4D97-AF65-F5344CB8AC3E}">
        <p14:creationId xmlns:p14="http://schemas.microsoft.com/office/powerpoint/2010/main" val="953926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What’s in a (Simplified) Server?</a:t>
            </a:r>
          </a:p>
        </p:txBody>
      </p:sp>
      <p:sp>
        <p:nvSpPr>
          <p:cNvPr id="3" name="Content Placeholder 2"/>
          <p:cNvSpPr>
            <a:spLocks noGrp="1"/>
          </p:cNvSpPr>
          <p:nvPr>
            <p:ph sz="half" idx="1"/>
          </p:nvPr>
        </p:nvSpPr>
        <p:spPr/>
        <p:txBody>
          <a:bodyPr anchor="ctr"/>
          <a:lstStyle/>
          <a:p>
            <a:pPr marL="0" indent="0">
              <a:buNone/>
            </a:pPr>
            <a:r>
              <a:rPr lang="en-US" dirty="0"/>
              <a:t>Interconnected compute and storage resources</a:t>
            </a:r>
          </a:p>
          <a:p>
            <a:pPr lvl="1"/>
            <a:r>
              <a:rPr lang="en-US" dirty="0"/>
              <a:t>Different bandwidth and latency constraints</a:t>
            </a:r>
          </a:p>
          <a:p>
            <a:pPr marL="0" indent="0">
              <a:buNone/>
            </a:pPr>
            <a:r>
              <a:rPr lang="en-US" dirty="0"/>
              <a:t>Simplified diagram</a:t>
            </a:r>
          </a:p>
          <a:p>
            <a:pPr lvl="1"/>
            <a:r>
              <a:rPr lang="en-US" dirty="0"/>
              <a:t>Doesn’t include faster networks such as RDMA, CXL, dedicated GPU interconnects such as NVlink, </a:t>
            </a:r>
            <a:r>
              <a:rPr lang="en-US" dirty="0" err="1"/>
              <a:t>etc</a:t>
            </a:r>
            <a:r>
              <a:rPr lang="en-US" dirty="0"/>
              <a:t>…</a:t>
            </a:r>
          </a:p>
        </p:txBody>
      </p:sp>
      <p:sp>
        <p:nvSpPr>
          <p:cNvPr id="5" name="Date Placeholder 4"/>
          <p:cNvSpPr>
            <a:spLocks noGrp="1"/>
          </p:cNvSpPr>
          <p:nvPr>
            <p:ph type="dt" sz="half" idx="10"/>
          </p:nvPr>
        </p:nvSpPr>
        <p:spPr/>
        <p:txBody>
          <a:bodyPr/>
          <a:lstStyle/>
          <a:p>
            <a:r>
              <a:rPr lang="en-US"/>
              <a:t>1/13/26</a:t>
            </a:r>
          </a:p>
        </p:txBody>
      </p:sp>
      <p:sp>
        <p:nvSpPr>
          <p:cNvPr id="6" name="Footer Placeholder 5"/>
          <p:cNvSpPr>
            <a:spLocks noGrp="1"/>
          </p:cNvSpPr>
          <p:nvPr>
            <p:ph type="ftr" sz="quarter" idx="11"/>
          </p:nvPr>
        </p:nvSpPr>
        <p:spPr/>
        <p:txBody>
          <a:bodyPr/>
          <a:lstStyle/>
          <a:p>
            <a:r>
              <a:rPr lang="en-US"/>
              <a:t>CSE 585 – W26</a:t>
            </a:r>
          </a:p>
        </p:txBody>
      </p:sp>
      <p:sp>
        <p:nvSpPr>
          <p:cNvPr id="7" name="Slide Number Placeholder 6"/>
          <p:cNvSpPr>
            <a:spLocks noGrp="1"/>
          </p:cNvSpPr>
          <p:nvPr>
            <p:ph type="sldNum" sz="quarter" idx="12"/>
          </p:nvPr>
        </p:nvSpPr>
        <p:spPr/>
        <p:txBody>
          <a:bodyPr/>
          <a:lstStyle/>
          <a:p>
            <a:fld id="{4EEF9975-6C58-5C4C-8961-54FFA2646BAA}" type="slidenum">
              <a:rPr lang="en-US" smtClean="0"/>
              <a:t>21</a:t>
            </a:fld>
            <a:endParaRPr lang="en-US"/>
          </a:p>
        </p:txBody>
      </p:sp>
      <p:pic>
        <p:nvPicPr>
          <p:cNvPr id="26" name="Picture 25"/>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824546" y="1901175"/>
            <a:ext cx="1371600" cy="1371600"/>
          </a:xfrm>
          <a:prstGeom prst="rect">
            <a:avLst/>
          </a:prstGeom>
        </p:spPr>
      </p:pic>
      <p:pic>
        <p:nvPicPr>
          <p:cNvPr id="27" name="Picture 26"/>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738112" y="2062540"/>
            <a:ext cx="1371600" cy="1048871"/>
          </a:xfrm>
          <a:prstGeom prst="rect">
            <a:avLst/>
          </a:prstGeom>
        </p:spPr>
      </p:pic>
      <p:sp>
        <p:nvSpPr>
          <p:cNvPr id="29" name="Left-Right Arrow 28"/>
          <p:cNvSpPr/>
          <p:nvPr/>
        </p:nvSpPr>
        <p:spPr>
          <a:xfrm>
            <a:off x="8395009" y="2436732"/>
            <a:ext cx="1172737" cy="395678"/>
          </a:xfrm>
          <a:prstGeom prst="lef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Up-Down Arrow 29"/>
          <p:cNvSpPr/>
          <p:nvPr/>
        </p:nvSpPr>
        <p:spPr>
          <a:xfrm>
            <a:off x="6934202" y="3327148"/>
            <a:ext cx="390292" cy="3029202"/>
          </a:xfrm>
          <a:prstGeom prst="up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Up Arrow 30"/>
          <p:cNvSpPr/>
          <p:nvPr/>
        </p:nvSpPr>
        <p:spPr>
          <a:xfrm>
            <a:off x="7472558" y="3327148"/>
            <a:ext cx="390292" cy="2192706"/>
          </a:xfrm>
          <a:prstGeom prs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ight Arrow 31"/>
          <p:cNvSpPr/>
          <p:nvPr/>
        </p:nvSpPr>
        <p:spPr>
          <a:xfrm>
            <a:off x="7567962" y="5320529"/>
            <a:ext cx="2103244" cy="35544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8547456" y="2116310"/>
            <a:ext cx="785793" cy="369332"/>
          </a:xfrm>
          <a:prstGeom prst="rect">
            <a:avLst/>
          </a:prstGeom>
          <a:noFill/>
        </p:spPr>
        <p:txBody>
          <a:bodyPr wrap="none" rtlCol="0">
            <a:spAutoFit/>
          </a:bodyPr>
          <a:lstStyle/>
          <a:p>
            <a:r>
              <a:rPr lang="en-US" dirty="0">
                <a:latin typeface="Gill Sans" charset="0"/>
                <a:ea typeface="Gill Sans" charset="0"/>
                <a:cs typeface="Gill Sans" charset="0"/>
              </a:rPr>
              <a:t>DDR5</a:t>
            </a:r>
          </a:p>
        </p:txBody>
      </p:sp>
      <p:sp>
        <p:nvSpPr>
          <p:cNvPr id="34" name="TextBox 33"/>
          <p:cNvSpPr txBox="1"/>
          <p:nvPr/>
        </p:nvSpPr>
        <p:spPr>
          <a:xfrm rot="16200000">
            <a:off x="6355623" y="4915118"/>
            <a:ext cx="997389" cy="369332"/>
          </a:xfrm>
          <a:prstGeom prst="rect">
            <a:avLst/>
          </a:prstGeom>
          <a:noFill/>
        </p:spPr>
        <p:txBody>
          <a:bodyPr wrap="none" rtlCol="0">
            <a:spAutoFit/>
          </a:bodyPr>
          <a:lstStyle/>
          <a:p>
            <a:r>
              <a:rPr lang="en-US" dirty="0">
                <a:latin typeface="Gill Sans" charset="0"/>
                <a:ea typeface="Gill Sans" charset="0"/>
                <a:cs typeface="Gill Sans" charset="0"/>
              </a:rPr>
              <a:t>Ethernet</a:t>
            </a:r>
          </a:p>
        </p:txBody>
      </p:sp>
      <p:sp>
        <p:nvSpPr>
          <p:cNvPr id="35" name="TextBox 34"/>
          <p:cNvSpPr txBox="1"/>
          <p:nvPr/>
        </p:nvSpPr>
        <p:spPr>
          <a:xfrm>
            <a:off x="7737495" y="5078784"/>
            <a:ext cx="793807" cy="369332"/>
          </a:xfrm>
          <a:prstGeom prst="rect">
            <a:avLst/>
          </a:prstGeom>
          <a:noFill/>
        </p:spPr>
        <p:txBody>
          <a:bodyPr wrap="none" rtlCol="0">
            <a:spAutoFit/>
          </a:bodyPr>
          <a:lstStyle/>
          <a:p>
            <a:r>
              <a:rPr lang="en-US" dirty="0" err="1">
                <a:latin typeface="Gill Sans" charset="0"/>
                <a:ea typeface="Gill Sans" charset="0"/>
                <a:cs typeface="Gill Sans" charset="0"/>
              </a:rPr>
              <a:t>NVMe</a:t>
            </a:r>
            <a:endParaRPr lang="en-US" dirty="0">
              <a:latin typeface="Gill Sans" charset="0"/>
              <a:ea typeface="Gill Sans" charset="0"/>
              <a:cs typeface="Gill Sans" charset="0"/>
            </a:endParaRPr>
          </a:p>
        </p:txBody>
      </p:sp>
      <p:sp>
        <p:nvSpPr>
          <p:cNvPr id="36" name="Right Arrow 35"/>
          <p:cNvSpPr/>
          <p:nvPr/>
        </p:nvSpPr>
        <p:spPr>
          <a:xfrm>
            <a:off x="7570939" y="4289614"/>
            <a:ext cx="2103244" cy="35544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738112" y="4647040"/>
            <a:ext cx="1371600" cy="803758"/>
          </a:xfrm>
          <a:prstGeom prst="rect">
            <a:avLst/>
          </a:prstGeom>
        </p:spPr>
      </p:pic>
      <p:sp>
        <p:nvSpPr>
          <p:cNvPr id="38" name="Up Arrow 37"/>
          <p:cNvSpPr/>
          <p:nvPr/>
        </p:nvSpPr>
        <p:spPr>
          <a:xfrm>
            <a:off x="7992816" y="3327148"/>
            <a:ext cx="390292" cy="743764"/>
          </a:xfrm>
          <a:prstGeom prs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ight Arrow 38"/>
          <p:cNvSpPr/>
          <p:nvPr/>
        </p:nvSpPr>
        <p:spPr>
          <a:xfrm>
            <a:off x="8091197" y="3846654"/>
            <a:ext cx="1580009" cy="35544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8369074" y="3523176"/>
            <a:ext cx="914033" cy="369332"/>
          </a:xfrm>
          <a:prstGeom prst="rect">
            <a:avLst/>
          </a:prstGeom>
          <a:noFill/>
        </p:spPr>
        <p:txBody>
          <a:bodyPr wrap="none" rtlCol="0">
            <a:spAutoFit/>
          </a:bodyPr>
          <a:lstStyle/>
          <a:p>
            <a:r>
              <a:rPr lang="en-US" dirty="0">
                <a:latin typeface="Gill Sans" charset="0"/>
                <a:ea typeface="Gill Sans" charset="0"/>
                <a:cs typeface="Gill Sans" charset="0"/>
              </a:rPr>
              <a:t>PCIe v6</a:t>
            </a:r>
          </a:p>
        </p:txBody>
      </p:sp>
      <p:sp>
        <p:nvSpPr>
          <p:cNvPr id="41" name="Rectangle 40"/>
          <p:cNvSpPr/>
          <p:nvPr/>
        </p:nvSpPr>
        <p:spPr>
          <a:xfrm>
            <a:off x="6477000" y="1901175"/>
            <a:ext cx="4795024" cy="413346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rot="16200000">
            <a:off x="6323520" y="3876066"/>
            <a:ext cx="1083951" cy="369332"/>
          </a:xfrm>
          <a:prstGeom prst="rect">
            <a:avLst/>
          </a:prstGeom>
          <a:noFill/>
        </p:spPr>
        <p:txBody>
          <a:bodyPr wrap="none" rtlCol="0">
            <a:spAutoFit/>
          </a:bodyPr>
          <a:lstStyle/>
          <a:p>
            <a:r>
              <a:rPr lang="en-US" dirty="0">
                <a:latin typeface="Gill Sans" charset="0"/>
                <a:ea typeface="Gill Sans" charset="0"/>
                <a:cs typeface="Gill Sans" charset="0"/>
              </a:rPr>
              <a:t>(25 GB/s)</a:t>
            </a:r>
          </a:p>
        </p:txBody>
      </p:sp>
      <p:sp>
        <p:nvSpPr>
          <p:cNvPr id="43" name="TextBox 42"/>
          <p:cNvSpPr txBox="1"/>
          <p:nvPr/>
        </p:nvSpPr>
        <p:spPr>
          <a:xfrm>
            <a:off x="8344210" y="3244809"/>
            <a:ext cx="1064715" cy="369332"/>
          </a:xfrm>
          <a:prstGeom prst="rect">
            <a:avLst/>
          </a:prstGeom>
          <a:noFill/>
        </p:spPr>
        <p:txBody>
          <a:bodyPr wrap="none" rtlCol="0">
            <a:spAutoFit/>
          </a:bodyPr>
          <a:lstStyle/>
          <a:p>
            <a:r>
              <a:rPr lang="en-US" dirty="0">
                <a:latin typeface="Gill Sans" charset="0"/>
                <a:ea typeface="Gill Sans" charset="0"/>
                <a:cs typeface="Gill Sans" charset="0"/>
              </a:rPr>
              <a:t>(8 GB/s)*</a:t>
            </a:r>
          </a:p>
        </p:txBody>
      </p:sp>
      <p:sp>
        <p:nvSpPr>
          <p:cNvPr id="44" name="TextBox 43"/>
          <p:cNvSpPr txBox="1"/>
          <p:nvPr/>
        </p:nvSpPr>
        <p:spPr>
          <a:xfrm>
            <a:off x="8458949" y="4531428"/>
            <a:ext cx="1207382" cy="369332"/>
          </a:xfrm>
          <a:prstGeom prst="rect">
            <a:avLst/>
          </a:prstGeom>
          <a:noFill/>
        </p:spPr>
        <p:txBody>
          <a:bodyPr wrap="none" rtlCol="0">
            <a:spAutoFit/>
          </a:bodyPr>
          <a:lstStyle/>
          <a:p>
            <a:r>
              <a:rPr lang="en-US" dirty="0">
                <a:latin typeface="Gill Sans" charset="0"/>
                <a:ea typeface="Gill Sans" charset="0"/>
                <a:cs typeface="Gill Sans" charset="0"/>
              </a:rPr>
              <a:t>(600 MB/s)</a:t>
            </a:r>
          </a:p>
        </p:txBody>
      </p:sp>
      <p:sp>
        <p:nvSpPr>
          <p:cNvPr id="45" name="TextBox 44"/>
          <p:cNvSpPr txBox="1"/>
          <p:nvPr/>
        </p:nvSpPr>
        <p:spPr>
          <a:xfrm>
            <a:off x="8411416" y="5078784"/>
            <a:ext cx="1135247" cy="369332"/>
          </a:xfrm>
          <a:prstGeom prst="rect">
            <a:avLst/>
          </a:prstGeom>
          <a:noFill/>
        </p:spPr>
        <p:txBody>
          <a:bodyPr wrap="none" rtlCol="0">
            <a:spAutoFit/>
          </a:bodyPr>
          <a:lstStyle/>
          <a:p>
            <a:r>
              <a:rPr lang="en-US" dirty="0">
                <a:latin typeface="Gill Sans" charset="0"/>
                <a:ea typeface="Gill Sans" charset="0"/>
                <a:cs typeface="Gill Sans" charset="0"/>
              </a:rPr>
              <a:t>(7.5 GB/s)</a:t>
            </a:r>
          </a:p>
        </p:txBody>
      </p:sp>
      <p:sp>
        <p:nvSpPr>
          <p:cNvPr id="46" name="TextBox 45"/>
          <p:cNvSpPr txBox="1"/>
          <p:nvPr/>
        </p:nvSpPr>
        <p:spPr>
          <a:xfrm>
            <a:off x="8395009" y="1861031"/>
            <a:ext cx="1083951" cy="369332"/>
          </a:xfrm>
          <a:prstGeom prst="rect">
            <a:avLst/>
          </a:prstGeom>
          <a:noFill/>
        </p:spPr>
        <p:txBody>
          <a:bodyPr wrap="none" rtlCol="0">
            <a:spAutoFit/>
          </a:bodyPr>
          <a:lstStyle/>
          <a:p>
            <a:r>
              <a:rPr lang="en-US" dirty="0">
                <a:latin typeface="Gill Sans" charset="0"/>
                <a:ea typeface="Gill Sans" charset="0"/>
                <a:cs typeface="Gill Sans" charset="0"/>
              </a:rPr>
              <a:t>(64 GB/s)</a:t>
            </a:r>
          </a:p>
        </p:txBody>
      </p:sp>
      <p:sp>
        <p:nvSpPr>
          <p:cNvPr id="47" name="TextBox 46"/>
          <p:cNvSpPr txBox="1"/>
          <p:nvPr/>
        </p:nvSpPr>
        <p:spPr>
          <a:xfrm>
            <a:off x="7848097" y="6044889"/>
            <a:ext cx="1429237" cy="369332"/>
          </a:xfrm>
          <a:prstGeom prst="rect">
            <a:avLst/>
          </a:prstGeom>
          <a:noFill/>
        </p:spPr>
        <p:txBody>
          <a:bodyPr wrap="none" rtlCol="0">
            <a:spAutoFit/>
          </a:bodyPr>
          <a:lstStyle/>
          <a:p>
            <a:r>
              <a:rPr lang="en-US" dirty="0">
                <a:latin typeface="Gill Sans" charset="0"/>
                <a:ea typeface="Gill Sans" charset="0"/>
                <a:cs typeface="Gill Sans" charset="0"/>
              </a:rPr>
              <a:t>* Per channel</a:t>
            </a:r>
          </a:p>
        </p:txBody>
      </p:sp>
      <p:sp>
        <p:nvSpPr>
          <p:cNvPr id="4" name="TextBox 3">
            <a:extLst>
              <a:ext uri="{FF2B5EF4-FFF2-40B4-BE49-F238E27FC236}">
                <a16:creationId xmlns:a16="http://schemas.microsoft.com/office/drawing/2014/main" id="{DF97965F-3DBD-C31D-E5AC-E92AEB94D47B}"/>
              </a:ext>
            </a:extLst>
          </p:cNvPr>
          <p:cNvSpPr txBox="1"/>
          <p:nvPr/>
        </p:nvSpPr>
        <p:spPr>
          <a:xfrm>
            <a:off x="7751299" y="4531428"/>
            <a:ext cx="871072" cy="369332"/>
          </a:xfrm>
          <a:prstGeom prst="rect">
            <a:avLst/>
          </a:prstGeom>
          <a:noFill/>
        </p:spPr>
        <p:txBody>
          <a:bodyPr wrap="none" rtlCol="0">
            <a:spAutoFit/>
          </a:bodyPr>
          <a:lstStyle/>
          <a:p>
            <a:r>
              <a:rPr lang="en-US" dirty="0">
                <a:latin typeface="Gill Sans" charset="0"/>
                <a:ea typeface="Gill Sans" charset="0"/>
                <a:cs typeface="Gill Sans" charset="0"/>
              </a:rPr>
              <a:t>SATA 3</a:t>
            </a:r>
          </a:p>
        </p:txBody>
      </p:sp>
      <p:pic>
        <p:nvPicPr>
          <p:cNvPr id="8" name="Picture 7">
            <a:extLst>
              <a:ext uri="{FF2B5EF4-FFF2-40B4-BE49-F238E27FC236}">
                <a16:creationId xmlns:a16="http://schemas.microsoft.com/office/drawing/2014/main" id="{68084E05-414D-E361-A54C-ECAABBCE0FD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945764" y="3538099"/>
            <a:ext cx="914400" cy="914400"/>
          </a:xfrm>
          <a:prstGeom prst="rect">
            <a:avLst/>
          </a:prstGeom>
        </p:spPr>
      </p:pic>
    </p:spTree>
    <p:extLst>
      <p:ext uri="{BB962C8B-B14F-4D97-AF65-F5344CB8AC3E}">
        <p14:creationId xmlns:p14="http://schemas.microsoft.com/office/powerpoint/2010/main" val="2999030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p:bldP spid="45" grpId="0"/>
      <p:bldP spid="46" grpId="0"/>
      <p:bldP spid="4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D1A031C-CCB7-E5D1-AFC8-E0216D1DB6E3}"/>
              </a:ext>
            </a:extLst>
          </p:cNvPr>
          <p:cNvSpPr>
            <a:spLocks noGrp="1"/>
          </p:cNvSpPr>
          <p:nvPr>
            <p:ph type="title"/>
          </p:nvPr>
        </p:nvSpPr>
        <p:spPr/>
        <p:txBody>
          <a:bodyPr/>
          <a:lstStyle/>
          <a:p>
            <a:r>
              <a:rPr lang="en-US" dirty="0"/>
              <a:t>Typical Memory/Storage Hierarchy</a:t>
            </a:r>
          </a:p>
        </p:txBody>
      </p:sp>
      <p:sp>
        <p:nvSpPr>
          <p:cNvPr id="5" name="Date Placeholder 4">
            <a:extLst>
              <a:ext uri="{FF2B5EF4-FFF2-40B4-BE49-F238E27FC236}">
                <a16:creationId xmlns:a16="http://schemas.microsoft.com/office/drawing/2014/main" id="{38F80084-F853-A882-2DD0-B93D048B8450}"/>
              </a:ext>
            </a:extLst>
          </p:cNvPr>
          <p:cNvSpPr>
            <a:spLocks noGrp="1"/>
          </p:cNvSpPr>
          <p:nvPr>
            <p:ph type="dt" sz="half" idx="10"/>
          </p:nvPr>
        </p:nvSpPr>
        <p:spPr/>
        <p:txBody>
          <a:bodyPr/>
          <a:lstStyle/>
          <a:p>
            <a:r>
              <a:rPr lang="en-US"/>
              <a:t>1/13/26</a:t>
            </a:r>
          </a:p>
        </p:txBody>
      </p:sp>
      <p:sp>
        <p:nvSpPr>
          <p:cNvPr id="6" name="Footer Placeholder 5">
            <a:extLst>
              <a:ext uri="{FF2B5EF4-FFF2-40B4-BE49-F238E27FC236}">
                <a16:creationId xmlns:a16="http://schemas.microsoft.com/office/drawing/2014/main" id="{27176EE9-FB8F-FD92-8607-D2A6C0675889}"/>
              </a:ext>
            </a:extLst>
          </p:cNvPr>
          <p:cNvSpPr>
            <a:spLocks noGrp="1"/>
          </p:cNvSpPr>
          <p:nvPr>
            <p:ph type="ftr" sz="quarter" idx="11"/>
          </p:nvPr>
        </p:nvSpPr>
        <p:spPr/>
        <p:txBody>
          <a:bodyPr/>
          <a:lstStyle/>
          <a:p>
            <a:r>
              <a:rPr lang="en-US"/>
              <a:t>CSE 585 – W26</a:t>
            </a:r>
          </a:p>
        </p:txBody>
      </p:sp>
      <p:sp>
        <p:nvSpPr>
          <p:cNvPr id="7" name="Slide Number Placeholder 6">
            <a:extLst>
              <a:ext uri="{FF2B5EF4-FFF2-40B4-BE49-F238E27FC236}">
                <a16:creationId xmlns:a16="http://schemas.microsoft.com/office/drawing/2014/main" id="{8CFA9B40-9F3D-DBAD-FF8F-5CAAAC4BA58C}"/>
              </a:ext>
            </a:extLst>
          </p:cNvPr>
          <p:cNvSpPr>
            <a:spLocks noGrp="1"/>
          </p:cNvSpPr>
          <p:nvPr>
            <p:ph type="sldNum" sz="quarter" idx="12"/>
          </p:nvPr>
        </p:nvSpPr>
        <p:spPr/>
        <p:txBody>
          <a:bodyPr/>
          <a:lstStyle/>
          <a:p>
            <a:fld id="{4EEF9975-6C58-5C4C-8961-54FFA2646BAA}" type="slidenum">
              <a:rPr lang="en-US" smtClean="0"/>
              <a:t>22</a:t>
            </a:fld>
            <a:endParaRPr lang="en-US"/>
          </a:p>
        </p:txBody>
      </p:sp>
      <p:grpSp>
        <p:nvGrpSpPr>
          <p:cNvPr id="42" name="Group 41">
            <a:extLst>
              <a:ext uri="{FF2B5EF4-FFF2-40B4-BE49-F238E27FC236}">
                <a16:creationId xmlns:a16="http://schemas.microsoft.com/office/drawing/2014/main" id="{6AD862D8-B9FB-B8F1-41C2-F4BB08B2B53B}"/>
              </a:ext>
            </a:extLst>
          </p:cNvPr>
          <p:cNvGrpSpPr/>
          <p:nvPr/>
        </p:nvGrpSpPr>
        <p:grpSpPr>
          <a:xfrm>
            <a:off x="5411855" y="2072483"/>
            <a:ext cx="6673172" cy="3136236"/>
            <a:chOff x="4714432" y="2072483"/>
            <a:chExt cx="6673172" cy="3136236"/>
          </a:xfrm>
        </p:grpSpPr>
        <p:grpSp>
          <p:nvGrpSpPr>
            <p:cNvPr id="38" name="Group 37">
              <a:extLst>
                <a:ext uri="{FF2B5EF4-FFF2-40B4-BE49-F238E27FC236}">
                  <a16:creationId xmlns:a16="http://schemas.microsoft.com/office/drawing/2014/main" id="{F795021A-B98C-64F8-F81B-2E0D4AA4A3C4}"/>
                </a:ext>
              </a:extLst>
            </p:cNvPr>
            <p:cNvGrpSpPr/>
            <p:nvPr/>
          </p:nvGrpSpPr>
          <p:grpSpPr>
            <a:xfrm>
              <a:off x="5902176" y="2205856"/>
              <a:ext cx="5485428" cy="3002863"/>
              <a:chOff x="2988896" y="2651626"/>
              <a:chExt cx="5485428" cy="3002863"/>
            </a:xfrm>
          </p:grpSpPr>
          <p:graphicFrame>
            <p:nvGraphicFramePr>
              <p:cNvPr id="24" name="Diagram 23">
                <a:extLst>
                  <a:ext uri="{FF2B5EF4-FFF2-40B4-BE49-F238E27FC236}">
                    <a16:creationId xmlns:a16="http://schemas.microsoft.com/office/drawing/2014/main" id="{DC6030C7-3255-7902-7EBC-CF4B0A861DDB}"/>
                  </a:ext>
                </a:extLst>
              </p:cNvPr>
              <p:cNvGraphicFramePr/>
              <p:nvPr/>
            </p:nvGraphicFramePr>
            <p:xfrm>
              <a:off x="2988896" y="2710046"/>
              <a:ext cx="4833500" cy="29444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5" name="TextBox 24">
                <a:extLst>
                  <a:ext uri="{FF2B5EF4-FFF2-40B4-BE49-F238E27FC236}">
                    <a16:creationId xmlns:a16="http://schemas.microsoft.com/office/drawing/2014/main" id="{E74B37FD-911B-F70A-2853-A14D54CE6E23}"/>
                  </a:ext>
                </a:extLst>
              </p:cNvPr>
              <p:cNvSpPr txBox="1"/>
              <p:nvPr/>
            </p:nvSpPr>
            <p:spPr>
              <a:xfrm>
                <a:off x="4359365" y="2651626"/>
                <a:ext cx="782587"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Register</a:t>
                </a:r>
              </a:p>
            </p:txBody>
          </p:sp>
          <p:sp>
            <p:nvSpPr>
              <p:cNvPr id="26" name="TextBox 25">
                <a:extLst>
                  <a:ext uri="{FF2B5EF4-FFF2-40B4-BE49-F238E27FC236}">
                    <a16:creationId xmlns:a16="http://schemas.microsoft.com/office/drawing/2014/main" id="{839C5176-B537-CBFF-2AA6-FA37441F09D9}"/>
                  </a:ext>
                </a:extLst>
              </p:cNvPr>
              <p:cNvSpPr txBox="1"/>
              <p:nvPr/>
            </p:nvSpPr>
            <p:spPr>
              <a:xfrm>
                <a:off x="5538933" y="2671945"/>
                <a:ext cx="562976"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0.2ns</a:t>
                </a:r>
              </a:p>
            </p:txBody>
          </p:sp>
          <p:sp>
            <p:nvSpPr>
              <p:cNvPr id="27" name="TextBox 26">
                <a:extLst>
                  <a:ext uri="{FF2B5EF4-FFF2-40B4-BE49-F238E27FC236}">
                    <a16:creationId xmlns:a16="http://schemas.microsoft.com/office/drawing/2014/main" id="{1A90239D-88D1-A047-C618-5CE1222CD101}"/>
                  </a:ext>
                </a:extLst>
              </p:cNvPr>
              <p:cNvSpPr txBox="1"/>
              <p:nvPr/>
            </p:nvSpPr>
            <p:spPr>
              <a:xfrm>
                <a:off x="5802481" y="3004509"/>
                <a:ext cx="670376"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1-40ns</a:t>
                </a:r>
              </a:p>
            </p:txBody>
          </p:sp>
          <p:sp>
            <p:nvSpPr>
              <p:cNvPr id="28" name="TextBox 27">
                <a:extLst>
                  <a:ext uri="{FF2B5EF4-FFF2-40B4-BE49-F238E27FC236}">
                    <a16:creationId xmlns:a16="http://schemas.microsoft.com/office/drawing/2014/main" id="{5AF1EDBC-D98B-19E0-504C-3C17EF67CE72}"/>
                  </a:ext>
                </a:extLst>
              </p:cNvPr>
              <p:cNvSpPr txBox="1"/>
              <p:nvPr/>
            </p:nvSpPr>
            <p:spPr>
              <a:xfrm>
                <a:off x="6198420" y="3406187"/>
                <a:ext cx="849913"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80-140ns</a:t>
                </a:r>
              </a:p>
            </p:txBody>
          </p:sp>
          <p:sp>
            <p:nvSpPr>
              <p:cNvPr id="29" name="TextBox 28">
                <a:extLst>
                  <a:ext uri="{FF2B5EF4-FFF2-40B4-BE49-F238E27FC236}">
                    <a16:creationId xmlns:a16="http://schemas.microsoft.com/office/drawing/2014/main" id="{6AAAB384-5F5F-924D-EF07-036CE60CD870}"/>
                  </a:ext>
                </a:extLst>
              </p:cNvPr>
              <p:cNvSpPr txBox="1"/>
              <p:nvPr/>
            </p:nvSpPr>
            <p:spPr>
              <a:xfrm>
                <a:off x="6573139" y="3903605"/>
                <a:ext cx="939681"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170-280ns</a:t>
                </a:r>
              </a:p>
            </p:txBody>
          </p:sp>
          <p:sp>
            <p:nvSpPr>
              <p:cNvPr id="30" name="TextBox 29">
                <a:extLst>
                  <a:ext uri="{FF2B5EF4-FFF2-40B4-BE49-F238E27FC236}">
                    <a16:creationId xmlns:a16="http://schemas.microsoft.com/office/drawing/2014/main" id="{93CBCC18-47BA-9FEF-CFBB-1A0E5F6EABD2}"/>
                  </a:ext>
                </a:extLst>
              </p:cNvPr>
              <p:cNvSpPr txBox="1"/>
              <p:nvPr/>
            </p:nvSpPr>
            <p:spPr>
              <a:xfrm>
                <a:off x="6894673" y="4289140"/>
                <a:ext cx="939681"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300-400ns</a:t>
                </a:r>
              </a:p>
            </p:txBody>
          </p:sp>
          <p:sp>
            <p:nvSpPr>
              <p:cNvPr id="31" name="TextBox 30">
                <a:extLst>
                  <a:ext uri="{FF2B5EF4-FFF2-40B4-BE49-F238E27FC236}">
                    <a16:creationId xmlns:a16="http://schemas.microsoft.com/office/drawing/2014/main" id="{D2AC0A73-AFD9-54C0-0210-C56BD38051B8}"/>
                  </a:ext>
                </a:extLst>
              </p:cNvPr>
              <p:cNvSpPr txBox="1"/>
              <p:nvPr/>
            </p:nvSpPr>
            <p:spPr>
              <a:xfrm>
                <a:off x="7182684" y="4620568"/>
                <a:ext cx="590226"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2-4μs</a:t>
                </a:r>
              </a:p>
            </p:txBody>
          </p:sp>
          <p:sp>
            <p:nvSpPr>
              <p:cNvPr id="32" name="TextBox 31">
                <a:extLst>
                  <a:ext uri="{FF2B5EF4-FFF2-40B4-BE49-F238E27FC236}">
                    <a16:creationId xmlns:a16="http://schemas.microsoft.com/office/drawing/2014/main" id="{911BB89A-C5CF-BE2A-C3DC-C5E7254E3D45}"/>
                  </a:ext>
                </a:extLst>
              </p:cNvPr>
              <p:cNvSpPr txBox="1"/>
              <p:nvPr/>
            </p:nvSpPr>
            <p:spPr>
              <a:xfrm>
                <a:off x="7444117" y="4962564"/>
                <a:ext cx="769763"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10-40μs</a:t>
                </a:r>
              </a:p>
            </p:txBody>
          </p:sp>
          <p:sp>
            <p:nvSpPr>
              <p:cNvPr id="33" name="TextBox 32">
                <a:extLst>
                  <a:ext uri="{FF2B5EF4-FFF2-40B4-BE49-F238E27FC236}">
                    <a16:creationId xmlns:a16="http://schemas.microsoft.com/office/drawing/2014/main" id="{8427B61F-823C-AF89-30B4-FD52C7802FB3}"/>
                  </a:ext>
                </a:extLst>
              </p:cNvPr>
              <p:cNvSpPr txBox="1"/>
              <p:nvPr/>
            </p:nvSpPr>
            <p:spPr>
              <a:xfrm>
                <a:off x="7755858" y="5307037"/>
                <a:ext cx="718466"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3-10ms</a:t>
                </a:r>
              </a:p>
            </p:txBody>
          </p:sp>
          <p:cxnSp>
            <p:nvCxnSpPr>
              <p:cNvPr id="23" name="Straight Arrow Connector 22">
                <a:extLst>
                  <a:ext uri="{FF2B5EF4-FFF2-40B4-BE49-F238E27FC236}">
                    <a16:creationId xmlns:a16="http://schemas.microsoft.com/office/drawing/2014/main" id="{B9BB83DF-D56F-F755-3AD7-36D9D3E94C89}"/>
                  </a:ext>
                </a:extLst>
              </p:cNvPr>
              <p:cNvCxnSpPr>
                <a:cxnSpLocks/>
              </p:cNvCxnSpPr>
              <p:nvPr/>
            </p:nvCxnSpPr>
            <p:spPr>
              <a:xfrm>
                <a:off x="5074949" y="2829059"/>
                <a:ext cx="227911" cy="76752"/>
              </a:xfrm>
              <a:prstGeom prst="straightConnector1">
                <a:avLst/>
              </a:prstGeom>
              <a:noFill/>
              <a:ln w="15875" cap="flat" cmpd="sng" algn="ctr">
                <a:solidFill>
                  <a:srgbClr val="000000">
                    <a:shade val="95000"/>
                    <a:satMod val="105000"/>
                  </a:srgbClr>
                </a:solidFill>
                <a:prstDash val="solid"/>
                <a:tailEnd type="triangle"/>
              </a:ln>
              <a:effectLst/>
            </p:spPr>
          </p:cxnSp>
          <p:sp>
            <p:nvSpPr>
              <p:cNvPr id="35" name="TextBox 34">
                <a:extLst>
                  <a:ext uri="{FF2B5EF4-FFF2-40B4-BE49-F238E27FC236}">
                    <a16:creationId xmlns:a16="http://schemas.microsoft.com/office/drawing/2014/main" id="{21864A7E-108F-A140-8F4A-2F05D7658237}"/>
                  </a:ext>
                </a:extLst>
              </p:cNvPr>
              <p:cNvSpPr txBox="1"/>
              <p:nvPr/>
            </p:nvSpPr>
            <p:spPr>
              <a:xfrm>
                <a:off x="3525498" y="2927343"/>
                <a:ext cx="1326004"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lang="en-US" sz="1400" kern="0" dirty="0">
                    <a:solidFill>
                      <a:srgbClr val="000000"/>
                    </a:solidFill>
                    <a:latin typeface="Gill Sans" panose="020B0502020104020203" pitchFamily="34" charset="-79"/>
                    <a:cs typeface="Gill Sans" panose="020B0502020104020203" pitchFamily="34" charset="-79"/>
                    <a:sym typeface="Arial"/>
                  </a:rPr>
                  <a:t>L1/L2/L3 Cache</a:t>
                </a:r>
                <a:endPar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endParaRPr>
              </a:p>
            </p:txBody>
          </p:sp>
          <p:cxnSp>
            <p:nvCxnSpPr>
              <p:cNvPr id="36" name="Straight Arrow Connector 35">
                <a:extLst>
                  <a:ext uri="{FF2B5EF4-FFF2-40B4-BE49-F238E27FC236}">
                    <a16:creationId xmlns:a16="http://schemas.microsoft.com/office/drawing/2014/main" id="{E4AB03D8-2ED2-1CDF-6648-834025A91A8F}"/>
                  </a:ext>
                </a:extLst>
              </p:cNvPr>
              <p:cNvCxnSpPr>
                <a:cxnSpLocks/>
              </p:cNvCxnSpPr>
              <p:nvPr/>
            </p:nvCxnSpPr>
            <p:spPr>
              <a:xfrm>
                <a:off x="4815869" y="3107189"/>
                <a:ext cx="227911" cy="76752"/>
              </a:xfrm>
              <a:prstGeom prst="straightConnector1">
                <a:avLst/>
              </a:prstGeom>
              <a:noFill/>
              <a:ln w="15875" cap="flat" cmpd="sng" algn="ctr">
                <a:solidFill>
                  <a:srgbClr val="000000">
                    <a:shade val="95000"/>
                    <a:satMod val="105000"/>
                  </a:srgbClr>
                </a:solidFill>
                <a:prstDash val="solid"/>
                <a:tailEnd type="triangle"/>
              </a:ln>
              <a:effectLst/>
            </p:spPr>
          </p:cxnSp>
        </p:grpSp>
        <p:sp>
          <p:nvSpPr>
            <p:cNvPr id="39" name="Up Arrow 38">
              <a:extLst>
                <a:ext uri="{FF2B5EF4-FFF2-40B4-BE49-F238E27FC236}">
                  <a16:creationId xmlns:a16="http://schemas.microsoft.com/office/drawing/2014/main" id="{B8DD8836-49FD-E97F-E390-5FA7C721DA22}"/>
                </a:ext>
              </a:extLst>
            </p:cNvPr>
            <p:cNvSpPr/>
            <p:nvPr/>
          </p:nvSpPr>
          <p:spPr>
            <a:xfrm>
              <a:off x="5353114" y="2264275"/>
              <a:ext cx="484632" cy="2944443"/>
            </a:xfrm>
            <a:prstGeom prst="upArrow">
              <a:avLst/>
            </a:prstGeom>
            <a:gradFill>
              <a:gsLst>
                <a:gs pos="82000">
                  <a:srgbClr val="FFFF00"/>
                </a:gs>
                <a:gs pos="61000">
                  <a:srgbClr val="00B050"/>
                </a:gs>
                <a:gs pos="42000">
                  <a:srgbClr val="00B050"/>
                </a:gs>
                <a:gs pos="21000">
                  <a:srgbClr val="00B0F0"/>
                </a:gs>
                <a:gs pos="0">
                  <a:schemeClr val="bg1">
                    <a:lumMod val="50000"/>
                  </a:schemeClr>
                </a:gs>
                <a:gs pos="100000">
                  <a:schemeClr val="accent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DCE62D2C-2808-E692-F570-CE45427EDA64}"/>
                </a:ext>
              </a:extLst>
            </p:cNvPr>
            <p:cNvSpPr txBox="1"/>
            <p:nvPr/>
          </p:nvSpPr>
          <p:spPr>
            <a:xfrm rot="16200000">
              <a:off x="3922869" y="2864046"/>
              <a:ext cx="2291012" cy="707886"/>
            </a:xfrm>
            <a:prstGeom prst="rect">
              <a:avLst/>
            </a:prstGeom>
            <a:noFill/>
          </p:spPr>
          <p:txBody>
            <a:bodyPr wrap="none" rtlCol="0">
              <a:spAutoFit/>
            </a:bodyPr>
            <a:lstStyle/>
            <a:p>
              <a:r>
                <a:rPr lang="en-US" sz="2000" b="1" dirty="0">
                  <a:latin typeface="Gill Sans SemiBold" panose="020B0502020104020203" pitchFamily="34" charset="-79"/>
                  <a:cs typeface="Gill Sans SemiBold" panose="020B0502020104020203" pitchFamily="34" charset="-79"/>
                </a:rPr>
                <a:t>Higher Bandwidth/</a:t>
              </a:r>
            </a:p>
            <a:p>
              <a:r>
                <a:rPr lang="en-US" sz="2000" b="1" dirty="0">
                  <a:latin typeface="Gill Sans SemiBold" panose="020B0502020104020203" pitchFamily="34" charset="-79"/>
                  <a:cs typeface="Gill Sans SemiBold" panose="020B0502020104020203" pitchFamily="34" charset="-79"/>
                </a:rPr>
                <a:t>Lower Latency</a:t>
              </a:r>
            </a:p>
          </p:txBody>
        </p:sp>
      </p:grpSp>
      <p:sp>
        <p:nvSpPr>
          <p:cNvPr id="41" name="Content Placeholder 2">
            <a:extLst>
              <a:ext uri="{FF2B5EF4-FFF2-40B4-BE49-F238E27FC236}">
                <a16:creationId xmlns:a16="http://schemas.microsoft.com/office/drawing/2014/main" id="{03398A9A-B77F-C8FB-3C90-1449E4C5F0B9}"/>
              </a:ext>
            </a:extLst>
          </p:cNvPr>
          <p:cNvSpPr txBox="1">
            <a:spLocks/>
          </p:cNvSpPr>
          <p:nvPr/>
        </p:nvSpPr>
        <p:spPr>
          <a:xfrm>
            <a:off x="838200" y="1825625"/>
            <a:ext cx="4573655" cy="4351338"/>
          </a:xfrm>
          <a:prstGeom prst="rect">
            <a:avLst/>
          </a:prstGeom>
        </p:spPr>
        <p:txBody>
          <a:bodyPr anchor="ct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Gill Sans" charset="0"/>
                <a:ea typeface="Gill Sans" charset="0"/>
                <a:cs typeface="Gill Sans" charset="0"/>
              </a:defRPr>
            </a:lvl1pPr>
            <a:lvl2pPr marL="685800" indent="-228600" algn="l" defTabSz="914400" rtl="0" eaLnBrk="1" latinLnBrk="0" hangingPunct="1">
              <a:lnSpc>
                <a:spcPct val="90000"/>
              </a:lnSpc>
              <a:spcBef>
                <a:spcPts val="500"/>
              </a:spcBef>
              <a:buFont typeface="Arial"/>
              <a:buChar char="•"/>
              <a:defRPr sz="2400" b="0" i="0" kern="1200">
                <a:solidFill>
                  <a:schemeClr val="tx1"/>
                </a:solidFill>
                <a:latin typeface="Gill Sans Light" charset="0"/>
                <a:ea typeface="Gill Sans Light" charset="0"/>
                <a:cs typeface="Gill Sans Light" charset="0"/>
              </a:defRPr>
            </a:lvl2pPr>
            <a:lvl3pPr marL="1143000" indent="-228600" algn="l" defTabSz="914400" rtl="0" eaLnBrk="1" latinLnBrk="0" hangingPunct="1">
              <a:lnSpc>
                <a:spcPct val="90000"/>
              </a:lnSpc>
              <a:spcBef>
                <a:spcPts val="500"/>
              </a:spcBef>
              <a:buFont typeface="Arial"/>
              <a:buChar char="•"/>
              <a:defRPr sz="2000" b="0" i="0" kern="1200">
                <a:solidFill>
                  <a:schemeClr val="tx1"/>
                </a:solidFill>
                <a:latin typeface="Gill Sans Light" charset="0"/>
                <a:ea typeface="Gill Sans Light" charset="0"/>
                <a:cs typeface="Gill Sans Light" charset="0"/>
              </a:defRPr>
            </a:lvl3pPr>
            <a:lvl4pPr marL="1600200" indent="-228600" algn="l" defTabSz="914400" rtl="0" eaLnBrk="1" latinLnBrk="0" hangingPunct="1">
              <a:lnSpc>
                <a:spcPct val="90000"/>
              </a:lnSpc>
              <a:spcBef>
                <a:spcPts val="500"/>
              </a:spcBef>
              <a:buFont typeface="Arial"/>
              <a:buChar char="•"/>
              <a:defRPr sz="1800" b="0" i="0" kern="1200">
                <a:solidFill>
                  <a:schemeClr val="tx1"/>
                </a:solidFill>
                <a:latin typeface="Gill Sans Light" charset="0"/>
                <a:ea typeface="Gill Sans Light" charset="0"/>
                <a:cs typeface="Gill Sans Light" charset="0"/>
              </a:defRPr>
            </a:lvl4pPr>
            <a:lvl5pPr marL="2057400" indent="-228600" algn="l" defTabSz="914400" rtl="0" eaLnBrk="1" latinLnBrk="0" hangingPunct="1">
              <a:lnSpc>
                <a:spcPct val="90000"/>
              </a:lnSpc>
              <a:spcBef>
                <a:spcPts val="500"/>
              </a:spcBef>
              <a:buFont typeface="Arial"/>
              <a:buChar char="•"/>
              <a:defRPr sz="1800" b="0" i="0" kern="1200">
                <a:solidFill>
                  <a:schemeClr val="tx1"/>
                </a:solidFill>
                <a:latin typeface="Gill Sans Light" charset="0"/>
                <a:ea typeface="Gill Sans Light" charset="0"/>
                <a:cs typeface="Gill Sans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dirty="0"/>
              <a:t>Fundamental Goals of (SW/HW) System Design</a:t>
            </a:r>
          </a:p>
          <a:p>
            <a:pPr lvl="1"/>
            <a:r>
              <a:rPr lang="en-US" dirty="0"/>
              <a:t>Minimize time to access data</a:t>
            </a:r>
          </a:p>
          <a:p>
            <a:pPr lvl="1"/>
            <a:r>
              <a:rPr lang="en-US" dirty="0"/>
              <a:t>Maximize compute utilization</a:t>
            </a:r>
          </a:p>
          <a:p>
            <a:pPr lvl="1"/>
            <a:r>
              <a:rPr lang="en-US" b="1" dirty="0">
                <a:solidFill>
                  <a:schemeClr val="accent2"/>
                </a:solidFill>
                <a:latin typeface="Gill Sans" panose="020B0502020104020203" pitchFamily="34" charset="-79"/>
                <a:cs typeface="Gill Sans" panose="020B0502020104020203" pitchFamily="34" charset="-79"/>
              </a:rPr>
              <a:t>Balanced System</a:t>
            </a:r>
          </a:p>
        </p:txBody>
      </p:sp>
      <p:sp>
        <p:nvSpPr>
          <p:cNvPr id="43" name="TextBox 42">
            <a:extLst>
              <a:ext uri="{FF2B5EF4-FFF2-40B4-BE49-F238E27FC236}">
                <a16:creationId xmlns:a16="http://schemas.microsoft.com/office/drawing/2014/main" id="{F88E2042-2B12-28D0-E479-1076F07960AD}"/>
              </a:ext>
            </a:extLst>
          </p:cNvPr>
          <p:cNvSpPr txBox="1"/>
          <p:nvPr/>
        </p:nvSpPr>
        <p:spPr>
          <a:xfrm>
            <a:off x="6806333" y="5362752"/>
            <a:ext cx="4407637" cy="275025"/>
          </a:xfrm>
          <a:prstGeom prst="rect">
            <a:avLst/>
          </a:prstGeom>
          <a:noFill/>
        </p:spPr>
        <p:txBody>
          <a:bodyPr wrap="square">
            <a:spAutoFit/>
          </a:bodyPr>
          <a:lstStyle/>
          <a:p>
            <a:pPr algn="ctr"/>
            <a:r>
              <a:rPr lang="en-US" sz="1200" dirty="0">
                <a:solidFill>
                  <a:schemeClr val="bg1">
                    <a:lumMod val="50000"/>
                  </a:schemeClr>
                </a:solidFill>
                <a:latin typeface="Gill Sans Light" panose="020B0302020104020203" pitchFamily="34" charset="-79"/>
                <a:cs typeface="Gill Sans Light" panose="020B0302020104020203" pitchFamily="34" charset="-79"/>
              </a:rPr>
              <a:t>Maruf et al, SIGMETRICS 2023</a:t>
            </a:r>
          </a:p>
        </p:txBody>
      </p:sp>
    </p:spTree>
    <p:extLst>
      <p:ext uri="{BB962C8B-B14F-4D97-AF65-F5344CB8AC3E}">
        <p14:creationId xmlns:p14="http://schemas.microsoft.com/office/powerpoint/2010/main" val="5370990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CF49C-DEDB-F20C-FABD-322A9BED1A38}"/>
            </a:ext>
          </a:extLst>
        </p:cNvPr>
        <p:cNvGrpSpPr/>
        <p:nvPr/>
      </p:nvGrpSpPr>
      <p:grpSpPr>
        <a:xfrm>
          <a:off x="0" y="0"/>
          <a:ext cx="0" cy="0"/>
          <a:chOff x="0" y="0"/>
          <a:chExt cx="0" cy="0"/>
        </a:xfrm>
      </p:grpSpPr>
      <p:pic>
        <p:nvPicPr>
          <p:cNvPr id="2050" name="Picture 2" descr="Diagram illustrating coherent memory access between Vera CPU’s 1.5TB LPDDR5X and Rubin GPU’s 288GB HBM4 (per GPU) via 1.8TB/s NVLink-C2C.">
            <a:extLst>
              <a:ext uri="{FF2B5EF4-FFF2-40B4-BE49-F238E27FC236}">
                <a16:creationId xmlns:a16="http://schemas.microsoft.com/office/drawing/2014/main" id="{98726191-6387-F0EC-80A4-2CB9B670500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86015" y="1572214"/>
            <a:ext cx="4705779" cy="43513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66E8835-7AB9-41A5-6E01-EE6140D4C07A}"/>
              </a:ext>
            </a:extLst>
          </p:cNvPr>
          <p:cNvSpPr>
            <a:spLocks noGrp="1"/>
          </p:cNvSpPr>
          <p:nvPr>
            <p:ph type="title"/>
          </p:nvPr>
        </p:nvSpPr>
        <p:spPr/>
        <p:txBody>
          <a:bodyPr/>
          <a:lstStyle/>
          <a:p>
            <a:r>
              <a:rPr lang="en-US" dirty="0"/>
              <a:t>What’s in a Modern AI Server?</a:t>
            </a:r>
          </a:p>
        </p:txBody>
      </p:sp>
      <p:sp>
        <p:nvSpPr>
          <p:cNvPr id="5" name="Date Placeholder 4">
            <a:extLst>
              <a:ext uri="{FF2B5EF4-FFF2-40B4-BE49-F238E27FC236}">
                <a16:creationId xmlns:a16="http://schemas.microsoft.com/office/drawing/2014/main" id="{733A982B-7A7E-0882-7570-9F3A8DFEC43C}"/>
              </a:ext>
            </a:extLst>
          </p:cNvPr>
          <p:cNvSpPr>
            <a:spLocks noGrp="1"/>
          </p:cNvSpPr>
          <p:nvPr>
            <p:ph type="dt" sz="half" idx="10"/>
          </p:nvPr>
        </p:nvSpPr>
        <p:spPr/>
        <p:txBody>
          <a:bodyPr/>
          <a:lstStyle/>
          <a:p>
            <a:r>
              <a:rPr lang="en-US"/>
              <a:t>1/13/26</a:t>
            </a:r>
          </a:p>
        </p:txBody>
      </p:sp>
      <p:sp>
        <p:nvSpPr>
          <p:cNvPr id="6" name="Footer Placeholder 5">
            <a:extLst>
              <a:ext uri="{FF2B5EF4-FFF2-40B4-BE49-F238E27FC236}">
                <a16:creationId xmlns:a16="http://schemas.microsoft.com/office/drawing/2014/main" id="{7F7C99F8-D4C9-5D6C-8F1E-1E55E0EEA2F0}"/>
              </a:ext>
            </a:extLst>
          </p:cNvPr>
          <p:cNvSpPr>
            <a:spLocks noGrp="1"/>
          </p:cNvSpPr>
          <p:nvPr>
            <p:ph type="ftr" sz="quarter" idx="11"/>
          </p:nvPr>
        </p:nvSpPr>
        <p:spPr/>
        <p:txBody>
          <a:bodyPr/>
          <a:lstStyle/>
          <a:p>
            <a:r>
              <a:rPr lang="en-US"/>
              <a:t>CSE 585 – W26</a:t>
            </a:r>
          </a:p>
        </p:txBody>
      </p:sp>
      <p:sp>
        <p:nvSpPr>
          <p:cNvPr id="7" name="Slide Number Placeholder 6">
            <a:extLst>
              <a:ext uri="{FF2B5EF4-FFF2-40B4-BE49-F238E27FC236}">
                <a16:creationId xmlns:a16="http://schemas.microsoft.com/office/drawing/2014/main" id="{423B64D8-20BF-AE6E-DDDA-44A4C4F8CBF3}"/>
              </a:ext>
            </a:extLst>
          </p:cNvPr>
          <p:cNvSpPr>
            <a:spLocks noGrp="1"/>
          </p:cNvSpPr>
          <p:nvPr>
            <p:ph type="sldNum" sz="quarter" idx="12"/>
          </p:nvPr>
        </p:nvSpPr>
        <p:spPr/>
        <p:txBody>
          <a:bodyPr/>
          <a:lstStyle/>
          <a:p>
            <a:fld id="{4EEF9975-6C58-5C4C-8961-54FFA2646BAA}" type="slidenum">
              <a:rPr lang="en-US" smtClean="0"/>
              <a:t>23</a:t>
            </a:fld>
            <a:endParaRPr lang="en-US"/>
          </a:p>
        </p:txBody>
      </p:sp>
      <p:sp>
        <p:nvSpPr>
          <p:cNvPr id="10" name="TextBox 9">
            <a:extLst>
              <a:ext uri="{FF2B5EF4-FFF2-40B4-BE49-F238E27FC236}">
                <a16:creationId xmlns:a16="http://schemas.microsoft.com/office/drawing/2014/main" id="{B55F13B2-37FC-1FA6-BB51-7667D6077101}"/>
              </a:ext>
            </a:extLst>
          </p:cNvPr>
          <p:cNvSpPr txBox="1"/>
          <p:nvPr/>
        </p:nvSpPr>
        <p:spPr>
          <a:xfrm>
            <a:off x="2750532" y="5975485"/>
            <a:ext cx="6690937" cy="276999"/>
          </a:xfrm>
          <a:prstGeom prst="rect">
            <a:avLst/>
          </a:prstGeom>
          <a:noFill/>
        </p:spPr>
        <p:txBody>
          <a:bodyPr wrap="square">
            <a:spAutoFit/>
          </a:bodyPr>
          <a:lstStyle/>
          <a:p>
            <a:r>
              <a:rPr lang="en-US" sz="1200" dirty="0">
                <a:solidFill>
                  <a:schemeClr val="bg1">
                    <a:lumMod val="50000"/>
                  </a:schemeClr>
                </a:solidFill>
                <a:latin typeface="Gill Sans Light" panose="020B0302020104020203" pitchFamily="34" charset="-79"/>
                <a:cs typeface="Gill Sans Light" panose="020B0302020104020203" pitchFamily="34" charset="-79"/>
              </a:rPr>
              <a:t>https://</a:t>
            </a:r>
            <a:r>
              <a:rPr lang="en-US" sz="1200" dirty="0" err="1">
                <a:solidFill>
                  <a:schemeClr val="bg1">
                    <a:lumMod val="50000"/>
                  </a:schemeClr>
                </a:solidFill>
                <a:latin typeface="Gill Sans Light" panose="020B0302020104020203" pitchFamily="34" charset="-79"/>
                <a:cs typeface="Gill Sans Light" panose="020B0302020104020203" pitchFamily="34" charset="-79"/>
              </a:rPr>
              <a:t>developer.nvidia.com</a:t>
            </a:r>
            <a:r>
              <a:rPr lang="en-US" sz="1200" dirty="0">
                <a:solidFill>
                  <a:schemeClr val="bg1">
                    <a:lumMod val="50000"/>
                  </a:schemeClr>
                </a:solidFill>
                <a:latin typeface="Gill Sans Light" panose="020B0302020104020203" pitchFamily="34" charset="-79"/>
                <a:cs typeface="Gill Sans Light" panose="020B0302020104020203" pitchFamily="34" charset="-79"/>
              </a:rPr>
              <a:t>/blog/inside-the-nvidia-rubin-platform-six-new-chips-one-ai-supercomputer/</a:t>
            </a:r>
          </a:p>
        </p:txBody>
      </p:sp>
      <p:grpSp>
        <p:nvGrpSpPr>
          <p:cNvPr id="9" name="Group 8">
            <a:extLst>
              <a:ext uri="{FF2B5EF4-FFF2-40B4-BE49-F238E27FC236}">
                <a16:creationId xmlns:a16="http://schemas.microsoft.com/office/drawing/2014/main" id="{D0242F74-0CC2-26DD-F1EC-2B0FA04A6C39}"/>
              </a:ext>
            </a:extLst>
          </p:cNvPr>
          <p:cNvGrpSpPr/>
          <p:nvPr/>
        </p:nvGrpSpPr>
        <p:grpSpPr>
          <a:xfrm>
            <a:off x="7982196" y="1445754"/>
            <a:ext cx="4321389" cy="2020864"/>
            <a:chOff x="7639291" y="1445754"/>
            <a:chExt cx="4321389" cy="2020864"/>
          </a:xfrm>
        </p:grpSpPr>
        <p:sp>
          <p:nvSpPr>
            <p:cNvPr id="8" name="Rectangular Callout 7">
              <a:extLst>
                <a:ext uri="{FF2B5EF4-FFF2-40B4-BE49-F238E27FC236}">
                  <a16:creationId xmlns:a16="http://schemas.microsoft.com/office/drawing/2014/main" id="{09DCEBBA-6FE8-68CB-2389-31A82104AF8F}"/>
                </a:ext>
              </a:extLst>
            </p:cNvPr>
            <p:cNvSpPr/>
            <p:nvPr/>
          </p:nvSpPr>
          <p:spPr>
            <a:xfrm>
              <a:off x="7639291" y="1445754"/>
              <a:ext cx="4321388" cy="2020864"/>
            </a:xfrm>
            <a:prstGeom prst="wedgeRectCallout">
              <a:avLst>
                <a:gd name="adj1" fmla="val -72528"/>
                <a:gd name="adj2" fmla="val 14388"/>
              </a:avLst>
            </a:prstGeom>
            <a:solidFill>
              <a:schemeClr val="tx1">
                <a:alpha val="2014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Product graphic showing the NVIDIA Vera CPU on a black background, with a close-up view of the CPU package and exposed die on the left and key architectural features listed on the right. The Vera CPU is described as built for data movement and agentic processing, featuring 88 NVIDIA custom Olympus CPU cores with 176 threads using NVIDIA spatial multithreading, 1.8 TB/s NVLink-C2C bandwidth enabling coherent CPU-GPU memory, and 1.5 TB of system memory using power-efficient SOCAMM LPDDR5X. Additional highlights include second-generation NVIDIA SCF fabric and deterministic, low-latency data movement optimized for next-generation AI systems.">
              <a:extLst>
                <a:ext uri="{FF2B5EF4-FFF2-40B4-BE49-F238E27FC236}">
                  <a16:creationId xmlns:a16="http://schemas.microsoft.com/office/drawing/2014/main" id="{577C46D8-EE88-71A2-C29F-FF7558FA421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759" t="28084" r="10190" b="24220"/>
            <a:stretch>
              <a:fillRect/>
            </a:stretch>
          </p:blipFill>
          <p:spPr bwMode="auto">
            <a:xfrm>
              <a:off x="7639291" y="1454938"/>
              <a:ext cx="4321389" cy="201168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 name="Group 11">
            <a:extLst>
              <a:ext uri="{FF2B5EF4-FFF2-40B4-BE49-F238E27FC236}">
                <a16:creationId xmlns:a16="http://schemas.microsoft.com/office/drawing/2014/main" id="{716A358D-4FA4-659B-5772-7C0FB0F344B4}"/>
              </a:ext>
            </a:extLst>
          </p:cNvPr>
          <p:cNvGrpSpPr/>
          <p:nvPr/>
        </p:nvGrpSpPr>
        <p:grpSpPr>
          <a:xfrm>
            <a:off x="-48986" y="2011839"/>
            <a:ext cx="4451019" cy="2011680"/>
            <a:chOff x="-48986" y="2011839"/>
            <a:chExt cx="4451019" cy="2011680"/>
          </a:xfrm>
        </p:grpSpPr>
        <p:sp>
          <p:nvSpPr>
            <p:cNvPr id="11" name="Rectangular Callout 10">
              <a:extLst>
                <a:ext uri="{FF2B5EF4-FFF2-40B4-BE49-F238E27FC236}">
                  <a16:creationId xmlns:a16="http://schemas.microsoft.com/office/drawing/2014/main" id="{315520C2-BFF2-64DA-34A5-B5E227454348}"/>
                </a:ext>
              </a:extLst>
            </p:cNvPr>
            <p:cNvSpPr/>
            <p:nvPr/>
          </p:nvSpPr>
          <p:spPr>
            <a:xfrm>
              <a:off x="-48986" y="2011839"/>
              <a:ext cx="4451017" cy="2011680"/>
            </a:xfrm>
            <a:prstGeom prst="wedgeRectCallout">
              <a:avLst>
                <a:gd name="adj1" fmla="val 54402"/>
                <a:gd name="adj2" fmla="val 84342"/>
              </a:avLst>
            </a:prstGeom>
            <a:solidFill>
              <a:schemeClr val="tx1">
                <a:alpha val="2014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4" name="Picture 6" descr="Product graphic presenting the NVIDIA Rubin GPU on a black background, with a detailed die visualization on the left and key performance specifications listed on the right. The Rubin GPU is described as built for the next generation of AI, delivering 50 PFLOPS of NVFP4 inference performance, 35 PFLOPS of NVFP4 training performance, 22 TB/s of HBM4 memory bandwidth, and 3.6 TB/s of NVLink bandwidth per GPU. The graphic also highlights a 336-billion-transistor design and generational gains versus Blackwell, including up to 5x inference, 3.5x training, 2.8x memory bandwidth, 2x NVLink bandwidth, and 1.6x transistor count, emphasizing scalability for large-scale AI workloads.">
              <a:extLst>
                <a:ext uri="{FF2B5EF4-FFF2-40B4-BE49-F238E27FC236}">
                  <a16:creationId xmlns:a16="http://schemas.microsoft.com/office/drawing/2014/main" id="{7C7FB08A-470F-4F02-81C7-ECF871624A5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7238" t="29736" r="6831" b="24726"/>
            <a:stretch>
              <a:fillRect/>
            </a:stretch>
          </p:blipFill>
          <p:spPr bwMode="auto">
            <a:xfrm>
              <a:off x="-48984" y="2011839"/>
              <a:ext cx="4451017" cy="201168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558578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785529" cy="1325563"/>
          </a:xfrm>
        </p:spPr>
        <p:txBody>
          <a:bodyPr/>
          <a:lstStyle/>
          <a:p>
            <a:r>
              <a:rPr lang="en-US" dirty="0"/>
              <a:t>Scale Out: Warehouse-Scale Computer (WSC)</a:t>
            </a:r>
          </a:p>
        </p:txBody>
      </p:sp>
      <p:sp>
        <p:nvSpPr>
          <p:cNvPr id="3" name="Content Placeholder 2"/>
          <p:cNvSpPr>
            <a:spLocks noGrp="1"/>
          </p:cNvSpPr>
          <p:nvPr>
            <p:ph sz="half" idx="1"/>
          </p:nvPr>
        </p:nvSpPr>
        <p:spPr/>
        <p:txBody>
          <a:bodyPr anchor="ctr"/>
          <a:lstStyle/>
          <a:p>
            <a:pPr marL="0" indent="0">
              <a:buNone/>
            </a:pPr>
            <a:r>
              <a:rPr lang="en-US"/>
              <a:t>Single organization</a:t>
            </a:r>
          </a:p>
          <a:p>
            <a:pPr marL="0" indent="0">
              <a:buNone/>
            </a:pPr>
            <a:r>
              <a:rPr lang="en-US"/>
              <a:t>Homogeneity (to some extent)</a:t>
            </a:r>
          </a:p>
          <a:p>
            <a:pPr marL="0" indent="0">
              <a:buNone/>
            </a:pPr>
            <a:r>
              <a:rPr lang="en-US"/>
              <a:t>Cost efficiency at scale</a:t>
            </a:r>
          </a:p>
          <a:p>
            <a:pPr lvl="1"/>
            <a:r>
              <a:rPr lang="en-US"/>
              <a:t>Multiplexing across applications and services</a:t>
            </a:r>
          </a:p>
          <a:p>
            <a:pPr lvl="1"/>
            <a:r>
              <a:rPr lang="en-US"/>
              <a:t>Rent it out!</a:t>
            </a:r>
            <a:endParaRPr lang="en-US" dirty="0"/>
          </a:p>
        </p:txBody>
      </p:sp>
      <p:sp>
        <p:nvSpPr>
          <p:cNvPr id="4" name="Content Placeholder 3"/>
          <p:cNvSpPr>
            <a:spLocks noGrp="1"/>
          </p:cNvSpPr>
          <p:nvPr>
            <p:ph sz="half" idx="2"/>
          </p:nvPr>
        </p:nvSpPr>
        <p:spPr>
          <a:xfrm>
            <a:off x="6978113" y="1825625"/>
            <a:ext cx="4114800" cy="4351338"/>
          </a:xfrm>
        </p:spPr>
        <p:txBody>
          <a:bodyPr anchor="ctr"/>
          <a:lstStyle/>
          <a:p>
            <a:pPr marL="0" indent="0">
              <a:buNone/>
            </a:pPr>
            <a:r>
              <a:rPr lang="en-US"/>
              <a:t>Many concerns</a:t>
            </a:r>
          </a:p>
          <a:p>
            <a:pPr lvl="1"/>
            <a:r>
              <a:rPr lang="en-US"/>
              <a:t>Infrastructure</a:t>
            </a:r>
          </a:p>
          <a:p>
            <a:pPr lvl="1"/>
            <a:r>
              <a:rPr lang="en-US"/>
              <a:t>Networking</a:t>
            </a:r>
          </a:p>
          <a:p>
            <a:pPr lvl="1"/>
            <a:r>
              <a:rPr lang="en-US"/>
              <a:t>Storage</a:t>
            </a:r>
          </a:p>
          <a:p>
            <a:pPr lvl="1"/>
            <a:r>
              <a:rPr lang="en-US"/>
              <a:t>Software</a:t>
            </a:r>
          </a:p>
          <a:p>
            <a:pPr lvl="1"/>
            <a:r>
              <a:rPr lang="en-US"/>
              <a:t>Power/Energy</a:t>
            </a:r>
          </a:p>
          <a:p>
            <a:pPr lvl="1"/>
            <a:r>
              <a:rPr lang="en-US"/>
              <a:t>Failure/Recovery</a:t>
            </a:r>
          </a:p>
          <a:p>
            <a:pPr lvl="1"/>
            <a:r>
              <a:rPr lang="en-US"/>
              <a:t>…</a:t>
            </a:r>
            <a:endParaRPr lang="en-US" dirty="0"/>
          </a:p>
        </p:txBody>
      </p:sp>
      <p:sp>
        <p:nvSpPr>
          <p:cNvPr id="5" name="Date Placeholder 4"/>
          <p:cNvSpPr>
            <a:spLocks noGrp="1"/>
          </p:cNvSpPr>
          <p:nvPr>
            <p:ph type="dt" sz="half" idx="10"/>
          </p:nvPr>
        </p:nvSpPr>
        <p:spPr/>
        <p:txBody>
          <a:bodyPr/>
          <a:lstStyle/>
          <a:p>
            <a:r>
              <a:rPr lang="en-US"/>
              <a:t>1/13/26</a:t>
            </a:r>
          </a:p>
        </p:txBody>
      </p:sp>
      <p:sp>
        <p:nvSpPr>
          <p:cNvPr id="6" name="Footer Placeholder 5"/>
          <p:cNvSpPr>
            <a:spLocks noGrp="1"/>
          </p:cNvSpPr>
          <p:nvPr>
            <p:ph type="ftr" sz="quarter" idx="11"/>
          </p:nvPr>
        </p:nvSpPr>
        <p:spPr/>
        <p:txBody>
          <a:bodyPr/>
          <a:lstStyle/>
          <a:p>
            <a:r>
              <a:rPr lang="en-US"/>
              <a:t>CSE 585 – W26</a:t>
            </a:r>
          </a:p>
        </p:txBody>
      </p:sp>
      <p:sp>
        <p:nvSpPr>
          <p:cNvPr id="7" name="Slide Number Placeholder 6"/>
          <p:cNvSpPr>
            <a:spLocks noGrp="1"/>
          </p:cNvSpPr>
          <p:nvPr>
            <p:ph type="sldNum" sz="quarter" idx="12"/>
          </p:nvPr>
        </p:nvSpPr>
        <p:spPr/>
        <p:txBody>
          <a:bodyPr/>
          <a:lstStyle/>
          <a:p>
            <a:fld id="{4EEF9975-6C58-5C4C-8961-54FFA2646BAA}" type="slidenum">
              <a:rPr lang="en-US" smtClean="0"/>
              <a:t>24</a:t>
            </a:fld>
            <a:endParaRPr lang="en-US"/>
          </a:p>
        </p:txBody>
      </p:sp>
    </p:spTree>
    <p:extLst>
      <p:ext uri="{BB962C8B-B14F-4D97-AF65-F5344CB8AC3E}">
        <p14:creationId xmlns:p14="http://schemas.microsoft.com/office/powerpoint/2010/main" val="2054283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WSC/Datacenter Architecture</a:t>
            </a:r>
          </a:p>
        </p:txBody>
      </p:sp>
      <p:sp>
        <p:nvSpPr>
          <p:cNvPr id="5" name="Date Placeholder 4"/>
          <p:cNvSpPr>
            <a:spLocks noGrp="1"/>
          </p:cNvSpPr>
          <p:nvPr>
            <p:ph type="dt" sz="half" idx="10"/>
          </p:nvPr>
        </p:nvSpPr>
        <p:spPr/>
        <p:txBody>
          <a:bodyPr/>
          <a:lstStyle/>
          <a:p>
            <a:r>
              <a:rPr lang="en-US"/>
              <a:t>1/13/26</a:t>
            </a:r>
          </a:p>
        </p:txBody>
      </p:sp>
      <p:sp>
        <p:nvSpPr>
          <p:cNvPr id="6" name="Footer Placeholder 5"/>
          <p:cNvSpPr>
            <a:spLocks noGrp="1"/>
          </p:cNvSpPr>
          <p:nvPr>
            <p:ph type="ftr" sz="quarter" idx="11"/>
          </p:nvPr>
        </p:nvSpPr>
        <p:spPr/>
        <p:txBody>
          <a:bodyPr/>
          <a:lstStyle/>
          <a:p>
            <a:r>
              <a:rPr lang="en-US"/>
              <a:t>CSE 585 – W26</a:t>
            </a:r>
          </a:p>
        </p:txBody>
      </p:sp>
      <p:sp>
        <p:nvSpPr>
          <p:cNvPr id="7" name="Slide Number Placeholder 6"/>
          <p:cNvSpPr>
            <a:spLocks noGrp="1"/>
          </p:cNvSpPr>
          <p:nvPr>
            <p:ph type="sldNum" sz="quarter" idx="12"/>
          </p:nvPr>
        </p:nvSpPr>
        <p:spPr/>
        <p:txBody>
          <a:bodyPr/>
          <a:lstStyle/>
          <a:p>
            <a:fld id="{4EEF9975-6C58-5C4C-8961-54FFA2646BAA}" type="slidenum">
              <a:rPr lang="en-US" smtClean="0"/>
              <a:t>25</a:t>
            </a:fld>
            <a:endParaRPr lang="en-US"/>
          </a:p>
        </p:txBody>
      </p:sp>
      <p:grpSp>
        <p:nvGrpSpPr>
          <p:cNvPr id="24" name="Group 23"/>
          <p:cNvGrpSpPr/>
          <p:nvPr/>
        </p:nvGrpSpPr>
        <p:grpSpPr>
          <a:xfrm>
            <a:off x="6370934" y="1255458"/>
            <a:ext cx="5268660" cy="4711555"/>
            <a:chOff x="6370934" y="1255458"/>
            <a:chExt cx="5268660" cy="4711555"/>
          </a:xfrm>
        </p:grpSpPr>
        <p:grpSp>
          <p:nvGrpSpPr>
            <p:cNvPr id="48" name="Group 47"/>
            <p:cNvGrpSpPr/>
            <p:nvPr/>
          </p:nvGrpSpPr>
          <p:grpSpPr>
            <a:xfrm>
              <a:off x="6370934" y="2825254"/>
              <a:ext cx="1227999" cy="3141759"/>
              <a:chOff x="6523463" y="2556514"/>
              <a:chExt cx="1839952" cy="3141759"/>
            </a:xfrm>
          </p:grpSpPr>
          <p:sp>
            <p:nvSpPr>
              <p:cNvPr id="36" name="Rectangle 35"/>
              <p:cNvSpPr/>
              <p:nvPr/>
            </p:nvSpPr>
            <p:spPr>
              <a:xfrm>
                <a:off x="6612669" y="541702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Gill Sans" charset="0"/>
                    <a:ea typeface="Gill Sans" charset="0"/>
                    <a:cs typeface="Gill Sans" charset="0"/>
                  </a:rPr>
                  <a:t>Server</a:t>
                </a:r>
              </a:p>
            </p:txBody>
          </p:sp>
          <p:sp>
            <p:nvSpPr>
              <p:cNvPr id="37" name="Rectangle 36"/>
              <p:cNvSpPr/>
              <p:nvPr/>
            </p:nvSpPr>
            <p:spPr>
              <a:xfrm>
                <a:off x="6612669" y="5152029"/>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6612669" y="4880700"/>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6612669" y="4609371"/>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6612669" y="433557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6612669" y="4057815"/>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6612669" y="3792816"/>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6612669" y="352148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6612669" y="325015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6612669" y="2976364"/>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6612669" y="2691987"/>
                <a:ext cx="1650380" cy="1808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Gill Sans" charset="0"/>
                  <a:ea typeface="Gill Sans" charset="0"/>
                  <a:cs typeface="Gill Sans" charset="0"/>
                </a:endParaRPr>
              </a:p>
            </p:txBody>
          </p:sp>
          <p:sp>
            <p:nvSpPr>
              <p:cNvPr id="47" name="Rectangle 46"/>
              <p:cNvSpPr/>
              <p:nvPr/>
            </p:nvSpPr>
            <p:spPr>
              <a:xfrm>
                <a:off x="6523463" y="2556514"/>
                <a:ext cx="1839952" cy="31417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48"/>
            <p:cNvGrpSpPr/>
            <p:nvPr/>
          </p:nvGrpSpPr>
          <p:grpSpPr>
            <a:xfrm>
              <a:off x="7717821" y="2825254"/>
              <a:ext cx="1227999" cy="3141759"/>
              <a:chOff x="6523463" y="2556514"/>
              <a:chExt cx="1839952" cy="3141759"/>
            </a:xfrm>
          </p:grpSpPr>
          <p:sp>
            <p:nvSpPr>
              <p:cNvPr id="50" name="Rectangle 49"/>
              <p:cNvSpPr/>
              <p:nvPr/>
            </p:nvSpPr>
            <p:spPr>
              <a:xfrm>
                <a:off x="6612669" y="541702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6612669" y="5152029"/>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6612669" y="4880700"/>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6612669" y="4609371"/>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6612669" y="433557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6612669" y="4057815"/>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6612669" y="3792816"/>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6612669" y="352148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6612669" y="325015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p:cNvSpPr/>
              <p:nvPr/>
            </p:nvSpPr>
            <p:spPr>
              <a:xfrm>
                <a:off x="6612669" y="2976364"/>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p:cNvSpPr/>
              <p:nvPr/>
            </p:nvSpPr>
            <p:spPr>
              <a:xfrm>
                <a:off x="6612669" y="2691987"/>
                <a:ext cx="1650380" cy="1808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6523463" y="2556514"/>
                <a:ext cx="1839952" cy="31417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p:cNvGrpSpPr/>
            <p:nvPr/>
          </p:nvGrpSpPr>
          <p:grpSpPr>
            <a:xfrm>
              <a:off x="9064708" y="2825254"/>
              <a:ext cx="1227999" cy="3141759"/>
              <a:chOff x="6523463" y="2556514"/>
              <a:chExt cx="1839952" cy="3141759"/>
            </a:xfrm>
          </p:grpSpPr>
          <p:sp>
            <p:nvSpPr>
              <p:cNvPr id="63" name="Rectangle 62"/>
              <p:cNvSpPr/>
              <p:nvPr/>
            </p:nvSpPr>
            <p:spPr>
              <a:xfrm>
                <a:off x="6612669" y="541702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p:cNvSpPr/>
              <p:nvPr/>
            </p:nvSpPr>
            <p:spPr>
              <a:xfrm>
                <a:off x="6612669" y="5152029"/>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p:cNvSpPr/>
              <p:nvPr/>
            </p:nvSpPr>
            <p:spPr>
              <a:xfrm>
                <a:off x="6612669" y="4880700"/>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p:cNvSpPr/>
              <p:nvPr/>
            </p:nvSpPr>
            <p:spPr>
              <a:xfrm>
                <a:off x="6612669" y="4609371"/>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p:cNvSpPr/>
              <p:nvPr/>
            </p:nvSpPr>
            <p:spPr>
              <a:xfrm>
                <a:off x="6612669" y="433557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p:cNvSpPr/>
              <p:nvPr/>
            </p:nvSpPr>
            <p:spPr>
              <a:xfrm>
                <a:off x="6612669" y="4057815"/>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p:cNvSpPr/>
              <p:nvPr/>
            </p:nvSpPr>
            <p:spPr>
              <a:xfrm>
                <a:off x="6612669" y="3792816"/>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6612669" y="352148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6612669" y="325015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p:cNvSpPr/>
              <p:nvPr/>
            </p:nvSpPr>
            <p:spPr>
              <a:xfrm>
                <a:off x="6612669" y="2976364"/>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p:cNvSpPr/>
              <p:nvPr/>
            </p:nvSpPr>
            <p:spPr>
              <a:xfrm>
                <a:off x="6612669" y="2691987"/>
                <a:ext cx="1650380" cy="1808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p:cNvSpPr/>
              <p:nvPr/>
            </p:nvSpPr>
            <p:spPr>
              <a:xfrm>
                <a:off x="6523463" y="2556514"/>
                <a:ext cx="1839952" cy="31417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 name="Group 74"/>
            <p:cNvGrpSpPr/>
            <p:nvPr/>
          </p:nvGrpSpPr>
          <p:grpSpPr>
            <a:xfrm>
              <a:off x="10411595" y="2814822"/>
              <a:ext cx="1227999" cy="3141759"/>
              <a:chOff x="6523463" y="2556514"/>
              <a:chExt cx="1839952" cy="3141759"/>
            </a:xfrm>
          </p:grpSpPr>
          <p:sp>
            <p:nvSpPr>
              <p:cNvPr id="76" name="Rectangle 75"/>
              <p:cNvSpPr/>
              <p:nvPr/>
            </p:nvSpPr>
            <p:spPr>
              <a:xfrm>
                <a:off x="6612669" y="541702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6612669" y="5152029"/>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p:cNvSpPr/>
              <p:nvPr/>
            </p:nvSpPr>
            <p:spPr>
              <a:xfrm>
                <a:off x="6612669" y="4880700"/>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6612669" y="4609371"/>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6612669" y="433557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6612669" y="4057815"/>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6612669" y="3792816"/>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6612669" y="352148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p:cNvSpPr/>
              <p:nvPr/>
            </p:nvSpPr>
            <p:spPr>
              <a:xfrm>
                <a:off x="6612669" y="325015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6612669" y="2976364"/>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6612669" y="2691987"/>
                <a:ext cx="1650380" cy="1808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p:cNvSpPr/>
              <p:nvPr/>
            </p:nvSpPr>
            <p:spPr>
              <a:xfrm>
                <a:off x="6523463" y="2556514"/>
                <a:ext cx="1839952" cy="31417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8" name="Rectangle 87"/>
            <p:cNvSpPr/>
            <p:nvPr/>
          </p:nvSpPr>
          <p:spPr>
            <a:xfrm>
              <a:off x="7278712" y="1824875"/>
              <a:ext cx="3334215" cy="6679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Gill Sans" charset="0"/>
                <a:ea typeface="Gill Sans" charset="0"/>
                <a:cs typeface="Gill Sans" charset="0"/>
              </a:endParaRPr>
            </a:p>
          </p:txBody>
        </p:sp>
        <p:cxnSp>
          <p:nvCxnSpPr>
            <p:cNvPr id="90" name="Elbow Connector 89"/>
            <p:cNvCxnSpPr>
              <a:stCxn id="46" idx="0"/>
              <a:endCxn id="88" idx="2"/>
            </p:cNvCxnSpPr>
            <p:nvPr/>
          </p:nvCxnSpPr>
          <p:spPr>
            <a:xfrm rot="5400000" flipH="1" flipV="1">
              <a:off x="7729583" y="1744490"/>
              <a:ext cx="467865" cy="1964610"/>
            </a:xfrm>
            <a:prstGeom prst="bentConnector3">
              <a:avLst>
                <a:gd name="adj1" fmla="val 66684"/>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2" name="Elbow Connector 91"/>
            <p:cNvCxnSpPr>
              <a:stCxn id="60" idx="0"/>
              <a:endCxn id="88" idx="2"/>
            </p:cNvCxnSpPr>
            <p:nvPr/>
          </p:nvCxnSpPr>
          <p:spPr>
            <a:xfrm rot="5400000" flipH="1" flipV="1">
              <a:off x="8403026" y="2417934"/>
              <a:ext cx="467865" cy="617723"/>
            </a:xfrm>
            <a:prstGeom prst="bentConnector3">
              <a:avLst>
                <a:gd name="adj1" fmla="val 50000"/>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5" name="Elbow Connector 94"/>
            <p:cNvCxnSpPr>
              <a:stCxn id="73" idx="0"/>
              <a:endCxn id="88" idx="2"/>
            </p:cNvCxnSpPr>
            <p:nvPr/>
          </p:nvCxnSpPr>
          <p:spPr>
            <a:xfrm rot="16200000" flipV="1">
              <a:off x="9076470" y="2362213"/>
              <a:ext cx="467865" cy="729164"/>
            </a:xfrm>
            <a:prstGeom prst="bentConnector3">
              <a:avLst>
                <a:gd name="adj1" fmla="val 50000"/>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8" name="Elbow Connector 97"/>
            <p:cNvCxnSpPr>
              <a:stCxn id="86" idx="0"/>
              <a:endCxn id="88" idx="2"/>
            </p:cNvCxnSpPr>
            <p:nvPr/>
          </p:nvCxnSpPr>
          <p:spPr>
            <a:xfrm rot="16200000" flipV="1">
              <a:off x="9755130" y="1683553"/>
              <a:ext cx="457433" cy="2076051"/>
            </a:xfrm>
            <a:prstGeom prst="bentConnector3">
              <a:avLst>
                <a:gd name="adj1" fmla="val 67064"/>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Elbow Connector 101"/>
            <p:cNvCxnSpPr>
              <a:stCxn id="88" idx="0"/>
            </p:cNvCxnSpPr>
            <p:nvPr/>
          </p:nvCxnSpPr>
          <p:spPr>
            <a:xfrm rot="5400000" flipH="1" flipV="1">
              <a:off x="9185804" y="1015473"/>
              <a:ext cx="569418" cy="1049387"/>
            </a:xfrm>
            <a:prstGeom prst="bentConnector2">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 name="Straight Connector 3"/>
          <p:cNvCxnSpPr/>
          <p:nvPr/>
        </p:nvCxnSpPr>
        <p:spPr>
          <a:xfrm>
            <a:off x="5464094" y="1823118"/>
            <a:ext cx="966377" cy="38522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flipV="1">
            <a:off x="5464094" y="5878524"/>
            <a:ext cx="966377" cy="78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Rectangle 90"/>
          <p:cNvSpPr/>
          <p:nvPr/>
        </p:nvSpPr>
        <p:spPr>
          <a:xfrm>
            <a:off x="6430471" y="5687710"/>
            <a:ext cx="1101477"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Gill Sans" charset="0"/>
                <a:ea typeface="Gill Sans" charset="0"/>
                <a:cs typeface="Gill Sans" charset="0"/>
              </a:rPr>
              <a:t>Server</a:t>
            </a:r>
          </a:p>
        </p:txBody>
      </p:sp>
      <p:grpSp>
        <p:nvGrpSpPr>
          <p:cNvPr id="108" name="Group 107">
            <a:extLst>
              <a:ext uri="{FF2B5EF4-FFF2-40B4-BE49-F238E27FC236}">
                <a16:creationId xmlns:a16="http://schemas.microsoft.com/office/drawing/2014/main" id="{4B191A8A-D3A4-8841-BC10-7F4059E4BF37}"/>
              </a:ext>
            </a:extLst>
          </p:cNvPr>
          <p:cNvGrpSpPr/>
          <p:nvPr/>
        </p:nvGrpSpPr>
        <p:grpSpPr>
          <a:xfrm>
            <a:off x="679268" y="1832266"/>
            <a:ext cx="4795024" cy="4455175"/>
            <a:chOff x="6477000" y="1901175"/>
            <a:chExt cx="4795024" cy="4455175"/>
          </a:xfrm>
        </p:grpSpPr>
        <p:pic>
          <p:nvPicPr>
            <p:cNvPr id="3" name="Picture 2">
              <a:extLst>
                <a:ext uri="{FF2B5EF4-FFF2-40B4-BE49-F238E27FC236}">
                  <a16:creationId xmlns:a16="http://schemas.microsoft.com/office/drawing/2014/main" id="{0837C36C-7911-4EAF-C0D0-4692DC8D2A5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824546" y="1901175"/>
              <a:ext cx="1371600" cy="1371600"/>
            </a:xfrm>
            <a:prstGeom prst="rect">
              <a:avLst/>
            </a:prstGeom>
          </p:spPr>
        </p:pic>
        <p:pic>
          <p:nvPicPr>
            <p:cNvPr id="8" name="Picture 7">
              <a:extLst>
                <a:ext uri="{FF2B5EF4-FFF2-40B4-BE49-F238E27FC236}">
                  <a16:creationId xmlns:a16="http://schemas.microsoft.com/office/drawing/2014/main" id="{9764FC66-B6D4-C97D-35CA-C4728E58A97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738112" y="2062540"/>
              <a:ext cx="1371600" cy="1048871"/>
            </a:xfrm>
            <a:prstGeom prst="rect">
              <a:avLst/>
            </a:prstGeom>
          </p:spPr>
        </p:pic>
        <p:sp>
          <p:nvSpPr>
            <p:cNvPr id="9" name="Left-Right Arrow 8">
              <a:extLst>
                <a:ext uri="{FF2B5EF4-FFF2-40B4-BE49-F238E27FC236}">
                  <a16:creationId xmlns:a16="http://schemas.microsoft.com/office/drawing/2014/main" id="{301CFACC-9B65-349B-B8D8-93E272AB8975}"/>
                </a:ext>
              </a:extLst>
            </p:cNvPr>
            <p:cNvSpPr/>
            <p:nvPr/>
          </p:nvSpPr>
          <p:spPr>
            <a:xfrm>
              <a:off x="8395009" y="2436732"/>
              <a:ext cx="1172737" cy="395678"/>
            </a:xfrm>
            <a:prstGeom prst="lef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Up-Down Arrow 9">
              <a:extLst>
                <a:ext uri="{FF2B5EF4-FFF2-40B4-BE49-F238E27FC236}">
                  <a16:creationId xmlns:a16="http://schemas.microsoft.com/office/drawing/2014/main" id="{F94445EC-A748-B2DE-2856-635928386A23}"/>
                </a:ext>
              </a:extLst>
            </p:cNvPr>
            <p:cNvSpPr/>
            <p:nvPr/>
          </p:nvSpPr>
          <p:spPr>
            <a:xfrm>
              <a:off x="6934202" y="3327148"/>
              <a:ext cx="390292" cy="3029202"/>
            </a:xfrm>
            <a:prstGeom prst="up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Up Arrow 15">
              <a:extLst>
                <a:ext uri="{FF2B5EF4-FFF2-40B4-BE49-F238E27FC236}">
                  <a16:creationId xmlns:a16="http://schemas.microsoft.com/office/drawing/2014/main" id="{A0C7F85E-56E7-81DB-4EBB-77F16B30D161}"/>
                </a:ext>
              </a:extLst>
            </p:cNvPr>
            <p:cNvSpPr/>
            <p:nvPr/>
          </p:nvSpPr>
          <p:spPr>
            <a:xfrm>
              <a:off x="7472558" y="3327148"/>
              <a:ext cx="390292" cy="2192706"/>
            </a:xfrm>
            <a:prstGeom prs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C35F4055-7BF1-0BC9-84FD-4AD3E8058F7C}"/>
                </a:ext>
              </a:extLst>
            </p:cNvPr>
            <p:cNvSpPr/>
            <p:nvPr/>
          </p:nvSpPr>
          <p:spPr>
            <a:xfrm>
              <a:off x="7567962" y="5320529"/>
              <a:ext cx="2103244" cy="35544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B584F1E7-A1B7-C28F-8B58-F2A4EDB052F2}"/>
                </a:ext>
              </a:extLst>
            </p:cNvPr>
            <p:cNvSpPr txBox="1"/>
            <p:nvPr/>
          </p:nvSpPr>
          <p:spPr>
            <a:xfrm>
              <a:off x="8547456" y="2116310"/>
              <a:ext cx="785793" cy="369332"/>
            </a:xfrm>
            <a:prstGeom prst="rect">
              <a:avLst/>
            </a:prstGeom>
            <a:noFill/>
          </p:spPr>
          <p:txBody>
            <a:bodyPr wrap="none" rtlCol="0">
              <a:spAutoFit/>
            </a:bodyPr>
            <a:lstStyle/>
            <a:p>
              <a:r>
                <a:rPr lang="en-US" dirty="0">
                  <a:latin typeface="Gill Sans" charset="0"/>
                  <a:ea typeface="Gill Sans" charset="0"/>
                  <a:cs typeface="Gill Sans" charset="0"/>
                </a:rPr>
                <a:t>DDR5</a:t>
              </a:r>
            </a:p>
          </p:txBody>
        </p:sp>
        <p:sp>
          <p:nvSpPr>
            <p:cNvPr id="32" name="TextBox 31">
              <a:extLst>
                <a:ext uri="{FF2B5EF4-FFF2-40B4-BE49-F238E27FC236}">
                  <a16:creationId xmlns:a16="http://schemas.microsoft.com/office/drawing/2014/main" id="{56102255-1084-C5D1-E784-5C97D3E13EBD}"/>
                </a:ext>
              </a:extLst>
            </p:cNvPr>
            <p:cNvSpPr txBox="1"/>
            <p:nvPr/>
          </p:nvSpPr>
          <p:spPr>
            <a:xfrm rot="16200000">
              <a:off x="6367052" y="4915118"/>
              <a:ext cx="997389" cy="369332"/>
            </a:xfrm>
            <a:prstGeom prst="rect">
              <a:avLst/>
            </a:prstGeom>
            <a:noFill/>
          </p:spPr>
          <p:txBody>
            <a:bodyPr wrap="none" rtlCol="0">
              <a:spAutoFit/>
            </a:bodyPr>
            <a:lstStyle/>
            <a:p>
              <a:r>
                <a:rPr lang="en-US" dirty="0">
                  <a:latin typeface="Gill Sans" charset="0"/>
                  <a:ea typeface="Gill Sans" charset="0"/>
                  <a:cs typeface="Gill Sans" charset="0"/>
                </a:rPr>
                <a:t>Ethernet</a:t>
              </a:r>
            </a:p>
          </p:txBody>
        </p:sp>
        <p:sp>
          <p:nvSpPr>
            <p:cNvPr id="33" name="TextBox 32">
              <a:extLst>
                <a:ext uri="{FF2B5EF4-FFF2-40B4-BE49-F238E27FC236}">
                  <a16:creationId xmlns:a16="http://schemas.microsoft.com/office/drawing/2014/main" id="{5EAE2567-7B58-B972-C7F0-44114640ED2E}"/>
                </a:ext>
              </a:extLst>
            </p:cNvPr>
            <p:cNvSpPr txBox="1"/>
            <p:nvPr/>
          </p:nvSpPr>
          <p:spPr>
            <a:xfrm>
              <a:off x="7737495" y="5078784"/>
              <a:ext cx="793807" cy="369332"/>
            </a:xfrm>
            <a:prstGeom prst="rect">
              <a:avLst/>
            </a:prstGeom>
            <a:noFill/>
          </p:spPr>
          <p:txBody>
            <a:bodyPr wrap="none" rtlCol="0">
              <a:spAutoFit/>
            </a:bodyPr>
            <a:lstStyle/>
            <a:p>
              <a:r>
                <a:rPr lang="en-US" dirty="0" err="1">
                  <a:latin typeface="Gill Sans" charset="0"/>
                  <a:ea typeface="Gill Sans" charset="0"/>
                  <a:cs typeface="Gill Sans" charset="0"/>
                </a:rPr>
                <a:t>NVMe</a:t>
              </a:r>
              <a:endParaRPr lang="en-US" dirty="0">
                <a:latin typeface="Gill Sans" charset="0"/>
                <a:ea typeface="Gill Sans" charset="0"/>
                <a:cs typeface="Gill Sans" charset="0"/>
              </a:endParaRPr>
            </a:p>
          </p:txBody>
        </p:sp>
        <p:sp>
          <p:nvSpPr>
            <p:cNvPr id="34" name="Right Arrow 33">
              <a:extLst>
                <a:ext uri="{FF2B5EF4-FFF2-40B4-BE49-F238E27FC236}">
                  <a16:creationId xmlns:a16="http://schemas.microsoft.com/office/drawing/2014/main" id="{97FB883F-C19C-14D7-B47F-C7A25A441A87}"/>
                </a:ext>
              </a:extLst>
            </p:cNvPr>
            <p:cNvSpPr/>
            <p:nvPr/>
          </p:nvSpPr>
          <p:spPr>
            <a:xfrm>
              <a:off x="7570939" y="4289614"/>
              <a:ext cx="2103244" cy="35544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9FE3EED0-7747-B8AD-0389-35B8CE3F758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738112" y="4647040"/>
              <a:ext cx="1371600" cy="803758"/>
            </a:xfrm>
            <a:prstGeom prst="rect">
              <a:avLst/>
            </a:prstGeom>
          </p:spPr>
        </p:pic>
        <p:sp>
          <p:nvSpPr>
            <p:cNvPr id="93" name="Up Arrow 92">
              <a:extLst>
                <a:ext uri="{FF2B5EF4-FFF2-40B4-BE49-F238E27FC236}">
                  <a16:creationId xmlns:a16="http://schemas.microsoft.com/office/drawing/2014/main" id="{EFED0479-3FF3-3A49-09D3-D8A5409D4764}"/>
                </a:ext>
              </a:extLst>
            </p:cNvPr>
            <p:cNvSpPr/>
            <p:nvPr/>
          </p:nvSpPr>
          <p:spPr>
            <a:xfrm>
              <a:off x="7992816" y="3327148"/>
              <a:ext cx="390292" cy="743764"/>
            </a:xfrm>
            <a:prstGeom prs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ight Arrow 93">
              <a:extLst>
                <a:ext uri="{FF2B5EF4-FFF2-40B4-BE49-F238E27FC236}">
                  <a16:creationId xmlns:a16="http://schemas.microsoft.com/office/drawing/2014/main" id="{C1778AC2-2353-13CC-D5FA-DCCDCBAC1710}"/>
                </a:ext>
              </a:extLst>
            </p:cNvPr>
            <p:cNvSpPr/>
            <p:nvPr/>
          </p:nvSpPr>
          <p:spPr>
            <a:xfrm>
              <a:off x="8091197" y="3846654"/>
              <a:ext cx="1580009" cy="35544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F5AFF9F2-B484-C15C-76EA-7F97B070EBD5}"/>
                </a:ext>
              </a:extLst>
            </p:cNvPr>
            <p:cNvSpPr txBox="1"/>
            <p:nvPr/>
          </p:nvSpPr>
          <p:spPr>
            <a:xfrm>
              <a:off x="8369074" y="3523176"/>
              <a:ext cx="914033" cy="369332"/>
            </a:xfrm>
            <a:prstGeom prst="rect">
              <a:avLst/>
            </a:prstGeom>
            <a:noFill/>
          </p:spPr>
          <p:txBody>
            <a:bodyPr wrap="none" rtlCol="0">
              <a:spAutoFit/>
            </a:bodyPr>
            <a:lstStyle/>
            <a:p>
              <a:r>
                <a:rPr lang="en-US" dirty="0">
                  <a:latin typeface="Gill Sans" charset="0"/>
                  <a:ea typeface="Gill Sans" charset="0"/>
                  <a:cs typeface="Gill Sans" charset="0"/>
                </a:rPr>
                <a:t>PCIe v6</a:t>
              </a:r>
            </a:p>
          </p:txBody>
        </p:sp>
        <p:sp>
          <p:nvSpPr>
            <p:cNvPr id="97" name="Rectangle 96">
              <a:extLst>
                <a:ext uri="{FF2B5EF4-FFF2-40B4-BE49-F238E27FC236}">
                  <a16:creationId xmlns:a16="http://schemas.microsoft.com/office/drawing/2014/main" id="{A07D1C4D-F900-E9B1-7B7F-148F78AEF6D1}"/>
                </a:ext>
              </a:extLst>
            </p:cNvPr>
            <p:cNvSpPr/>
            <p:nvPr/>
          </p:nvSpPr>
          <p:spPr>
            <a:xfrm>
              <a:off x="6477000" y="1901175"/>
              <a:ext cx="4795024" cy="413346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TextBox 105">
              <a:extLst>
                <a:ext uri="{FF2B5EF4-FFF2-40B4-BE49-F238E27FC236}">
                  <a16:creationId xmlns:a16="http://schemas.microsoft.com/office/drawing/2014/main" id="{CBD3DAC4-5B2C-9F25-661B-3A22587C2917}"/>
                </a:ext>
              </a:extLst>
            </p:cNvPr>
            <p:cNvSpPr txBox="1"/>
            <p:nvPr/>
          </p:nvSpPr>
          <p:spPr>
            <a:xfrm>
              <a:off x="7751299" y="4531428"/>
              <a:ext cx="871072" cy="369332"/>
            </a:xfrm>
            <a:prstGeom prst="rect">
              <a:avLst/>
            </a:prstGeom>
            <a:noFill/>
          </p:spPr>
          <p:txBody>
            <a:bodyPr wrap="none" rtlCol="0">
              <a:spAutoFit/>
            </a:bodyPr>
            <a:lstStyle/>
            <a:p>
              <a:r>
                <a:rPr lang="en-US" dirty="0">
                  <a:latin typeface="Gill Sans" charset="0"/>
                  <a:ea typeface="Gill Sans" charset="0"/>
                  <a:cs typeface="Gill Sans" charset="0"/>
                </a:rPr>
                <a:t>SATA 3</a:t>
              </a:r>
            </a:p>
          </p:txBody>
        </p:sp>
        <p:pic>
          <p:nvPicPr>
            <p:cNvPr id="107" name="Picture 106">
              <a:extLst>
                <a:ext uri="{FF2B5EF4-FFF2-40B4-BE49-F238E27FC236}">
                  <a16:creationId xmlns:a16="http://schemas.microsoft.com/office/drawing/2014/main" id="{12F07DEB-1A0B-C0F7-731D-F356FFAD448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945764" y="3538099"/>
              <a:ext cx="914400" cy="914400"/>
            </a:xfrm>
            <a:prstGeom prst="rect">
              <a:avLst/>
            </a:prstGeom>
          </p:spPr>
        </p:pic>
      </p:grpSp>
    </p:spTree>
    <p:extLst>
      <p:ext uri="{BB962C8B-B14F-4D97-AF65-F5344CB8AC3E}">
        <p14:creationId xmlns:p14="http://schemas.microsoft.com/office/powerpoint/2010/main" val="1133241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nodeType="withEffect">
                                  <p:stCondLst>
                                    <p:cond delay="0"/>
                                  </p:stCondLst>
                                  <p:childTnLst>
                                    <p:set>
                                      <p:cBhvr>
                                        <p:cTn id="9" dur="1" fill="hold">
                                          <p:stCondLst>
                                            <p:cond delay="0"/>
                                          </p:stCondLst>
                                        </p:cTn>
                                        <p:tgtEl>
                                          <p:spTgt spid="89"/>
                                        </p:tgtEl>
                                        <p:attrNameLst>
                                          <p:attrName>style.visibility</p:attrName>
                                        </p:attrNameLst>
                                      </p:cBhvr>
                                      <p:to>
                                        <p:strVal val="visible"/>
                                      </p:to>
                                    </p:set>
                                    <p:animEffect transition="in" filter="wipe(left)">
                                      <p:cBhvr>
                                        <p:cTn id="10" dur="500"/>
                                        <p:tgtEl>
                                          <p:spTgt spid="89"/>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9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left)">
                                      <p:cBhvr>
                                        <p:cTn id="1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29C4551-C339-970C-EC36-259158D93326}"/>
              </a:ext>
            </a:extLst>
          </p:cNvPr>
          <p:cNvSpPr>
            <a:spLocks noGrp="1"/>
          </p:cNvSpPr>
          <p:nvPr>
            <p:ph type="title"/>
          </p:nvPr>
        </p:nvSpPr>
        <p:spPr>
          <a:xfrm>
            <a:off x="745672" y="365125"/>
            <a:ext cx="10700657" cy="1325563"/>
          </a:xfrm>
        </p:spPr>
        <p:txBody>
          <a:bodyPr/>
          <a:lstStyle/>
          <a:p>
            <a:r>
              <a:rPr lang="en-US" dirty="0"/>
              <a:t>Vera Rubin NVL72 </a:t>
            </a:r>
            <a:r>
              <a:rPr lang="en-US" dirty="0" err="1"/>
              <a:t>NVLink</a:t>
            </a:r>
            <a:r>
              <a:rPr lang="en-US" dirty="0"/>
              <a:t> All-to-All Topology</a:t>
            </a:r>
          </a:p>
        </p:txBody>
      </p:sp>
      <p:sp>
        <p:nvSpPr>
          <p:cNvPr id="5" name="Date Placeholder 4">
            <a:extLst>
              <a:ext uri="{FF2B5EF4-FFF2-40B4-BE49-F238E27FC236}">
                <a16:creationId xmlns:a16="http://schemas.microsoft.com/office/drawing/2014/main" id="{D73EF636-52D5-D094-6EF3-1B4E0B43EE82}"/>
              </a:ext>
            </a:extLst>
          </p:cNvPr>
          <p:cNvSpPr>
            <a:spLocks noGrp="1"/>
          </p:cNvSpPr>
          <p:nvPr>
            <p:ph type="dt" sz="half" idx="10"/>
          </p:nvPr>
        </p:nvSpPr>
        <p:spPr/>
        <p:txBody>
          <a:bodyPr/>
          <a:lstStyle/>
          <a:p>
            <a:r>
              <a:rPr lang="en-US"/>
              <a:t>1/13/26</a:t>
            </a:r>
          </a:p>
        </p:txBody>
      </p:sp>
      <p:sp>
        <p:nvSpPr>
          <p:cNvPr id="6" name="Footer Placeholder 5">
            <a:extLst>
              <a:ext uri="{FF2B5EF4-FFF2-40B4-BE49-F238E27FC236}">
                <a16:creationId xmlns:a16="http://schemas.microsoft.com/office/drawing/2014/main" id="{EB33F513-0078-6007-1B45-AE98742AB7BE}"/>
              </a:ext>
            </a:extLst>
          </p:cNvPr>
          <p:cNvSpPr>
            <a:spLocks noGrp="1"/>
          </p:cNvSpPr>
          <p:nvPr>
            <p:ph type="ftr" sz="quarter" idx="11"/>
          </p:nvPr>
        </p:nvSpPr>
        <p:spPr/>
        <p:txBody>
          <a:bodyPr/>
          <a:lstStyle/>
          <a:p>
            <a:r>
              <a:rPr lang="en-US"/>
              <a:t>CSE 585 – W26</a:t>
            </a:r>
          </a:p>
        </p:txBody>
      </p:sp>
      <p:sp>
        <p:nvSpPr>
          <p:cNvPr id="7" name="Slide Number Placeholder 6">
            <a:extLst>
              <a:ext uri="{FF2B5EF4-FFF2-40B4-BE49-F238E27FC236}">
                <a16:creationId xmlns:a16="http://schemas.microsoft.com/office/drawing/2014/main" id="{32133610-A81D-0F86-D821-88CF59066111}"/>
              </a:ext>
            </a:extLst>
          </p:cNvPr>
          <p:cNvSpPr>
            <a:spLocks noGrp="1"/>
          </p:cNvSpPr>
          <p:nvPr>
            <p:ph type="sldNum" sz="quarter" idx="12"/>
          </p:nvPr>
        </p:nvSpPr>
        <p:spPr/>
        <p:txBody>
          <a:bodyPr/>
          <a:lstStyle/>
          <a:p>
            <a:fld id="{4EEF9975-6C58-5C4C-8961-54FFA2646BAA}" type="slidenum">
              <a:rPr lang="en-US" smtClean="0"/>
              <a:t>26</a:t>
            </a:fld>
            <a:endParaRPr lang="en-US"/>
          </a:p>
        </p:txBody>
      </p:sp>
      <p:pic>
        <p:nvPicPr>
          <p:cNvPr id="3074" name="Picture 2" descr="Diagram showing a 72-GPU NVL72 rack connected through 36 NVLink 6 switches in an all-to-all topology, illustrating single-hop GPU-to-GPU connectivity across the entire rack.">
            <a:extLst>
              <a:ext uri="{FF2B5EF4-FFF2-40B4-BE49-F238E27FC236}">
                <a16:creationId xmlns:a16="http://schemas.microsoft.com/office/drawing/2014/main" id="{C338D24C-A14A-29C3-5671-1CB366D477B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8093" y="1624885"/>
            <a:ext cx="7023036" cy="429768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39F4419-01F6-0768-71B2-DDEB337F916F}"/>
              </a:ext>
            </a:extLst>
          </p:cNvPr>
          <p:cNvSpPr txBox="1"/>
          <p:nvPr/>
        </p:nvSpPr>
        <p:spPr>
          <a:xfrm>
            <a:off x="2750532" y="5975485"/>
            <a:ext cx="6690937" cy="276999"/>
          </a:xfrm>
          <a:prstGeom prst="rect">
            <a:avLst/>
          </a:prstGeom>
          <a:noFill/>
        </p:spPr>
        <p:txBody>
          <a:bodyPr wrap="square">
            <a:spAutoFit/>
          </a:bodyPr>
          <a:lstStyle/>
          <a:p>
            <a:r>
              <a:rPr lang="en-US" sz="1200" dirty="0">
                <a:solidFill>
                  <a:schemeClr val="bg1">
                    <a:lumMod val="50000"/>
                  </a:schemeClr>
                </a:solidFill>
                <a:latin typeface="Gill Sans Light" panose="020B0302020104020203" pitchFamily="34" charset="-79"/>
                <a:cs typeface="Gill Sans Light" panose="020B0302020104020203" pitchFamily="34" charset="-79"/>
              </a:rPr>
              <a:t>https://</a:t>
            </a:r>
            <a:r>
              <a:rPr lang="en-US" sz="1200" dirty="0" err="1">
                <a:solidFill>
                  <a:schemeClr val="bg1">
                    <a:lumMod val="50000"/>
                  </a:schemeClr>
                </a:solidFill>
                <a:latin typeface="Gill Sans Light" panose="020B0302020104020203" pitchFamily="34" charset="-79"/>
                <a:cs typeface="Gill Sans Light" panose="020B0302020104020203" pitchFamily="34" charset="-79"/>
              </a:rPr>
              <a:t>developer.nvidia.com</a:t>
            </a:r>
            <a:r>
              <a:rPr lang="en-US" sz="1200" dirty="0">
                <a:solidFill>
                  <a:schemeClr val="bg1">
                    <a:lumMod val="50000"/>
                  </a:schemeClr>
                </a:solidFill>
                <a:latin typeface="Gill Sans Light" panose="020B0302020104020203" pitchFamily="34" charset="-79"/>
                <a:cs typeface="Gill Sans Light" panose="020B0302020104020203" pitchFamily="34" charset="-79"/>
              </a:rPr>
              <a:t>/blog/inside-the-nvidia-rubin-platform-six-new-chips-one-ai-supercomputer/</a:t>
            </a:r>
          </a:p>
        </p:txBody>
      </p:sp>
      <p:pic>
        <p:nvPicPr>
          <p:cNvPr id="3076" name="Picture 4" descr="Image of the NVIDIA NVLink 6 Switch showing a chip package alongside key capabilities, including 3.6 terabytes per second of bandwidth per GPU, an ultra-low-latency all-to-all fabric, SHARP in-network compute for FP8 collective acceleration, rack-scale aggregation delivering up to 28.8 TB/s per switch tray and 260 TB/s per NVL72 rack, and a deterministic low-latency switching pipeline optimized for expert routing and collective communication.">
            <a:extLst>
              <a:ext uri="{FF2B5EF4-FFF2-40B4-BE49-F238E27FC236}">
                <a16:creationId xmlns:a16="http://schemas.microsoft.com/office/drawing/2014/main" id="{B5A6EB0D-F656-9FE7-7A6B-5E1EC8CDEB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678" t="24224" r="10268" b="24511"/>
          <a:stretch>
            <a:fillRect/>
          </a:stretch>
        </p:blipFill>
        <p:spPr bwMode="auto">
          <a:xfrm>
            <a:off x="7738461" y="2784457"/>
            <a:ext cx="3975446" cy="2011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595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Datacenter Needs an Operating System</a:t>
            </a:r>
          </a:p>
        </p:txBody>
      </p:sp>
      <p:sp>
        <p:nvSpPr>
          <p:cNvPr id="10" name="Content Placeholder 9"/>
          <p:cNvSpPr>
            <a:spLocks noGrp="1"/>
          </p:cNvSpPr>
          <p:nvPr>
            <p:ph sz="half" idx="1"/>
          </p:nvPr>
        </p:nvSpPr>
        <p:spPr/>
        <p:txBody>
          <a:bodyPr anchor="ctr"/>
          <a:lstStyle/>
          <a:p>
            <a:pPr marL="0" indent="0">
              <a:buNone/>
            </a:pPr>
            <a:r>
              <a:rPr lang="en-US" dirty="0"/>
              <a:t>Datacenter is a collection of</a:t>
            </a:r>
          </a:p>
          <a:p>
            <a:pPr lvl="1"/>
            <a:r>
              <a:rPr lang="en-US" dirty="0"/>
              <a:t>Compute</a:t>
            </a:r>
          </a:p>
          <a:p>
            <a:pPr lvl="1"/>
            <a:r>
              <a:rPr lang="en-US" dirty="0"/>
              <a:t>Memory</a:t>
            </a:r>
          </a:p>
          <a:p>
            <a:pPr lvl="1"/>
            <a:r>
              <a:rPr lang="en-US" dirty="0"/>
              <a:t>All connected by an interconnect</a:t>
            </a:r>
          </a:p>
          <a:p>
            <a:pPr marL="0" indent="0">
              <a:buNone/>
            </a:pPr>
            <a:r>
              <a:rPr lang="en-US" dirty="0"/>
              <a:t>Not unlike a computer</a:t>
            </a:r>
          </a:p>
        </p:txBody>
      </p:sp>
      <p:sp>
        <p:nvSpPr>
          <p:cNvPr id="5" name="Date Placeholder 4"/>
          <p:cNvSpPr>
            <a:spLocks noGrp="1"/>
          </p:cNvSpPr>
          <p:nvPr>
            <p:ph type="dt" sz="half" idx="10"/>
          </p:nvPr>
        </p:nvSpPr>
        <p:spPr/>
        <p:txBody>
          <a:bodyPr/>
          <a:lstStyle/>
          <a:p>
            <a:r>
              <a:rPr lang="en-US"/>
              <a:t>1/13/26</a:t>
            </a:r>
          </a:p>
        </p:txBody>
      </p:sp>
      <p:sp>
        <p:nvSpPr>
          <p:cNvPr id="6" name="Footer Placeholder 5"/>
          <p:cNvSpPr>
            <a:spLocks noGrp="1"/>
          </p:cNvSpPr>
          <p:nvPr>
            <p:ph type="ftr" sz="quarter" idx="11"/>
          </p:nvPr>
        </p:nvSpPr>
        <p:spPr/>
        <p:txBody>
          <a:bodyPr/>
          <a:lstStyle/>
          <a:p>
            <a:r>
              <a:rPr lang="en-US"/>
              <a:t>CSE 585 – W26</a:t>
            </a:r>
          </a:p>
        </p:txBody>
      </p:sp>
      <p:sp>
        <p:nvSpPr>
          <p:cNvPr id="7" name="Slide Number Placeholder 6"/>
          <p:cNvSpPr>
            <a:spLocks noGrp="1"/>
          </p:cNvSpPr>
          <p:nvPr>
            <p:ph type="sldNum" sz="quarter" idx="12"/>
          </p:nvPr>
        </p:nvSpPr>
        <p:spPr/>
        <p:txBody>
          <a:bodyPr/>
          <a:lstStyle/>
          <a:p>
            <a:fld id="{4EEF9975-6C58-5C4C-8961-54FFA2646BAA}" type="slidenum">
              <a:rPr lang="en-US" smtClean="0"/>
              <a:t>27</a:t>
            </a:fld>
            <a:endParaRPr lang="en-US"/>
          </a:p>
        </p:txBody>
      </p:sp>
      <p:sp>
        <p:nvSpPr>
          <p:cNvPr id="3" name="Content Placeholder 2">
            <a:extLst>
              <a:ext uri="{FF2B5EF4-FFF2-40B4-BE49-F238E27FC236}">
                <a16:creationId xmlns:a16="http://schemas.microsoft.com/office/drawing/2014/main" id="{7FB3760C-20F9-0F98-6312-0E22ED5DE940}"/>
              </a:ext>
            </a:extLst>
          </p:cNvPr>
          <p:cNvSpPr>
            <a:spLocks noGrp="1"/>
          </p:cNvSpPr>
          <p:nvPr>
            <p:ph sz="half" idx="2"/>
          </p:nvPr>
        </p:nvSpPr>
        <p:spPr/>
        <p:txBody>
          <a:bodyPr anchor="ctr"/>
          <a:lstStyle/>
          <a:p>
            <a:pPr marL="0" indent="0">
              <a:buNone/>
            </a:pPr>
            <a:r>
              <a:rPr lang="en-US" dirty="0"/>
              <a:t>Some differences</a:t>
            </a:r>
          </a:p>
          <a:p>
            <a:pPr marL="971550" lvl="1" indent="-514350">
              <a:buFont typeface="+mj-lt"/>
              <a:buAutoNum type="arabicPeriod"/>
            </a:pPr>
            <a:r>
              <a:rPr lang="en-US" dirty="0"/>
              <a:t>VERY high level of parallelism</a:t>
            </a:r>
          </a:p>
          <a:p>
            <a:pPr marL="971550" lvl="1" indent="-514350">
              <a:buFont typeface="+mj-lt"/>
              <a:buAutoNum type="arabicPeriod"/>
            </a:pPr>
            <a:r>
              <a:rPr lang="en-US" dirty="0"/>
              <a:t>VERY large scale</a:t>
            </a:r>
          </a:p>
          <a:p>
            <a:pPr marL="971550" lvl="1" indent="-514350">
              <a:buFont typeface="+mj-lt"/>
              <a:buAutoNum type="arabicPeriod"/>
            </a:pPr>
            <a:r>
              <a:rPr lang="en-US" dirty="0"/>
              <a:t>Diversity of workloads</a:t>
            </a:r>
          </a:p>
          <a:p>
            <a:pPr marL="971550" lvl="1" indent="-514350">
              <a:buFont typeface="+mj-lt"/>
              <a:buAutoNum type="arabicPeriod"/>
            </a:pPr>
            <a:r>
              <a:rPr lang="en-US" dirty="0"/>
              <a:t>Resource heterogeneity</a:t>
            </a:r>
          </a:p>
          <a:p>
            <a:pPr marL="971550" lvl="1" indent="-514350">
              <a:buFont typeface="+mj-lt"/>
              <a:buAutoNum type="arabicPeriod"/>
            </a:pPr>
            <a:r>
              <a:rPr lang="en-US" dirty="0"/>
              <a:t>Failure is the norm</a:t>
            </a:r>
          </a:p>
        </p:txBody>
      </p:sp>
    </p:spTree>
    <p:extLst>
      <p:ext uri="{BB962C8B-B14F-4D97-AF65-F5344CB8AC3E}">
        <p14:creationId xmlns:p14="http://schemas.microsoft.com/office/powerpoint/2010/main" val="14844702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Categories of Software</a:t>
            </a:r>
          </a:p>
        </p:txBody>
      </p:sp>
      <p:sp>
        <p:nvSpPr>
          <p:cNvPr id="3" name="Content Placeholder 2"/>
          <p:cNvSpPr>
            <a:spLocks noGrp="1"/>
          </p:cNvSpPr>
          <p:nvPr>
            <p:ph idx="1"/>
          </p:nvPr>
        </p:nvSpPr>
        <p:spPr/>
        <p:txBody>
          <a:bodyPr/>
          <a:lstStyle/>
          <a:p>
            <a:pPr marL="514350" indent="-514350">
              <a:buFont typeface="+mj-lt"/>
              <a:buAutoNum type="arabicPeriod"/>
            </a:pPr>
            <a:r>
              <a:rPr lang="en-US" dirty="0">
                <a:solidFill>
                  <a:schemeClr val="accent2"/>
                </a:solidFill>
              </a:rPr>
              <a:t>Platform-level</a:t>
            </a:r>
          </a:p>
          <a:p>
            <a:pPr lvl="1"/>
            <a:r>
              <a:rPr lang="en-US" dirty="0">
                <a:solidFill>
                  <a:schemeClr val="accent2"/>
                </a:solidFill>
              </a:rPr>
              <a:t>Software firmware that are present in every machine</a:t>
            </a:r>
          </a:p>
          <a:p>
            <a:pPr marL="514350" indent="-514350">
              <a:buFont typeface="+mj-lt"/>
              <a:buAutoNum type="arabicPeriod"/>
            </a:pPr>
            <a:r>
              <a:rPr lang="en-US" dirty="0">
                <a:solidFill>
                  <a:schemeClr val="accent2"/>
                </a:solidFill>
              </a:rPr>
              <a:t>Cluster-level</a:t>
            </a:r>
          </a:p>
          <a:p>
            <a:pPr lvl="1"/>
            <a:r>
              <a:rPr lang="en-US" dirty="0">
                <a:solidFill>
                  <a:schemeClr val="accent2"/>
                </a:solidFill>
              </a:rPr>
              <a:t>Distributed systems to enable everything</a:t>
            </a:r>
          </a:p>
          <a:p>
            <a:pPr marL="514350" indent="-514350">
              <a:buFont typeface="+mj-lt"/>
              <a:buAutoNum type="arabicPeriod"/>
            </a:pPr>
            <a:r>
              <a:rPr lang="en-US" dirty="0"/>
              <a:t>Application-level</a:t>
            </a:r>
          </a:p>
          <a:p>
            <a:pPr lvl="1"/>
            <a:r>
              <a:rPr lang="en-US" dirty="0"/>
              <a:t>User-facing applications built on top</a:t>
            </a:r>
          </a:p>
        </p:txBody>
      </p:sp>
      <p:sp>
        <p:nvSpPr>
          <p:cNvPr id="4" name="Date Placeholder 3"/>
          <p:cNvSpPr>
            <a:spLocks noGrp="1"/>
          </p:cNvSpPr>
          <p:nvPr>
            <p:ph type="dt" sz="half" idx="10"/>
          </p:nvPr>
        </p:nvSpPr>
        <p:spPr/>
        <p:txBody>
          <a:bodyPr/>
          <a:lstStyle/>
          <a:p>
            <a:r>
              <a:rPr lang="en-US"/>
              <a:t>1/13/26</a:t>
            </a:r>
          </a:p>
        </p:txBody>
      </p:sp>
      <p:sp>
        <p:nvSpPr>
          <p:cNvPr id="5" name="Footer Placeholder 4"/>
          <p:cNvSpPr>
            <a:spLocks noGrp="1"/>
          </p:cNvSpPr>
          <p:nvPr>
            <p:ph type="ftr" sz="quarter" idx="11"/>
          </p:nvPr>
        </p:nvSpPr>
        <p:spPr/>
        <p:txBody>
          <a:bodyPr/>
          <a:lstStyle/>
          <a:p>
            <a:r>
              <a:rPr lang="en-US"/>
              <a:t>CSE 585 – W26</a:t>
            </a:r>
          </a:p>
        </p:txBody>
      </p:sp>
      <p:sp>
        <p:nvSpPr>
          <p:cNvPr id="6" name="Slide Number Placeholder 5"/>
          <p:cNvSpPr>
            <a:spLocks noGrp="1"/>
          </p:cNvSpPr>
          <p:nvPr>
            <p:ph type="sldNum" sz="quarter" idx="12"/>
          </p:nvPr>
        </p:nvSpPr>
        <p:spPr/>
        <p:txBody>
          <a:bodyPr/>
          <a:lstStyle/>
          <a:p>
            <a:fld id="{4EEF9975-6C58-5C4C-8961-54FFA2646BAA}" type="slidenum">
              <a:rPr lang="en-US" smtClean="0"/>
              <a:t>28</a:t>
            </a:fld>
            <a:endParaRPr lang="en-US"/>
          </a:p>
        </p:txBody>
      </p:sp>
    </p:spTree>
    <p:extLst>
      <p:ext uri="{BB962C8B-B14F-4D97-AF65-F5344CB8AC3E}">
        <p14:creationId xmlns:p14="http://schemas.microsoft.com/office/powerpoint/2010/main" val="33210563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“Systems” Techniques</a:t>
            </a:r>
          </a:p>
        </p:txBody>
      </p:sp>
      <p:graphicFrame>
        <p:nvGraphicFramePr>
          <p:cNvPr id="7" name="Content Placeholder 6"/>
          <p:cNvGraphicFramePr>
            <a:graphicFrameLocks noGrp="1"/>
          </p:cNvGraphicFramePr>
          <p:nvPr>
            <p:ph idx="1"/>
          </p:nvPr>
        </p:nvGraphicFramePr>
        <p:xfrm>
          <a:off x="838200" y="2120093"/>
          <a:ext cx="10515600" cy="3566160"/>
        </p:xfrm>
        <a:graphic>
          <a:graphicData uri="http://schemas.openxmlformats.org/drawingml/2006/table">
            <a:tbl>
              <a:tblPr firstRow="1" bandRow="1">
                <a:tableStyleId>{5C22544A-7EE6-4342-B048-85BDC9FD1C3A}</a:tableStyleId>
              </a:tblPr>
              <a:tblGrid>
                <a:gridCol w="4229746">
                  <a:extLst>
                    <a:ext uri="{9D8B030D-6E8A-4147-A177-3AD203B41FA5}">
                      <a16:colId xmlns:a16="http://schemas.microsoft.com/office/drawing/2014/main" val="20000"/>
                    </a:ext>
                  </a:extLst>
                </a:gridCol>
                <a:gridCol w="3301139">
                  <a:extLst>
                    <a:ext uri="{9D8B030D-6E8A-4147-A177-3AD203B41FA5}">
                      <a16:colId xmlns:a16="http://schemas.microsoft.com/office/drawing/2014/main" val="20001"/>
                    </a:ext>
                  </a:extLst>
                </a:gridCol>
                <a:gridCol w="2984715">
                  <a:extLst>
                    <a:ext uri="{9D8B030D-6E8A-4147-A177-3AD203B41FA5}">
                      <a16:colId xmlns:a16="http://schemas.microsoft.com/office/drawing/2014/main" val="20002"/>
                    </a:ext>
                  </a:extLst>
                </a:gridCol>
              </a:tblGrid>
              <a:tr h="370840">
                <a:tc>
                  <a:txBody>
                    <a:bodyPr/>
                    <a:lstStyle/>
                    <a:p>
                      <a:r>
                        <a:rPr lang="en-US" sz="2000" b="0" dirty="0">
                          <a:solidFill>
                            <a:schemeClr val="bg1"/>
                          </a:solidFill>
                          <a:latin typeface="Gill Sans" charset="0"/>
                          <a:ea typeface="Gill Sans" charset="0"/>
                          <a:cs typeface="Gill Sans" charset="0"/>
                        </a:rPr>
                        <a:t>Technique</a:t>
                      </a:r>
                    </a:p>
                  </a:txBody>
                  <a:tcPr/>
                </a:tc>
                <a:tc>
                  <a:txBody>
                    <a:bodyPr/>
                    <a:lstStyle/>
                    <a:p>
                      <a:pPr algn="ctr"/>
                      <a:r>
                        <a:rPr lang="en-US" sz="2000" b="0" dirty="0">
                          <a:solidFill>
                            <a:schemeClr val="bg1"/>
                          </a:solidFill>
                          <a:latin typeface="Gill Sans" charset="0"/>
                          <a:ea typeface="Gill Sans" charset="0"/>
                          <a:cs typeface="Gill Sans" charset="0"/>
                        </a:rPr>
                        <a:t>Performance/Efficiency</a:t>
                      </a:r>
                    </a:p>
                  </a:txBody>
                  <a:tcPr/>
                </a:tc>
                <a:tc>
                  <a:txBody>
                    <a:bodyPr/>
                    <a:lstStyle/>
                    <a:p>
                      <a:pPr algn="ctr"/>
                      <a:r>
                        <a:rPr lang="en-US" sz="2000" b="0" dirty="0">
                          <a:solidFill>
                            <a:schemeClr val="bg1"/>
                          </a:solidFill>
                          <a:latin typeface="Gill Sans" charset="0"/>
                          <a:ea typeface="Gill Sans" charset="0"/>
                          <a:cs typeface="Gill Sans" charset="0"/>
                        </a:rPr>
                        <a:t>Availability/Resilience</a:t>
                      </a:r>
                    </a:p>
                  </a:txBody>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Gill Sans" charset="0"/>
                          <a:ea typeface="Gill Sans" charset="0"/>
                          <a:cs typeface="Gill Sans" charset="0"/>
                        </a:rPr>
                        <a:t>Replication &amp; Erasure coding</a:t>
                      </a:r>
                    </a:p>
                  </a:txBody>
                  <a:tcPr/>
                </a:tc>
                <a:tc>
                  <a:txBody>
                    <a:bodyPr/>
                    <a:lstStyle/>
                    <a:p>
                      <a:pPr algn="ctr"/>
                      <a:r>
                        <a:rPr lang="en-US" sz="2000" dirty="0">
                          <a:latin typeface="Gill Sans" charset="0"/>
                          <a:ea typeface="Gill Sans" charset="0"/>
                          <a:cs typeface="Gill Sans" charset="0"/>
                        </a:rPr>
                        <a:t>X</a:t>
                      </a:r>
                    </a:p>
                  </a:txBody>
                  <a:tcPr/>
                </a:tc>
                <a:tc>
                  <a:txBody>
                    <a:bodyPr/>
                    <a:lstStyle/>
                    <a:p>
                      <a:pPr algn="ctr"/>
                      <a:r>
                        <a:rPr lang="en-US" sz="2000" dirty="0">
                          <a:latin typeface="Gill Sans" charset="0"/>
                          <a:ea typeface="Gill Sans" charset="0"/>
                          <a:cs typeface="Gill Sans" charset="0"/>
                        </a:rPr>
                        <a:t>X</a:t>
                      </a:r>
                    </a:p>
                  </a:txBody>
                  <a:tcPr/>
                </a:tc>
                <a:extLst>
                  <a:ext uri="{0D108BD9-81ED-4DB2-BD59-A6C34878D82A}">
                    <a16:rowId xmlns:a16="http://schemas.microsoft.com/office/drawing/2014/main" val="10001"/>
                  </a:ext>
                </a:extLst>
              </a:tr>
              <a:tr h="370840">
                <a:tc>
                  <a:txBody>
                    <a:bodyPr/>
                    <a:lstStyle/>
                    <a:p>
                      <a:r>
                        <a:rPr lang="en-US" sz="2000" dirty="0">
                          <a:latin typeface="Gill Sans" charset="0"/>
                          <a:ea typeface="Gill Sans" charset="0"/>
                          <a:cs typeface="Gill Sans" charset="0"/>
                        </a:rPr>
                        <a:t>Sharding/partitioning</a:t>
                      </a:r>
                    </a:p>
                  </a:txBody>
                  <a:tcPr/>
                </a:tc>
                <a:tc>
                  <a:txBody>
                    <a:bodyPr/>
                    <a:lstStyle/>
                    <a:p>
                      <a:pPr algn="ctr"/>
                      <a:r>
                        <a:rPr lang="en-US" sz="2000" dirty="0">
                          <a:latin typeface="Gill Sans" charset="0"/>
                          <a:ea typeface="Gill Sans" charset="0"/>
                          <a:cs typeface="Gill Sans" charset="0"/>
                        </a:rPr>
                        <a:t>X</a:t>
                      </a:r>
                    </a:p>
                  </a:txBody>
                  <a:tcPr/>
                </a:tc>
                <a:tc>
                  <a:txBody>
                    <a:bodyPr/>
                    <a:lstStyle/>
                    <a:p>
                      <a:pPr algn="ctr"/>
                      <a:r>
                        <a:rPr lang="en-US" sz="2000" dirty="0">
                          <a:latin typeface="Gill Sans" charset="0"/>
                          <a:ea typeface="Gill Sans" charset="0"/>
                          <a:cs typeface="Gill Sans" charset="0"/>
                        </a:rPr>
                        <a:t>X</a:t>
                      </a:r>
                    </a:p>
                  </a:txBody>
                  <a:tcPr/>
                </a:tc>
                <a:extLst>
                  <a:ext uri="{0D108BD9-81ED-4DB2-BD59-A6C34878D82A}">
                    <a16:rowId xmlns:a16="http://schemas.microsoft.com/office/drawing/2014/main" val="10003"/>
                  </a:ext>
                </a:extLst>
              </a:tr>
              <a:tr h="370840">
                <a:tc>
                  <a:txBody>
                    <a:bodyPr/>
                    <a:lstStyle/>
                    <a:p>
                      <a:r>
                        <a:rPr lang="en-US" sz="2000" dirty="0">
                          <a:latin typeface="Gill Sans" charset="0"/>
                          <a:ea typeface="Gill Sans" charset="0"/>
                          <a:cs typeface="Gill Sans" charset="0"/>
                        </a:rPr>
                        <a:t>Scheduling &amp; Load balancing</a:t>
                      </a:r>
                    </a:p>
                  </a:txBody>
                  <a:tcPr/>
                </a:tc>
                <a:tc>
                  <a:txBody>
                    <a:bodyPr/>
                    <a:lstStyle/>
                    <a:p>
                      <a:pPr algn="ctr"/>
                      <a:r>
                        <a:rPr lang="en-US" sz="2000" dirty="0">
                          <a:latin typeface="Gill Sans" charset="0"/>
                          <a:ea typeface="Gill Sans" charset="0"/>
                          <a:cs typeface="Gill Sans" charset="0"/>
                        </a:rPr>
                        <a:t>X</a:t>
                      </a:r>
                    </a:p>
                  </a:txBody>
                  <a:tcPr/>
                </a:tc>
                <a:tc>
                  <a:txBody>
                    <a:bodyPr/>
                    <a:lstStyle/>
                    <a:p>
                      <a:pPr algn="ctr"/>
                      <a:endParaRPr lang="en-US" sz="2000">
                        <a:latin typeface="Gill Sans" charset="0"/>
                        <a:ea typeface="Gill Sans" charset="0"/>
                        <a:cs typeface="Gill Sans" charset="0"/>
                      </a:endParaRPr>
                    </a:p>
                  </a:txBody>
                  <a:tcPr/>
                </a:tc>
                <a:extLst>
                  <a:ext uri="{0D108BD9-81ED-4DB2-BD59-A6C34878D82A}">
                    <a16:rowId xmlns:a16="http://schemas.microsoft.com/office/drawing/2014/main" val="10004"/>
                  </a:ext>
                </a:extLst>
              </a:tr>
              <a:tr h="370840">
                <a:tc>
                  <a:txBody>
                    <a:bodyPr/>
                    <a:lstStyle/>
                    <a:p>
                      <a:r>
                        <a:rPr lang="en-US" sz="2000" dirty="0">
                          <a:latin typeface="Gill Sans" charset="0"/>
                          <a:ea typeface="Gill Sans" charset="0"/>
                          <a:cs typeface="Gill Sans" charset="0"/>
                        </a:rPr>
                        <a:t>Health &amp; Integrity checks</a:t>
                      </a:r>
                    </a:p>
                  </a:txBody>
                  <a:tcPr/>
                </a:tc>
                <a:tc>
                  <a:txBody>
                    <a:bodyPr/>
                    <a:lstStyle/>
                    <a:p>
                      <a:pPr algn="ctr"/>
                      <a:endParaRPr lang="en-US" sz="2000">
                        <a:latin typeface="Gill Sans" charset="0"/>
                        <a:ea typeface="Gill Sans" charset="0"/>
                        <a:cs typeface="Gill Sans" charset="0"/>
                      </a:endParaRPr>
                    </a:p>
                  </a:txBody>
                  <a:tcPr/>
                </a:tc>
                <a:tc>
                  <a:txBody>
                    <a:bodyPr/>
                    <a:lstStyle/>
                    <a:p>
                      <a:pPr algn="ctr"/>
                      <a:r>
                        <a:rPr lang="en-US" sz="2000" dirty="0">
                          <a:latin typeface="Gill Sans" charset="0"/>
                          <a:ea typeface="Gill Sans" charset="0"/>
                          <a:cs typeface="Gill Sans" charset="0"/>
                        </a:rPr>
                        <a:t>X</a:t>
                      </a:r>
                    </a:p>
                  </a:txBody>
                  <a:tcPr/>
                </a:tc>
                <a:extLst>
                  <a:ext uri="{0D108BD9-81ED-4DB2-BD59-A6C34878D82A}">
                    <a16:rowId xmlns:a16="http://schemas.microsoft.com/office/drawing/2014/main" val="10005"/>
                  </a:ext>
                </a:extLst>
              </a:tr>
              <a:tr h="370840">
                <a:tc>
                  <a:txBody>
                    <a:bodyPr/>
                    <a:lstStyle/>
                    <a:p>
                      <a:r>
                        <a:rPr lang="en-US" sz="2000" dirty="0">
                          <a:latin typeface="Gill Sans" charset="0"/>
                          <a:ea typeface="Gill Sans" charset="0"/>
                          <a:cs typeface="Gill Sans" charset="0"/>
                        </a:rPr>
                        <a:t>Compression &amp; Quantization</a:t>
                      </a:r>
                    </a:p>
                  </a:txBody>
                  <a:tcPr/>
                </a:tc>
                <a:tc>
                  <a:txBody>
                    <a:bodyPr/>
                    <a:lstStyle/>
                    <a:p>
                      <a:pPr algn="ctr"/>
                      <a:r>
                        <a:rPr lang="en-US" sz="2000" dirty="0">
                          <a:latin typeface="Gill Sans" charset="0"/>
                          <a:ea typeface="Gill Sans" charset="0"/>
                          <a:cs typeface="Gill Sans" charset="0"/>
                        </a:rPr>
                        <a:t>X</a:t>
                      </a:r>
                    </a:p>
                  </a:txBody>
                  <a:tcPr/>
                </a:tc>
                <a:tc>
                  <a:txBody>
                    <a:bodyPr/>
                    <a:lstStyle/>
                    <a:p>
                      <a:pPr algn="ctr"/>
                      <a:endParaRPr lang="en-US" sz="2000" dirty="0">
                        <a:latin typeface="Gill Sans" charset="0"/>
                        <a:ea typeface="Gill Sans" charset="0"/>
                        <a:cs typeface="Gill Sans" charset="0"/>
                      </a:endParaRPr>
                    </a:p>
                  </a:txBody>
                  <a:tcPr/>
                </a:tc>
                <a:extLst>
                  <a:ext uri="{0D108BD9-81ED-4DB2-BD59-A6C34878D82A}">
                    <a16:rowId xmlns:a16="http://schemas.microsoft.com/office/drawing/2014/main" val="10007"/>
                  </a:ext>
                </a:extLst>
              </a:tr>
              <a:tr h="370840">
                <a:tc>
                  <a:txBody>
                    <a:bodyPr/>
                    <a:lstStyle/>
                    <a:p>
                      <a:r>
                        <a:rPr lang="en-US" sz="2000" dirty="0">
                          <a:latin typeface="Gill Sans" charset="0"/>
                          <a:ea typeface="Gill Sans" charset="0"/>
                          <a:cs typeface="Gill Sans" charset="0"/>
                        </a:rPr>
                        <a:t>Centralized controller</a:t>
                      </a:r>
                    </a:p>
                  </a:txBody>
                  <a:tcPr/>
                </a:tc>
                <a:tc>
                  <a:txBody>
                    <a:bodyPr/>
                    <a:lstStyle/>
                    <a:p>
                      <a:pPr algn="ctr"/>
                      <a:r>
                        <a:rPr lang="en-US" sz="2000" dirty="0">
                          <a:latin typeface="Gill Sans" charset="0"/>
                          <a:ea typeface="Gill Sans" charset="0"/>
                          <a:cs typeface="Gill Sans" charset="0"/>
                        </a:rPr>
                        <a:t>X</a:t>
                      </a:r>
                    </a:p>
                  </a:txBody>
                  <a:tcPr/>
                </a:tc>
                <a:tc>
                  <a:txBody>
                    <a:bodyPr/>
                    <a:lstStyle/>
                    <a:p>
                      <a:pPr algn="ctr"/>
                      <a:endParaRPr lang="en-US" sz="2000" dirty="0">
                        <a:latin typeface="Gill Sans" charset="0"/>
                        <a:ea typeface="Gill Sans" charset="0"/>
                        <a:cs typeface="Gill Sans" charset="0"/>
                      </a:endParaRPr>
                    </a:p>
                  </a:txBody>
                  <a:tcPr/>
                </a:tc>
                <a:extLst>
                  <a:ext uri="{0D108BD9-81ED-4DB2-BD59-A6C34878D82A}">
                    <a16:rowId xmlns:a16="http://schemas.microsoft.com/office/drawing/2014/main" val="10009"/>
                  </a:ext>
                </a:extLst>
              </a:tr>
              <a:tr h="370840">
                <a:tc>
                  <a:txBody>
                    <a:bodyPr/>
                    <a:lstStyle/>
                    <a:p>
                      <a:r>
                        <a:rPr lang="en-US" sz="2000" dirty="0">
                          <a:latin typeface="Gill Sans" charset="0"/>
                          <a:ea typeface="Gill Sans" charset="0"/>
                          <a:cs typeface="Gill Sans" charset="0"/>
                        </a:rPr>
                        <a:t>Canaries</a:t>
                      </a:r>
                    </a:p>
                  </a:txBody>
                  <a:tcPr/>
                </a:tc>
                <a:tc>
                  <a:txBody>
                    <a:bodyPr/>
                    <a:lstStyle/>
                    <a:p>
                      <a:pPr algn="ctr"/>
                      <a:endParaRPr lang="en-US" sz="2000" dirty="0">
                        <a:latin typeface="Gill Sans" charset="0"/>
                        <a:ea typeface="Gill Sans" charset="0"/>
                        <a:cs typeface="Gill Sans" charset="0"/>
                      </a:endParaRPr>
                    </a:p>
                  </a:txBody>
                  <a:tcPr/>
                </a:tc>
                <a:tc>
                  <a:txBody>
                    <a:bodyPr/>
                    <a:lstStyle/>
                    <a:p>
                      <a:pPr algn="ctr"/>
                      <a:r>
                        <a:rPr lang="en-US" sz="2000" dirty="0">
                          <a:latin typeface="Gill Sans" charset="0"/>
                          <a:ea typeface="Gill Sans" charset="0"/>
                          <a:cs typeface="Gill Sans" charset="0"/>
                        </a:rPr>
                        <a:t>X</a:t>
                      </a:r>
                    </a:p>
                  </a:txBody>
                  <a:tcPr/>
                </a:tc>
                <a:extLst>
                  <a:ext uri="{0D108BD9-81ED-4DB2-BD59-A6C34878D82A}">
                    <a16:rowId xmlns:a16="http://schemas.microsoft.com/office/drawing/2014/main" val="10010"/>
                  </a:ext>
                </a:extLst>
              </a:tr>
              <a:tr h="370840">
                <a:tc>
                  <a:txBody>
                    <a:bodyPr/>
                    <a:lstStyle/>
                    <a:p>
                      <a:r>
                        <a:rPr lang="en-US" sz="2000" dirty="0">
                          <a:latin typeface="Gill Sans" charset="0"/>
                          <a:ea typeface="Gill Sans" charset="0"/>
                          <a:cs typeface="Gill Sans" charset="0"/>
                        </a:rPr>
                        <a:t>Speculation &amp; Redundant execution</a:t>
                      </a:r>
                    </a:p>
                  </a:txBody>
                  <a:tcPr/>
                </a:tc>
                <a:tc>
                  <a:txBody>
                    <a:bodyPr/>
                    <a:lstStyle/>
                    <a:p>
                      <a:pPr algn="ctr"/>
                      <a:r>
                        <a:rPr lang="en-US" sz="2000" dirty="0">
                          <a:latin typeface="Gill Sans" charset="0"/>
                          <a:ea typeface="Gill Sans" charset="0"/>
                          <a:cs typeface="Gill Sans" charset="0"/>
                        </a:rPr>
                        <a:t>X</a:t>
                      </a:r>
                    </a:p>
                  </a:txBody>
                  <a:tcPr/>
                </a:tc>
                <a:tc>
                  <a:txBody>
                    <a:bodyPr/>
                    <a:lstStyle/>
                    <a:p>
                      <a:pPr algn="ctr"/>
                      <a:endParaRPr lang="en-US" sz="2000" dirty="0">
                        <a:latin typeface="Gill Sans" charset="0"/>
                        <a:ea typeface="Gill Sans" charset="0"/>
                        <a:cs typeface="Gill Sans" charset="0"/>
                      </a:endParaRPr>
                    </a:p>
                  </a:txBody>
                  <a:tcPr/>
                </a:tc>
                <a:extLst>
                  <a:ext uri="{0D108BD9-81ED-4DB2-BD59-A6C34878D82A}">
                    <a16:rowId xmlns:a16="http://schemas.microsoft.com/office/drawing/2014/main" val="10011"/>
                  </a:ext>
                </a:extLst>
              </a:tr>
            </a:tbl>
          </a:graphicData>
        </a:graphic>
      </p:graphicFrame>
      <p:sp>
        <p:nvSpPr>
          <p:cNvPr id="4" name="Date Placeholder 3"/>
          <p:cNvSpPr>
            <a:spLocks noGrp="1"/>
          </p:cNvSpPr>
          <p:nvPr>
            <p:ph type="dt" sz="half" idx="10"/>
          </p:nvPr>
        </p:nvSpPr>
        <p:spPr/>
        <p:txBody>
          <a:bodyPr/>
          <a:lstStyle/>
          <a:p>
            <a:r>
              <a:rPr lang="en-US"/>
              <a:t>1/13/26</a:t>
            </a:r>
          </a:p>
        </p:txBody>
      </p:sp>
      <p:sp>
        <p:nvSpPr>
          <p:cNvPr id="5" name="Footer Placeholder 4"/>
          <p:cNvSpPr>
            <a:spLocks noGrp="1"/>
          </p:cNvSpPr>
          <p:nvPr>
            <p:ph type="ftr" sz="quarter" idx="11"/>
          </p:nvPr>
        </p:nvSpPr>
        <p:spPr/>
        <p:txBody>
          <a:bodyPr/>
          <a:lstStyle/>
          <a:p>
            <a:r>
              <a:rPr lang="en-US"/>
              <a:t>CSE 585 – W26</a:t>
            </a:r>
          </a:p>
        </p:txBody>
      </p:sp>
      <p:sp>
        <p:nvSpPr>
          <p:cNvPr id="6" name="Slide Number Placeholder 5"/>
          <p:cNvSpPr>
            <a:spLocks noGrp="1"/>
          </p:cNvSpPr>
          <p:nvPr>
            <p:ph type="sldNum" sz="quarter" idx="12"/>
          </p:nvPr>
        </p:nvSpPr>
        <p:spPr/>
        <p:txBody>
          <a:bodyPr/>
          <a:lstStyle/>
          <a:p>
            <a:fld id="{4EEF9975-6C58-5C4C-8961-54FFA2646BAA}" type="slidenum">
              <a:rPr lang="en-US" smtClean="0"/>
              <a:t>29</a:t>
            </a:fld>
            <a:endParaRPr lang="en-US"/>
          </a:p>
        </p:txBody>
      </p:sp>
    </p:spTree>
    <p:extLst>
      <p:ext uri="{BB962C8B-B14F-4D97-AF65-F5344CB8AC3E}">
        <p14:creationId xmlns:p14="http://schemas.microsoft.com/office/powerpoint/2010/main" val="11262924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Break!</a:t>
            </a:r>
          </a:p>
        </p:txBody>
      </p:sp>
      <p:sp>
        <p:nvSpPr>
          <p:cNvPr id="4" name="Date Placeholder 3"/>
          <p:cNvSpPr>
            <a:spLocks noGrp="1"/>
          </p:cNvSpPr>
          <p:nvPr>
            <p:ph type="dt" sz="half" idx="10"/>
          </p:nvPr>
        </p:nvSpPr>
        <p:spPr/>
        <p:txBody>
          <a:bodyPr/>
          <a:lstStyle/>
          <a:p>
            <a:r>
              <a:rPr lang="en-US"/>
              <a:t>1/13/26</a:t>
            </a:r>
          </a:p>
        </p:txBody>
      </p:sp>
      <p:sp>
        <p:nvSpPr>
          <p:cNvPr id="5" name="Footer Placeholder 4"/>
          <p:cNvSpPr>
            <a:spLocks noGrp="1"/>
          </p:cNvSpPr>
          <p:nvPr>
            <p:ph type="ftr" sz="quarter" idx="11"/>
          </p:nvPr>
        </p:nvSpPr>
        <p:spPr/>
        <p:txBody>
          <a:bodyPr/>
          <a:lstStyle/>
          <a:p>
            <a:r>
              <a:rPr lang="en-US"/>
              <a:t>CSE 585 – W26</a:t>
            </a:r>
          </a:p>
        </p:txBody>
      </p:sp>
      <p:sp>
        <p:nvSpPr>
          <p:cNvPr id="6" name="Slide Number Placeholder 5"/>
          <p:cNvSpPr>
            <a:spLocks noGrp="1"/>
          </p:cNvSpPr>
          <p:nvPr>
            <p:ph type="sldNum" sz="quarter" idx="12"/>
          </p:nvPr>
        </p:nvSpPr>
        <p:spPr/>
        <p:txBody>
          <a:bodyPr/>
          <a:lstStyle/>
          <a:p>
            <a:fld id="{4EEF9975-6C58-5C4C-8961-54FFA2646BAA}" type="slidenum">
              <a:rPr lang="en-US" smtClean="0"/>
              <a:t>30</a:t>
            </a:fld>
            <a:endParaRPr lang="en-US"/>
          </a:p>
        </p:txBody>
      </p:sp>
    </p:spTree>
    <p:extLst>
      <p:ext uri="{BB962C8B-B14F-4D97-AF65-F5344CB8AC3E}">
        <p14:creationId xmlns:p14="http://schemas.microsoft.com/office/powerpoint/2010/main" val="38753128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68DCF-E44C-BC4D-BE45-B1C7E2FCBAD4}"/>
              </a:ext>
            </a:extLst>
          </p:cNvPr>
          <p:cNvSpPr>
            <a:spLocks noGrp="1"/>
          </p:cNvSpPr>
          <p:nvPr>
            <p:ph type="title"/>
          </p:nvPr>
        </p:nvSpPr>
        <p:spPr/>
        <p:txBody>
          <a:bodyPr>
            <a:noAutofit/>
          </a:bodyPr>
          <a:lstStyle/>
          <a:p>
            <a:r>
              <a:rPr lang="en-US" sz="4800" dirty="0"/>
              <a:t>Workload-Centric View</a:t>
            </a:r>
          </a:p>
        </p:txBody>
      </p:sp>
      <p:sp>
        <p:nvSpPr>
          <p:cNvPr id="3" name="Text Placeholder 2">
            <a:extLst>
              <a:ext uri="{FF2B5EF4-FFF2-40B4-BE49-F238E27FC236}">
                <a16:creationId xmlns:a16="http://schemas.microsoft.com/office/drawing/2014/main" id="{11DE08D4-AD2D-2443-A31A-1259C735D719}"/>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8169AEA6-2406-424B-BD1F-E6B7585B6B6E}"/>
              </a:ext>
            </a:extLst>
          </p:cNvPr>
          <p:cNvSpPr>
            <a:spLocks noGrp="1"/>
          </p:cNvSpPr>
          <p:nvPr>
            <p:ph type="dt" sz="half" idx="10"/>
          </p:nvPr>
        </p:nvSpPr>
        <p:spPr/>
        <p:txBody>
          <a:bodyPr/>
          <a:lstStyle/>
          <a:p>
            <a:r>
              <a:rPr lang="en-US"/>
              <a:t>1/13/26</a:t>
            </a:r>
          </a:p>
        </p:txBody>
      </p:sp>
      <p:sp>
        <p:nvSpPr>
          <p:cNvPr id="5" name="Footer Placeholder 4">
            <a:extLst>
              <a:ext uri="{FF2B5EF4-FFF2-40B4-BE49-F238E27FC236}">
                <a16:creationId xmlns:a16="http://schemas.microsoft.com/office/drawing/2014/main" id="{280CA8B3-68D7-A247-8D73-263784A8B218}"/>
              </a:ext>
            </a:extLst>
          </p:cNvPr>
          <p:cNvSpPr>
            <a:spLocks noGrp="1"/>
          </p:cNvSpPr>
          <p:nvPr>
            <p:ph type="ftr" sz="quarter" idx="11"/>
          </p:nvPr>
        </p:nvSpPr>
        <p:spPr/>
        <p:txBody>
          <a:bodyPr/>
          <a:lstStyle/>
          <a:p>
            <a:r>
              <a:rPr lang="en-US"/>
              <a:t>CSE 585 – W26</a:t>
            </a:r>
          </a:p>
        </p:txBody>
      </p:sp>
      <p:sp>
        <p:nvSpPr>
          <p:cNvPr id="6" name="Slide Number Placeholder 5">
            <a:extLst>
              <a:ext uri="{FF2B5EF4-FFF2-40B4-BE49-F238E27FC236}">
                <a16:creationId xmlns:a16="http://schemas.microsoft.com/office/drawing/2014/main" id="{3B218951-B463-6C46-BEF7-9A19E5E33A29}"/>
              </a:ext>
            </a:extLst>
          </p:cNvPr>
          <p:cNvSpPr>
            <a:spLocks noGrp="1"/>
          </p:cNvSpPr>
          <p:nvPr>
            <p:ph type="sldNum" sz="quarter" idx="12"/>
          </p:nvPr>
        </p:nvSpPr>
        <p:spPr/>
        <p:txBody>
          <a:bodyPr/>
          <a:lstStyle/>
          <a:p>
            <a:fld id="{4EEF9975-6C58-5C4C-8961-54FFA2646BAA}" type="slidenum">
              <a:rPr lang="en-US" smtClean="0"/>
              <a:t>31</a:t>
            </a:fld>
            <a:endParaRPr lang="en-US"/>
          </a:p>
        </p:txBody>
      </p:sp>
    </p:spTree>
    <p:extLst>
      <p:ext uri="{BB962C8B-B14F-4D97-AF65-F5344CB8AC3E}">
        <p14:creationId xmlns:p14="http://schemas.microsoft.com/office/powerpoint/2010/main" val="4941181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8B37A9C-0E3F-C7B6-5132-D33DB40D589C}"/>
              </a:ext>
            </a:extLst>
          </p:cNvPr>
          <p:cNvSpPr>
            <a:spLocks noGrp="1"/>
          </p:cNvSpPr>
          <p:nvPr>
            <p:ph type="title"/>
          </p:nvPr>
        </p:nvSpPr>
        <p:spPr/>
        <p:txBody>
          <a:bodyPr/>
          <a:lstStyle/>
          <a:p>
            <a:r>
              <a:rPr lang="en-US" dirty="0"/>
              <a:t>Machine Learning Fleet Efficiency @ Google</a:t>
            </a:r>
          </a:p>
        </p:txBody>
      </p:sp>
      <p:pic>
        <p:nvPicPr>
          <p:cNvPr id="9" name="Content Placeholder 8">
            <a:extLst>
              <a:ext uri="{FF2B5EF4-FFF2-40B4-BE49-F238E27FC236}">
                <a16:creationId xmlns:a16="http://schemas.microsoft.com/office/drawing/2014/main" id="{564B70B2-000F-0EE2-66A5-822758513662}"/>
              </a:ext>
            </a:extLst>
          </p:cNvPr>
          <p:cNvPicPr>
            <a:picLocks noGrp="1" noChangeAspect="1"/>
          </p:cNvPicPr>
          <p:nvPr>
            <p:ph idx="1"/>
          </p:nvPr>
        </p:nvPicPr>
        <p:blipFill>
          <a:blip r:embed="rId2"/>
          <a:stretch>
            <a:fillRect/>
          </a:stretch>
        </p:blipFill>
        <p:spPr>
          <a:xfrm>
            <a:off x="152400" y="2334167"/>
            <a:ext cx="11887200" cy="2745250"/>
          </a:xfrm>
          <a:prstGeom prst="rect">
            <a:avLst/>
          </a:prstGeom>
        </p:spPr>
      </p:pic>
      <p:sp>
        <p:nvSpPr>
          <p:cNvPr id="4" name="Date Placeholder 3">
            <a:extLst>
              <a:ext uri="{FF2B5EF4-FFF2-40B4-BE49-F238E27FC236}">
                <a16:creationId xmlns:a16="http://schemas.microsoft.com/office/drawing/2014/main" id="{EDE72729-130B-C065-D09F-25347D8BE871}"/>
              </a:ext>
            </a:extLst>
          </p:cNvPr>
          <p:cNvSpPr>
            <a:spLocks noGrp="1"/>
          </p:cNvSpPr>
          <p:nvPr>
            <p:ph type="dt" sz="half" idx="10"/>
          </p:nvPr>
        </p:nvSpPr>
        <p:spPr/>
        <p:txBody>
          <a:bodyPr/>
          <a:lstStyle/>
          <a:p>
            <a:r>
              <a:rPr lang="en-US"/>
              <a:t>1/13/26</a:t>
            </a:r>
          </a:p>
        </p:txBody>
      </p:sp>
      <p:sp>
        <p:nvSpPr>
          <p:cNvPr id="5" name="Footer Placeholder 4">
            <a:extLst>
              <a:ext uri="{FF2B5EF4-FFF2-40B4-BE49-F238E27FC236}">
                <a16:creationId xmlns:a16="http://schemas.microsoft.com/office/drawing/2014/main" id="{2473ED10-73AB-D8E9-9A89-8534FF162D40}"/>
              </a:ext>
            </a:extLst>
          </p:cNvPr>
          <p:cNvSpPr>
            <a:spLocks noGrp="1"/>
          </p:cNvSpPr>
          <p:nvPr>
            <p:ph type="ftr" sz="quarter" idx="11"/>
          </p:nvPr>
        </p:nvSpPr>
        <p:spPr/>
        <p:txBody>
          <a:bodyPr/>
          <a:lstStyle/>
          <a:p>
            <a:r>
              <a:rPr lang="en-US"/>
              <a:t>CSE 585 – W26</a:t>
            </a:r>
          </a:p>
        </p:txBody>
      </p:sp>
      <p:sp>
        <p:nvSpPr>
          <p:cNvPr id="6" name="Slide Number Placeholder 5">
            <a:extLst>
              <a:ext uri="{FF2B5EF4-FFF2-40B4-BE49-F238E27FC236}">
                <a16:creationId xmlns:a16="http://schemas.microsoft.com/office/drawing/2014/main" id="{787B6707-B350-CF62-E1C9-ADDE6D6B7562}"/>
              </a:ext>
            </a:extLst>
          </p:cNvPr>
          <p:cNvSpPr>
            <a:spLocks noGrp="1"/>
          </p:cNvSpPr>
          <p:nvPr>
            <p:ph type="sldNum" sz="quarter" idx="12"/>
          </p:nvPr>
        </p:nvSpPr>
        <p:spPr/>
        <p:txBody>
          <a:bodyPr/>
          <a:lstStyle/>
          <a:p>
            <a:fld id="{4EEF9975-6C58-5C4C-8961-54FFA2646BAA}" type="slidenum">
              <a:rPr lang="en-US" smtClean="0"/>
              <a:t>32</a:t>
            </a:fld>
            <a:endParaRPr lang="en-US"/>
          </a:p>
        </p:txBody>
      </p:sp>
    </p:spTree>
    <p:extLst>
      <p:ext uri="{BB962C8B-B14F-4D97-AF65-F5344CB8AC3E}">
        <p14:creationId xmlns:p14="http://schemas.microsoft.com/office/powerpoint/2010/main" val="14947278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9550A-1F06-CBED-6F43-4DB701039D5D}"/>
              </a:ext>
            </a:extLst>
          </p:cNvPr>
          <p:cNvSpPr>
            <a:spLocks noGrp="1"/>
          </p:cNvSpPr>
          <p:nvPr>
            <p:ph type="title"/>
          </p:nvPr>
        </p:nvSpPr>
        <p:spPr/>
        <p:txBody>
          <a:bodyPr/>
          <a:lstStyle/>
          <a:p>
            <a:r>
              <a:rPr lang="en-US" dirty="0"/>
              <a:t>Anatomy of an ML Fleet: </a:t>
            </a:r>
            <a:br>
              <a:rPr lang="en-US" dirty="0"/>
            </a:br>
            <a:r>
              <a:rPr lang="en-US" dirty="0"/>
              <a:t>Hardware and Software Infrastructure</a:t>
            </a:r>
          </a:p>
        </p:txBody>
      </p:sp>
      <p:sp>
        <p:nvSpPr>
          <p:cNvPr id="10" name="Text Placeholder 9">
            <a:extLst>
              <a:ext uri="{FF2B5EF4-FFF2-40B4-BE49-F238E27FC236}">
                <a16:creationId xmlns:a16="http://schemas.microsoft.com/office/drawing/2014/main" id="{2F5930E7-48EE-C154-FDB1-5927F3C7C606}"/>
              </a:ext>
            </a:extLst>
          </p:cNvPr>
          <p:cNvSpPr>
            <a:spLocks noGrp="1"/>
          </p:cNvSpPr>
          <p:nvPr>
            <p:ph type="body" idx="1"/>
          </p:nvPr>
        </p:nvSpPr>
        <p:spPr/>
        <p:txBody>
          <a:bodyPr/>
          <a:lstStyle/>
          <a:p>
            <a:r>
              <a:rPr lang="en-US" dirty="0"/>
              <a:t>Accelerators</a:t>
            </a:r>
          </a:p>
        </p:txBody>
      </p:sp>
      <p:pic>
        <p:nvPicPr>
          <p:cNvPr id="9" name="Content Placeholder 8">
            <a:extLst>
              <a:ext uri="{FF2B5EF4-FFF2-40B4-BE49-F238E27FC236}">
                <a16:creationId xmlns:a16="http://schemas.microsoft.com/office/drawing/2014/main" id="{98BB79F6-A4D5-8861-B3F0-CBAE69B436C3}"/>
              </a:ext>
            </a:extLst>
          </p:cNvPr>
          <p:cNvPicPr>
            <a:picLocks noGrp="1" noChangeAspect="1"/>
          </p:cNvPicPr>
          <p:nvPr>
            <p:ph sz="half" idx="2"/>
          </p:nvPr>
        </p:nvPicPr>
        <p:blipFill>
          <a:blip r:embed="rId2" cstate="screen">
            <a:extLst>
              <a:ext uri="{28A0092B-C50C-407E-A947-70E740481C1C}">
                <a14:useLocalDpi xmlns:a14="http://schemas.microsoft.com/office/drawing/2010/main"/>
              </a:ext>
            </a:extLst>
          </a:blip>
          <a:stretch>
            <a:fillRect/>
          </a:stretch>
        </p:blipFill>
        <p:spPr>
          <a:xfrm>
            <a:off x="839788" y="2831269"/>
            <a:ext cx="5157787" cy="3032199"/>
          </a:xfrm>
          <a:prstGeom prst="rect">
            <a:avLst/>
          </a:prstGeom>
        </p:spPr>
      </p:pic>
      <p:sp>
        <p:nvSpPr>
          <p:cNvPr id="11" name="Text Placeholder 10">
            <a:extLst>
              <a:ext uri="{FF2B5EF4-FFF2-40B4-BE49-F238E27FC236}">
                <a16:creationId xmlns:a16="http://schemas.microsoft.com/office/drawing/2014/main" id="{FF1F007A-1563-E20F-EA49-0ACE8FAA1E21}"/>
              </a:ext>
            </a:extLst>
          </p:cNvPr>
          <p:cNvSpPr>
            <a:spLocks noGrp="1"/>
          </p:cNvSpPr>
          <p:nvPr>
            <p:ph type="body" sz="quarter" idx="3"/>
          </p:nvPr>
        </p:nvSpPr>
        <p:spPr/>
        <p:txBody>
          <a:bodyPr/>
          <a:lstStyle/>
          <a:p>
            <a:r>
              <a:rPr lang="en-US" dirty="0"/>
              <a:t>Scheduler</a:t>
            </a:r>
          </a:p>
        </p:txBody>
      </p:sp>
      <p:pic>
        <p:nvPicPr>
          <p:cNvPr id="13" name="Content Placeholder 12">
            <a:extLst>
              <a:ext uri="{FF2B5EF4-FFF2-40B4-BE49-F238E27FC236}">
                <a16:creationId xmlns:a16="http://schemas.microsoft.com/office/drawing/2014/main" id="{739F4DFE-61BA-4234-2620-A9C78B91B15C}"/>
              </a:ext>
            </a:extLst>
          </p:cNvPr>
          <p:cNvPicPr>
            <a:picLocks noGrp="1" noChangeAspect="1"/>
          </p:cNvPicPr>
          <p:nvPr>
            <p:ph sz="quarter" idx="4"/>
          </p:nvPr>
        </p:nvPicPr>
        <p:blipFill>
          <a:blip r:embed="rId3" cstate="screen">
            <a:extLst>
              <a:ext uri="{28A0092B-C50C-407E-A947-70E740481C1C}">
                <a14:useLocalDpi xmlns:a14="http://schemas.microsoft.com/office/drawing/2010/main"/>
              </a:ext>
            </a:extLst>
          </a:blip>
          <a:stretch>
            <a:fillRect/>
          </a:stretch>
        </p:blipFill>
        <p:spPr>
          <a:xfrm>
            <a:off x="6738793" y="2505075"/>
            <a:ext cx="4050001" cy="3684588"/>
          </a:xfrm>
          <a:prstGeom prst="rect">
            <a:avLst/>
          </a:prstGeom>
        </p:spPr>
      </p:pic>
      <p:sp>
        <p:nvSpPr>
          <p:cNvPr id="4" name="Date Placeholder 3">
            <a:extLst>
              <a:ext uri="{FF2B5EF4-FFF2-40B4-BE49-F238E27FC236}">
                <a16:creationId xmlns:a16="http://schemas.microsoft.com/office/drawing/2014/main" id="{FB6DA508-E6F3-CA4C-24FF-F4E58A37BAE7}"/>
              </a:ext>
            </a:extLst>
          </p:cNvPr>
          <p:cNvSpPr>
            <a:spLocks noGrp="1"/>
          </p:cNvSpPr>
          <p:nvPr>
            <p:ph type="dt" sz="half" idx="10"/>
          </p:nvPr>
        </p:nvSpPr>
        <p:spPr/>
        <p:txBody>
          <a:bodyPr/>
          <a:lstStyle/>
          <a:p>
            <a:r>
              <a:rPr lang="en-US"/>
              <a:t>1/13/26</a:t>
            </a:r>
          </a:p>
        </p:txBody>
      </p:sp>
      <p:sp>
        <p:nvSpPr>
          <p:cNvPr id="5" name="Footer Placeholder 4">
            <a:extLst>
              <a:ext uri="{FF2B5EF4-FFF2-40B4-BE49-F238E27FC236}">
                <a16:creationId xmlns:a16="http://schemas.microsoft.com/office/drawing/2014/main" id="{877DE81D-66FC-C62D-381C-CEC31F587272}"/>
              </a:ext>
            </a:extLst>
          </p:cNvPr>
          <p:cNvSpPr>
            <a:spLocks noGrp="1"/>
          </p:cNvSpPr>
          <p:nvPr>
            <p:ph type="ftr" sz="quarter" idx="11"/>
          </p:nvPr>
        </p:nvSpPr>
        <p:spPr/>
        <p:txBody>
          <a:bodyPr/>
          <a:lstStyle/>
          <a:p>
            <a:r>
              <a:rPr lang="en-US"/>
              <a:t>CSE 585 – W26</a:t>
            </a:r>
          </a:p>
        </p:txBody>
      </p:sp>
      <p:sp>
        <p:nvSpPr>
          <p:cNvPr id="6" name="Slide Number Placeholder 5">
            <a:extLst>
              <a:ext uri="{FF2B5EF4-FFF2-40B4-BE49-F238E27FC236}">
                <a16:creationId xmlns:a16="http://schemas.microsoft.com/office/drawing/2014/main" id="{BBD08A0B-71EE-7231-7E99-31DC1A4A6FF2}"/>
              </a:ext>
            </a:extLst>
          </p:cNvPr>
          <p:cNvSpPr>
            <a:spLocks noGrp="1"/>
          </p:cNvSpPr>
          <p:nvPr>
            <p:ph type="sldNum" sz="quarter" idx="12"/>
          </p:nvPr>
        </p:nvSpPr>
        <p:spPr/>
        <p:txBody>
          <a:bodyPr/>
          <a:lstStyle/>
          <a:p>
            <a:fld id="{4EEF9975-6C58-5C4C-8961-54FFA2646BAA}" type="slidenum">
              <a:rPr lang="en-US" smtClean="0"/>
              <a:t>33</a:t>
            </a:fld>
            <a:endParaRPr lang="en-US"/>
          </a:p>
        </p:txBody>
      </p:sp>
    </p:spTree>
    <p:extLst>
      <p:ext uri="{BB962C8B-B14F-4D97-AF65-F5344CB8AC3E}">
        <p14:creationId xmlns:p14="http://schemas.microsoft.com/office/powerpoint/2010/main" val="1097755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85292-7C2B-8B65-CEC8-94DEAF422886}"/>
              </a:ext>
            </a:extLst>
          </p:cNvPr>
          <p:cNvSpPr>
            <a:spLocks noGrp="1"/>
          </p:cNvSpPr>
          <p:nvPr>
            <p:ph type="title"/>
          </p:nvPr>
        </p:nvSpPr>
        <p:spPr/>
        <p:txBody>
          <a:bodyPr/>
          <a:lstStyle/>
          <a:p>
            <a:r>
              <a:rPr lang="en-US" dirty="0"/>
              <a:t>Anatomy of an ML Fleet:</a:t>
            </a:r>
            <a:br>
              <a:rPr lang="en-US" dirty="0"/>
            </a:br>
            <a:r>
              <a:rPr lang="en-US" dirty="0"/>
              <a:t>Programming</a:t>
            </a:r>
          </a:p>
        </p:txBody>
      </p:sp>
      <p:sp>
        <p:nvSpPr>
          <p:cNvPr id="3" name="Text Placeholder 2">
            <a:extLst>
              <a:ext uri="{FF2B5EF4-FFF2-40B4-BE49-F238E27FC236}">
                <a16:creationId xmlns:a16="http://schemas.microsoft.com/office/drawing/2014/main" id="{DE745B2A-E7CC-F847-302B-1A825607FB92}"/>
              </a:ext>
            </a:extLst>
          </p:cNvPr>
          <p:cNvSpPr>
            <a:spLocks noGrp="1"/>
          </p:cNvSpPr>
          <p:nvPr>
            <p:ph type="body" idx="1"/>
          </p:nvPr>
        </p:nvSpPr>
        <p:spPr/>
        <p:txBody>
          <a:bodyPr/>
          <a:lstStyle/>
          <a:p>
            <a:r>
              <a:rPr lang="en-US" dirty="0"/>
              <a:t>Runtime/Compiler</a:t>
            </a:r>
          </a:p>
        </p:txBody>
      </p:sp>
      <p:pic>
        <p:nvPicPr>
          <p:cNvPr id="10" name="Content Placeholder 9">
            <a:extLst>
              <a:ext uri="{FF2B5EF4-FFF2-40B4-BE49-F238E27FC236}">
                <a16:creationId xmlns:a16="http://schemas.microsoft.com/office/drawing/2014/main" id="{22F28387-2A90-B7ED-4B78-3CCC3F74B8EB}"/>
              </a:ext>
            </a:extLst>
          </p:cNvPr>
          <p:cNvPicPr>
            <a:picLocks noGrp="1" noChangeAspect="1"/>
          </p:cNvPicPr>
          <p:nvPr>
            <p:ph sz="half" idx="2"/>
          </p:nvPr>
        </p:nvPicPr>
        <p:blipFill>
          <a:blip r:embed="rId2" cstate="screen">
            <a:extLst>
              <a:ext uri="{28A0092B-C50C-407E-A947-70E740481C1C}">
                <a14:useLocalDpi xmlns:a14="http://schemas.microsoft.com/office/drawing/2010/main"/>
              </a:ext>
            </a:extLst>
          </a:blip>
          <a:stretch>
            <a:fillRect/>
          </a:stretch>
        </p:blipFill>
        <p:spPr>
          <a:xfrm>
            <a:off x="839788" y="2577078"/>
            <a:ext cx="5157787" cy="3540581"/>
          </a:xfrm>
          <a:prstGeom prst="rect">
            <a:avLst/>
          </a:prstGeom>
        </p:spPr>
      </p:pic>
      <p:sp>
        <p:nvSpPr>
          <p:cNvPr id="5" name="Text Placeholder 4">
            <a:extLst>
              <a:ext uri="{FF2B5EF4-FFF2-40B4-BE49-F238E27FC236}">
                <a16:creationId xmlns:a16="http://schemas.microsoft.com/office/drawing/2014/main" id="{683295E4-5945-F7D9-44D0-1C50180123A7}"/>
              </a:ext>
            </a:extLst>
          </p:cNvPr>
          <p:cNvSpPr>
            <a:spLocks noGrp="1"/>
          </p:cNvSpPr>
          <p:nvPr>
            <p:ph type="body" sz="quarter" idx="3"/>
          </p:nvPr>
        </p:nvSpPr>
        <p:spPr/>
        <p:txBody>
          <a:bodyPr/>
          <a:lstStyle/>
          <a:p>
            <a:r>
              <a:rPr lang="en-US" dirty="0"/>
              <a:t>Frameworks</a:t>
            </a:r>
          </a:p>
        </p:txBody>
      </p:sp>
      <p:pic>
        <p:nvPicPr>
          <p:cNvPr id="11" name="Content Placeholder 10">
            <a:extLst>
              <a:ext uri="{FF2B5EF4-FFF2-40B4-BE49-F238E27FC236}">
                <a16:creationId xmlns:a16="http://schemas.microsoft.com/office/drawing/2014/main" id="{1CD2AD55-C307-A585-7F6B-6743F158ED40}"/>
              </a:ext>
            </a:extLst>
          </p:cNvPr>
          <p:cNvPicPr>
            <a:picLocks noGrp="1" noChangeAspect="1"/>
          </p:cNvPicPr>
          <p:nvPr>
            <p:ph sz="quarter" idx="4"/>
          </p:nvPr>
        </p:nvPicPr>
        <p:blipFill>
          <a:blip r:embed="rId3" cstate="screen">
            <a:extLst>
              <a:ext uri="{28A0092B-C50C-407E-A947-70E740481C1C}">
                <a14:useLocalDpi xmlns:a14="http://schemas.microsoft.com/office/drawing/2010/main"/>
              </a:ext>
            </a:extLst>
          </a:blip>
          <a:stretch>
            <a:fillRect/>
          </a:stretch>
        </p:blipFill>
        <p:spPr>
          <a:xfrm>
            <a:off x="6607987" y="2505075"/>
            <a:ext cx="4311614" cy="3684588"/>
          </a:xfrm>
          <a:prstGeom prst="rect">
            <a:avLst/>
          </a:prstGeom>
        </p:spPr>
      </p:pic>
      <p:sp>
        <p:nvSpPr>
          <p:cNvPr id="7" name="Date Placeholder 6">
            <a:extLst>
              <a:ext uri="{FF2B5EF4-FFF2-40B4-BE49-F238E27FC236}">
                <a16:creationId xmlns:a16="http://schemas.microsoft.com/office/drawing/2014/main" id="{3CE8E0A6-75F4-37C9-B2EA-94254987ECEB}"/>
              </a:ext>
            </a:extLst>
          </p:cNvPr>
          <p:cNvSpPr>
            <a:spLocks noGrp="1"/>
          </p:cNvSpPr>
          <p:nvPr>
            <p:ph type="dt" sz="half" idx="10"/>
          </p:nvPr>
        </p:nvSpPr>
        <p:spPr/>
        <p:txBody>
          <a:bodyPr/>
          <a:lstStyle/>
          <a:p>
            <a:r>
              <a:rPr lang="en-US"/>
              <a:t>1/13/26</a:t>
            </a:r>
          </a:p>
        </p:txBody>
      </p:sp>
      <p:sp>
        <p:nvSpPr>
          <p:cNvPr id="8" name="Footer Placeholder 7">
            <a:extLst>
              <a:ext uri="{FF2B5EF4-FFF2-40B4-BE49-F238E27FC236}">
                <a16:creationId xmlns:a16="http://schemas.microsoft.com/office/drawing/2014/main" id="{681C913A-40F1-E061-3CF7-FE1C918DA081}"/>
              </a:ext>
            </a:extLst>
          </p:cNvPr>
          <p:cNvSpPr>
            <a:spLocks noGrp="1"/>
          </p:cNvSpPr>
          <p:nvPr>
            <p:ph type="ftr" sz="quarter" idx="11"/>
          </p:nvPr>
        </p:nvSpPr>
        <p:spPr/>
        <p:txBody>
          <a:bodyPr/>
          <a:lstStyle/>
          <a:p>
            <a:r>
              <a:rPr lang="en-US"/>
              <a:t>CSE 585 – W26</a:t>
            </a:r>
          </a:p>
        </p:txBody>
      </p:sp>
      <p:sp>
        <p:nvSpPr>
          <p:cNvPr id="9" name="Slide Number Placeholder 8">
            <a:extLst>
              <a:ext uri="{FF2B5EF4-FFF2-40B4-BE49-F238E27FC236}">
                <a16:creationId xmlns:a16="http://schemas.microsoft.com/office/drawing/2014/main" id="{43423A1E-2A8F-B990-9759-12AE773759E6}"/>
              </a:ext>
            </a:extLst>
          </p:cNvPr>
          <p:cNvSpPr>
            <a:spLocks noGrp="1"/>
          </p:cNvSpPr>
          <p:nvPr>
            <p:ph type="sldNum" sz="quarter" idx="12"/>
          </p:nvPr>
        </p:nvSpPr>
        <p:spPr/>
        <p:txBody>
          <a:bodyPr/>
          <a:lstStyle/>
          <a:p>
            <a:fld id="{4EEF9975-6C58-5C4C-8961-54FFA2646BAA}" type="slidenum">
              <a:rPr lang="en-US" smtClean="0"/>
              <a:t>34</a:t>
            </a:fld>
            <a:endParaRPr lang="en-US"/>
          </a:p>
        </p:txBody>
      </p:sp>
    </p:spTree>
    <p:extLst>
      <p:ext uri="{BB962C8B-B14F-4D97-AF65-F5344CB8AC3E}">
        <p14:creationId xmlns:p14="http://schemas.microsoft.com/office/powerpoint/2010/main" val="582276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DAF04-1597-2534-F854-984CDAC17152}"/>
              </a:ext>
            </a:extLst>
          </p:cNvPr>
          <p:cNvSpPr>
            <a:spLocks noGrp="1"/>
          </p:cNvSpPr>
          <p:nvPr>
            <p:ph type="title"/>
          </p:nvPr>
        </p:nvSpPr>
        <p:spPr/>
        <p:txBody>
          <a:bodyPr/>
          <a:lstStyle/>
          <a:p>
            <a:r>
              <a:rPr lang="en-US" dirty="0"/>
              <a:t>Anatomy of an ML Fleet:</a:t>
            </a:r>
            <a:br>
              <a:rPr lang="en-US" dirty="0"/>
            </a:br>
            <a:r>
              <a:rPr lang="en-US" dirty="0"/>
              <a:t>Workloads</a:t>
            </a:r>
          </a:p>
        </p:txBody>
      </p:sp>
      <p:sp>
        <p:nvSpPr>
          <p:cNvPr id="12" name="Text Placeholder 11">
            <a:extLst>
              <a:ext uri="{FF2B5EF4-FFF2-40B4-BE49-F238E27FC236}">
                <a16:creationId xmlns:a16="http://schemas.microsoft.com/office/drawing/2014/main" id="{1B45B05C-4C77-E7E4-CB37-D2B751ED94EF}"/>
              </a:ext>
            </a:extLst>
          </p:cNvPr>
          <p:cNvSpPr>
            <a:spLocks noGrp="1"/>
          </p:cNvSpPr>
          <p:nvPr>
            <p:ph type="body" idx="1"/>
          </p:nvPr>
        </p:nvSpPr>
        <p:spPr/>
        <p:txBody>
          <a:bodyPr/>
          <a:lstStyle/>
          <a:p>
            <a:r>
              <a:rPr lang="en-US" dirty="0"/>
              <a:t>Model</a:t>
            </a:r>
          </a:p>
        </p:txBody>
      </p:sp>
      <p:sp>
        <p:nvSpPr>
          <p:cNvPr id="13" name="Content Placeholder 12">
            <a:extLst>
              <a:ext uri="{FF2B5EF4-FFF2-40B4-BE49-F238E27FC236}">
                <a16:creationId xmlns:a16="http://schemas.microsoft.com/office/drawing/2014/main" id="{9765966F-29C3-4D2F-334E-81F31DAEA271}"/>
              </a:ext>
            </a:extLst>
          </p:cNvPr>
          <p:cNvSpPr>
            <a:spLocks noGrp="1"/>
          </p:cNvSpPr>
          <p:nvPr>
            <p:ph sz="half" idx="2"/>
          </p:nvPr>
        </p:nvSpPr>
        <p:spPr/>
        <p:txBody>
          <a:bodyPr/>
          <a:lstStyle/>
          <a:p>
            <a:r>
              <a:rPr lang="en-US" dirty="0"/>
              <a:t>Drives computation demands and patterns, both over time and spatially</a:t>
            </a:r>
          </a:p>
          <a:p>
            <a:r>
              <a:rPr lang="en-US" dirty="0"/>
              <a:t>Changes frequently as new models, training paradigms, etc. emerge and become popular</a:t>
            </a:r>
          </a:p>
          <a:p>
            <a:endParaRPr lang="en-US" dirty="0"/>
          </a:p>
        </p:txBody>
      </p:sp>
      <p:sp>
        <p:nvSpPr>
          <p:cNvPr id="14" name="Text Placeholder 13">
            <a:extLst>
              <a:ext uri="{FF2B5EF4-FFF2-40B4-BE49-F238E27FC236}">
                <a16:creationId xmlns:a16="http://schemas.microsoft.com/office/drawing/2014/main" id="{BCFC5E17-6010-936F-F9BD-D154188DF9B7}"/>
              </a:ext>
            </a:extLst>
          </p:cNvPr>
          <p:cNvSpPr>
            <a:spLocks noGrp="1"/>
          </p:cNvSpPr>
          <p:nvPr>
            <p:ph type="body" sz="quarter" idx="3"/>
          </p:nvPr>
        </p:nvSpPr>
        <p:spPr/>
        <p:txBody>
          <a:bodyPr/>
          <a:lstStyle/>
          <a:p>
            <a:r>
              <a:rPr lang="en-US" dirty="0"/>
              <a:t>Data</a:t>
            </a:r>
          </a:p>
        </p:txBody>
      </p:sp>
      <p:sp>
        <p:nvSpPr>
          <p:cNvPr id="15" name="Content Placeholder 14">
            <a:extLst>
              <a:ext uri="{FF2B5EF4-FFF2-40B4-BE49-F238E27FC236}">
                <a16:creationId xmlns:a16="http://schemas.microsoft.com/office/drawing/2014/main" id="{3A50D0D0-6BA2-188B-809F-5A3C42F5744E}"/>
              </a:ext>
            </a:extLst>
          </p:cNvPr>
          <p:cNvSpPr>
            <a:spLocks noGrp="1"/>
          </p:cNvSpPr>
          <p:nvPr>
            <p:ph sz="quarter" idx="4"/>
          </p:nvPr>
        </p:nvSpPr>
        <p:spPr/>
        <p:txBody>
          <a:bodyPr/>
          <a:lstStyle/>
          <a:p>
            <a:r>
              <a:rPr lang="en-US" dirty="0"/>
              <a:t>Data pipeline/IO (system memory, storage, networking) can easily bottleneck the overall fleet</a:t>
            </a:r>
          </a:p>
          <a:p>
            <a:r>
              <a:rPr lang="en-US" dirty="0"/>
              <a:t>Both quality and quantity matters</a:t>
            </a:r>
          </a:p>
          <a:p>
            <a:r>
              <a:rPr lang="en-US" dirty="0"/>
              <a:t>Both pre- and post-processing matters</a:t>
            </a:r>
          </a:p>
        </p:txBody>
      </p:sp>
      <p:sp>
        <p:nvSpPr>
          <p:cNvPr id="7" name="Date Placeholder 6">
            <a:extLst>
              <a:ext uri="{FF2B5EF4-FFF2-40B4-BE49-F238E27FC236}">
                <a16:creationId xmlns:a16="http://schemas.microsoft.com/office/drawing/2014/main" id="{E73AB024-E795-161A-3F45-6C93B10789DE}"/>
              </a:ext>
            </a:extLst>
          </p:cNvPr>
          <p:cNvSpPr>
            <a:spLocks noGrp="1"/>
          </p:cNvSpPr>
          <p:nvPr>
            <p:ph type="dt" sz="half" idx="10"/>
          </p:nvPr>
        </p:nvSpPr>
        <p:spPr/>
        <p:txBody>
          <a:bodyPr/>
          <a:lstStyle/>
          <a:p>
            <a:r>
              <a:rPr lang="en-US"/>
              <a:t>1/13/26</a:t>
            </a:r>
          </a:p>
        </p:txBody>
      </p:sp>
      <p:sp>
        <p:nvSpPr>
          <p:cNvPr id="8" name="Footer Placeholder 7">
            <a:extLst>
              <a:ext uri="{FF2B5EF4-FFF2-40B4-BE49-F238E27FC236}">
                <a16:creationId xmlns:a16="http://schemas.microsoft.com/office/drawing/2014/main" id="{6BF8F116-6F72-4CB6-76CC-6613FB7971BA}"/>
              </a:ext>
            </a:extLst>
          </p:cNvPr>
          <p:cNvSpPr>
            <a:spLocks noGrp="1"/>
          </p:cNvSpPr>
          <p:nvPr>
            <p:ph type="ftr" sz="quarter" idx="11"/>
          </p:nvPr>
        </p:nvSpPr>
        <p:spPr/>
        <p:txBody>
          <a:bodyPr/>
          <a:lstStyle/>
          <a:p>
            <a:r>
              <a:rPr lang="en-US"/>
              <a:t>CSE 585 – W26</a:t>
            </a:r>
          </a:p>
        </p:txBody>
      </p:sp>
      <p:sp>
        <p:nvSpPr>
          <p:cNvPr id="9" name="Slide Number Placeholder 8">
            <a:extLst>
              <a:ext uri="{FF2B5EF4-FFF2-40B4-BE49-F238E27FC236}">
                <a16:creationId xmlns:a16="http://schemas.microsoft.com/office/drawing/2014/main" id="{03F94BF0-1422-5967-F430-F6E4D2C428E1}"/>
              </a:ext>
            </a:extLst>
          </p:cNvPr>
          <p:cNvSpPr>
            <a:spLocks noGrp="1"/>
          </p:cNvSpPr>
          <p:nvPr>
            <p:ph type="sldNum" sz="quarter" idx="12"/>
          </p:nvPr>
        </p:nvSpPr>
        <p:spPr/>
        <p:txBody>
          <a:bodyPr/>
          <a:lstStyle/>
          <a:p>
            <a:fld id="{4EEF9975-6C58-5C4C-8961-54FFA2646BAA}" type="slidenum">
              <a:rPr lang="en-US" smtClean="0"/>
              <a:t>35</a:t>
            </a:fld>
            <a:endParaRPr lang="en-US"/>
          </a:p>
        </p:txBody>
      </p:sp>
    </p:spTree>
    <p:extLst>
      <p:ext uri="{BB962C8B-B14F-4D97-AF65-F5344CB8AC3E}">
        <p14:creationId xmlns:p14="http://schemas.microsoft.com/office/powerpoint/2010/main" val="33681018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DEB67-FF10-C671-850F-A38143475911}"/>
              </a:ext>
            </a:extLst>
          </p:cNvPr>
          <p:cNvSpPr>
            <a:spLocks noGrp="1"/>
          </p:cNvSpPr>
          <p:nvPr>
            <p:ph type="title"/>
          </p:nvPr>
        </p:nvSpPr>
        <p:spPr/>
        <p:txBody>
          <a:bodyPr/>
          <a:lstStyle/>
          <a:p>
            <a:r>
              <a:rPr lang="en-US" dirty="0"/>
              <a:t>MPG: ML Productivity Goodput</a:t>
            </a:r>
          </a:p>
        </p:txBody>
      </p:sp>
      <p:sp>
        <p:nvSpPr>
          <p:cNvPr id="10" name="Content Placeholder 9">
            <a:extLst>
              <a:ext uri="{FF2B5EF4-FFF2-40B4-BE49-F238E27FC236}">
                <a16:creationId xmlns:a16="http://schemas.microsoft.com/office/drawing/2014/main" id="{E1F1530D-C8C0-A386-1B54-3FC1EF9D7FD8}"/>
              </a:ext>
            </a:extLst>
          </p:cNvPr>
          <p:cNvSpPr>
            <a:spLocks noGrp="1"/>
          </p:cNvSpPr>
          <p:nvPr>
            <p:ph sz="half" idx="1"/>
          </p:nvPr>
        </p:nvSpPr>
        <p:spPr/>
        <p:txBody>
          <a:bodyPr/>
          <a:lstStyle/>
          <a:p>
            <a:r>
              <a:rPr lang="en-US" dirty="0"/>
              <a:t>Scheduling Goodput (SG)</a:t>
            </a:r>
          </a:p>
          <a:p>
            <a:pPr lvl="1"/>
            <a:r>
              <a:rPr lang="en-US" dirty="0"/>
              <a:t>How often does an ML application have all necessary resources to make progress?</a:t>
            </a:r>
          </a:p>
          <a:p>
            <a:r>
              <a:rPr lang="en-US" dirty="0"/>
              <a:t>Runtime Goodput (RG)</a:t>
            </a:r>
          </a:p>
          <a:p>
            <a:pPr lvl="1"/>
            <a:r>
              <a:rPr lang="en-US" dirty="0"/>
              <a:t>When it does, how often does it make progress?</a:t>
            </a:r>
          </a:p>
          <a:p>
            <a:r>
              <a:rPr lang="en-US" dirty="0"/>
              <a:t>Program Goodput (PG)</a:t>
            </a:r>
          </a:p>
          <a:p>
            <a:pPr lvl="1"/>
            <a:r>
              <a:rPr lang="en-US" dirty="0"/>
              <a:t>When it’s progressing, how close is it to maximum achievable efficiency?</a:t>
            </a:r>
          </a:p>
        </p:txBody>
      </p:sp>
      <p:pic>
        <p:nvPicPr>
          <p:cNvPr id="15" name="Content Placeholder 14">
            <a:extLst>
              <a:ext uri="{FF2B5EF4-FFF2-40B4-BE49-F238E27FC236}">
                <a16:creationId xmlns:a16="http://schemas.microsoft.com/office/drawing/2014/main" id="{15C95D6D-7C22-B61E-2436-E7E6F12078C8}"/>
              </a:ext>
            </a:extLst>
          </p:cNvPr>
          <p:cNvPicPr>
            <a:picLocks noGrp="1" noChangeAspect="1"/>
          </p:cNvPicPr>
          <p:nvPr>
            <p:ph sz="half" idx="2"/>
          </p:nvPr>
        </p:nvPicPr>
        <p:blipFill>
          <a:blip r:embed="rId2" cstate="screen">
            <a:extLst>
              <a:ext uri="{28A0092B-C50C-407E-A947-70E740481C1C}">
                <a14:useLocalDpi xmlns:a14="http://schemas.microsoft.com/office/drawing/2010/main"/>
              </a:ext>
            </a:extLst>
          </a:blip>
          <a:stretch>
            <a:fillRect/>
          </a:stretch>
        </p:blipFill>
        <p:spPr>
          <a:xfrm>
            <a:off x="6172200" y="3142850"/>
            <a:ext cx="5181600" cy="1716888"/>
          </a:xfrm>
          <a:prstGeom prst="rect">
            <a:avLst/>
          </a:prstGeom>
        </p:spPr>
      </p:pic>
      <p:sp>
        <p:nvSpPr>
          <p:cNvPr id="4" name="Date Placeholder 3">
            <a:extLst>
              <a:ext uri="{FF2B5EF4-FFF2-40B4-BE49-F238E27FC236}">
                <a16:creationId xmlns:a16="http://schemas.microsoft.com/office/drawing/2014/main" id="{07625EA7-DE49-058D-F089-CD365A7D2247}"/>
              </a:ext>
            </a:extLst>
          </p:cNvPr>
          <p:cNvSpPr>
            <a:spLocks noGrp="1"/>
          </p:cNvSpPr>
          <p:nvPr>
            <p:ph type="dt" sz="half" idx="10"/>
          </p:nvPr>
        </p:nvSpPr>
        <p:spPr/>
        <p:txBody>
          <a:bodyPr/>
          <a:lstStyle/>
          <a:p>
            <a:r>
              <a:rPr lang="en-US"/>
              <a:t>1/13/26</a:t>
            </a:r>
          </a:p>
        </p:txBody>
      </p:sp>
      <p:sp>
        <p:nvSpPr>
          <p:cNvPr id="5" name="Footer Placeholder 4">
            <a:extLst>
              <a:ext uri="{FF2B5EF4-FFF2-40B4-BE49-F238E27FC236}">
                <a16:creationId xmlns:a16="http://schemas.microsoft.com/office/drawing/2014/main" id="{08740236-D21F-1DE5-7AE9-DC966F7BB73D}"/>
              </a:ext>
            </a:extLst>
          </p:cNvPr>
          <p:cNvSpPr>
            <a:spLocks noGrp="1"/>
          </p:cNvSpPr>
          <p:nvPr>
            <p:ph type="ftr" sz="quarter" idx="11"/>
          </p:nvPr>
        </p:nvSpPr>
        <p:spPr/>
        <p:txBody>
          <a:bodyPr/>
          <a:lstStyle/>
          <a:p>
            <a:r>
              <a:rPr lang="en-US"/>
              <a:t>CSE 585 – W26</a:t>
            </a:r>
          </a:p>
        </p:txBody>
      </p:sp>
      <p:sp>
        <p:nvSpPr>
          <p:cNvPr id="6" name="Slide Number Placeholder 5">
            <a:extLst>
              <a:ext uri="{FF2B5EF4-FFF2-40B4-BE49-F238E27FC236}">
                <a16:creationId xmlns:a16="http://schemas.microsoft.com/office/drawing/2014/main" id="{6E4F63BC-15AA-A486-96CD-F0EF48FA1A11}"/>
              </a:ext>
            </a:extLst>
          </p:cNvPr>
          <p:cNvSpPr>
            <a:spLocks noGrp="1"/>
          </p:cNvSpPr>
          <p:nvPr>
            <p:ph type="sldNum" sz="quarter" idx="12"/>
          </p:nvPr>
        </p:nvSpPr>
        <p:spPr/>
        <p:txBody>
          <a:bodyPr/>
          <a:lstStyle/>
          <a:p>
            <a:fld id="{4EEF9975-6C58-5C4C-8961-54FFA2646BAA}" type="slidenum">
              <a:rPr lang="en-US" smtClean="0"/>
              <a:t>36</a:t>
            </a:fld>
            <a:endParaRPr lang="en-US"/>
          </a:p>
        </p:txBody>
      </p:sp>
    </p:spTree>
    <p:extLst>
      <p:ext uri="{BB962C8B-B14F-4D97-AF65-F5344CB8AC3E}">
        <p14:creationId xmlns:p14="http://schemas.microsoft.com/office/powerpoint/2010/main" val="7082709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1545073-2867-BAF0-AE58-1730598E087E}"/>
              </a:ext>
            </a:extLst>
          </p:cNvPr>
          <p:cNvSpPr>
            <a:spLocks noGrp="1"/>
          </p:cNvSpPr>
          <p:nvPr>
            <p:ph type="title"/>
          </p:nvPr>
        </p:nvSpPr>
        <p:spPr/>
        <p:txBody>
          <a:bodyPr/>
          <a:lstStyle/>
          <a:p>
            <a:r>
              <a:rPr lang="en-US" dirty="0"/>
              <a:t>MPG: ML Productivity Goodput</a:t>
            </a:r>
          </a:p>
        </p:txBody>
      </p:sp>
      <p:sp>
        <p:nvSpPr>
          <p:cNvPr id="7" name="Date Placeholder 6">
            <a:extLst>
              <a:ext uri="{FF2B5EF4-FFF2-40B4-BE49-F238E27FC236}">
                <a16:creationId xmlns:a16="http://schemas.microsoft.com/office/drawing/2014/main" id="{C50A218F-F4C5-AAFE-23CD-D7FF3352A700}"/>
              </a:ext>
            </a:extLst>
          </p:cNvPr>
          <p:cNvSpPr>
            <a:spLocks noGrp="1"/>
          </p:cNvSpPr>
          <p:nvPr>
            <p:ph type="dt" sz="half" idx="10"/>
          </p:nvPr>
        </p:nvSpPr>
        <p:spPr/>
        <p:txBody>
          <a:bodyPr/>
          <a:lstStyle/>
          <a:p>
            <a:r>
              <a:rPr lang="en-US"/>
              <a:t>1/13/26</a:t>
            </a:r>
          </a:p>
        </p:txBody>
      </p:sp>
      <p:sp>
        <p:nvSpPr>
          <p:cNvPr id="8" name="Footer Placeholder 7">
            <a:extLst>
              <a:ext uri="{FF2B5EF4-FFF2-40B4-BE49-F238E27FC236}">
                <a16:creationId xmlns:a16="http://schemas.microsoft.com/office/drawing/2014/main" id="{D475214E-9D64-B0B3-AFC1-099ACB1285A8}"/>
              </a:ext>
            </a:extLst>
          </p:cNvPr>
          <p:cNvSpPr>
            <a:spLocks noGrp="1"/>
          </p:cNvSpPr>
          <p:nvPr>
            <p:ph type="ftr" sz="quarter" idx="11"/>
          </p:nvPr>
        </p:nvSpPr>
        <p:spPr/>
        <p:txBody>
          <a:bodyPr/>
          <a:lstStyle/>
          <a:p>
            <a:r>
              <a:rPr lang="en-US"/>
              <a:t>CSE 585 – W26</a:t>
            </a:r>
          </a:p>
        </p:txBody>
      </p:sp>
      <p:sp>
        <p:nvSpPr>
          <p:cNvPr id="9" name="Slide Number Placeholder 8">
            <a:extLst>
              <a:ext uri="{FF2B5EF4-FFF2-40B4-BE49-F238E27FC236}">
                <a16:creationId xmlns:a16="http://schemas.microsoft.com/office/drawing/2014/main" id="{735EAC4F-1CB8-AA39-7FFC-DC58F3512CF8}"/>
              </a:ext>
            </a:extLst>
          </p:cNvPr>
          <p:cNvSpPr>
            <a:spLocks noGrp="1"/>
          </p:cNvSpPr>
          <p:nvPr>
            <p:ph type="sldNum" sz="quarter" idx="12"/>
          </p:nvPr>
        </p:nvSpPr>
        <p:spPr/>
        <p:txBody>
          <a:bodyPr/>
          <a:lstStyle/>
          <a:p>
            <a:fld id="{4EEF9975-6C58-5C4C-8961-54FFA2646BAA}" type="slidenum">
              <a:rPr lang="en-US" smtClean="0"/>
              <a:t>37</a:t>
            </a:fld>
            <a:endParaRPr lang="en-US"/>
          </a:p>
        </p:txBody>
      </p:sp>
      <p:sp>
        <p:nvSpPr>
          <p:cNvPr id="15" name="Content Placeholder 14">
            <a:extLst>
              <a:ext uri="{FF2B5EF4-FFF2-40B4-BE49-F238E27FC236}">
                <a16:creationId xmlns:a16="http://schemas.microsoft.com/office/drawing/2014/main" id="{0F55639E-1AAC-5D47-66E7-A7CF046A1888}"/>
              </a:ext>
            </a:extLst>
          </p:cNvPr>
          <p:cNvSpPr>
            <a:spLocks noGrp="1"/>
          </p:cNvSpPr>
          <p:nvPr>
            <p:ph sz="half" idx="1"/>
          </p:nvPr>
        </p:nvSpPr>
        <p:spPr>
          <a:xfrm>
            <a:off x="838200" y="1825625"/>
            <a:ext cx="3351835" cy="4351338"/>
          </a:xfrm>
        </p:spPr>
        <p:txBody>
          <a:bodyPr anchor="ctr">
            <a:normAutofit/>
          </a:bodyPr>
          <a:lstStyle/>
          <a:p>
            <a:pPr marL="0" indent="0" algn="ctr">
              <a:buNone/>
            </a:pPr>
            <a:r>
              <a:rPr lang="en-US" sz="4000" dirty="0"/>
              <a:t>Utilization</a:t>
            </a:r>
          </a:p>
          <a:p>
            <a:pPr marL="0" indent="0" algn="ctr">
              <a:buNone/>
            </a:pPr>
            <a:r>
              <a:rPr lang="en-US" sz="4000" dirty="0"/>
              <a:t>≠</a:t>
            </a:r>
          </a:p>
          <a:p>
            <a:pPr marL="0" indent="0" algn="ctr">
              <a:buNone/>
            </a:pPr>
            <a:r>
              <a:rPr lang="en-US" sz="4000" dirty="0"/>
              <a:t>Productivity</a:t>
            </a:r>
          </a:p>
        </p:txBody>
      </p:sp>
      <p:pic>
        <p:nvPicPr>
          <p:cNvPr id="16" name="Content Placeholder 11">
            <a:extLst>
              <a:ext uri="{FF2B5EF4-FFF2-40B4-BE49-F238E27FC236}">
                <a16:creationId xmlns:a16="http://schemas.microsoft.com/office/drawing/2014/main" id="{310F33A5-EEB9-9126-6DBD-6490102DEC85}"/>
              </a:ext>
            </a:extLst>
          </p:cNvPr>
          <p:cNvPicPr>
            <a:picLocks noGrp="1" noChangeAspect="1"/>
          </p:cNvPicPr>
          <p:nvPr>
            <p:ph sz="half" idx="2"/>
          </p:nvPr>
        </p:nvPicPr>
        <p:blipFill>
          <a:blip r:embed="rId2" cstate="screen">
            <a:extLst>
              <a:ext uri="{28A0092B-C50C-407E-A947-70E740481C1C}">
                <a14:useLocalDpi xmlns:a14="http://schemas.microsoft.com/office/drawing/2010/main"/>
              </a:ext>
            </a:extLst>
          </a:blip>
          <a:stretch>
            <a:fillRect/>
          </a:stretch>
        </p:blipFill>
        <p:spPr>
          <a:xfrm>
            <a:off x="4610301" y="1828916"/>
            <a:ext cx="6743500" cy="4348047"/>
          </a:xfrm>
          <a:prstGeom prst="rect">
            <a:avLst/>
          </a:prstGeom>
        </p:spPr>
      </p:pic>
    </p:spTree>
    <p:extLst>
      <p:ext uri="{BB962C8B-B14F-4D97-AF65-F5344CB8AC3E}">
        <p14:creationId xmlns:p14="http://schemas.microsoft.com/office/powerpoint/2010/main" val="38510367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E18B563-CC0A-7C34-417D-1881A13DA938}"/>
              </a:ext>
            </a:extLst>
          </p:cNvPr>
          <p:cNvSpPr>
            <a:spLocks noGrp="1"/>
          </p:cNvSpPr>
          <p:nvPr>
            <p:ph type="title"/>
          </p:nvPr>
        </p:nvSpPr>
        <p:spPr/>
        <p:txBody>
          <a:bodyPr/>
          <a:lstStyle/>
          <a:p>
            <a:r>
              <a:rPr lang="en-US" dirty="0"/>
              <a:t>Projects</a:t>
            </a:r>
          </a:p>
        </p:txBody>
      </p:sp>
      <p:sp>
        <p:nvSpPr>
          <p:cNvPr id="8" name="Text Placeholder 7">
            <a:extLst>
              <a:ext uri="{FF2B5EF4-FFF2-40B4-BE49-F238E27FC236}">
                <a16:creationId xmlns:a16="http://schemas.microsoft.com/office/drawing/2014/main" id="{0FCF59C3-68D6-C537-BDBB-DC5F32618F71}"/>
              </a:ext>
            </a:extLst>
          </p:cNvPr>
          <p:cNvSpPr>
            <a:spLocks noGrp="1"/>
          </p:cNvSpPr>
          <p:nvPr>
            <p:ph type="body" idx="1"/>
          </p:nvPr>
        </p:nvSpPr>
        <p:spPr/>
        <p:txBody>
          <a:bodyPr/>
          <a:lstStyle/>
          <a:p>
            <a:endParaRPr lang="en-US" dirty="0"/>
          </a:p>
        </p:txBody>
      </p:sp>
      <p:sp>
        <p:nvSpPr>
          <p:cNvPr id="4" name="Date Placeholder 3">
            <a:extLst>
              <a:ext uri="{FF2B5EF4-FFF2-40B4-BE49-F238E27FC236}">
                <a16:creationId xmlns:a16="http://schemas.microsoft.com/office/drawing/2014/main" id="{675BD980-5545-4924-22B8-FB08DD5D58F5}"/>
              </a:ext>
            </a:extLst>
          </p:cNvPr>
          <p:cNvSpPr>
            <a:spLocks noGrp="1"/>
          </p:cNvSpPr>
          <p:nvPr>
            <p:ph type="dt" sz="half" idx="10"/>
          </p:nvPr>
        </p:nvSpPr>
        <p:spPr/>
        <p:txBody>
          <a:bodyPr/>
          <a:lstStyle/>
          <a:p>
            <a:r>
              <a:rPr lang="en-US"/>
              <a:t>1/13/26</a:t>
            </a:r>
          </a:p>
        </p:txBody>
      </p:sp>
      <p:sp>
        <p:nvSpPr>
          <p:cNvPr id="5" name="Footer Placeholder 4">
            <a:extLst>
              <a:ext uri="{FF2B5EF4-FFF2-40B4-BE49-F238E27FC236}">
                <a16:creationId xmlns:a16="http://schemas.microsoft.com/office/drawing/2014/main" id="{3F872982-13BE-428C-6667-6F997E3BE69B}"/>
              </a:ext>
            </a:extLst>
          </p:cNvPr>
          <p:cNvSpPr>
            <a:spLocks noGrp="1"/>
          </p:cNvSpPr>
          <p:nvPr>
            <p:ph type="ftr" sz="quarter" idx="11"/>
          </p:nvPr>
        </p:nvSpPr>
        <p:spPr/>
        <p:txBody>
          <a:bodyPr/>
          <a:lstStyle/>
          <a:p>
            <a:r>
              <a:rPr lang="en-US"/>
              <a:t>CSE 585 – W26</a:t>
            </a:r>
          </a:p>
        </p:txBody>
      </p:sp>
      <p:sp>
        <p:nvSpPr>
          <p:cNvPr id="6" name="Slide Number Placeholder 5">
            <a:extLst>
              <a:ext uri="{FF2B5EF4-FFF2-40B4-BE49-F238E27FC236}">
                <a16:creationId xmlns:a16="http://schemas.microsoft.com/office/drawing/2014/main" id="{597F9EDA-9D0A-29A0-883F-139B4304FA0C}"/>
              </a:ext>
            </a:extLst>
          </p:cNvPr>
          <p:cNvSpPr>
            <a:spLocks noGrp="1"/>
          </p:cNvSpPr>
          <p:nvPr>
            <p:ph type="sldNum" sz="quarter" idx="12"/>
          </p:nvPr>
        </p:nvSpPr>
        <p:spPr/>
        <p:txBody>
          <a:bodyPr/>
          <a:lstStyle/>
          <a:p>
            <a:fld id="{4EEF9975-6C58-5C4C-8961-54FFA2646BAA}" type="slidenum">
              <a:rPr lang="en-US" smtClean="0"/>
              <a:t>38</a:t>
            </a:fld>
            <a:endParaRPr lang="en-US"/>
          </a:p>
        </p:txBody>
      </p:sp>
    </p:spTree>
    <p:extLst>
      <p:ext uri="{BB962C8B-B14F-4D97-AF65-F5344CB8AC3E}">
        <p14:creationId xmlns:p14="http://schemas.microsoft.com/office/powerpoint/2010/main" val="38613003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Research-Oriented Course!</a:t>
            </a:r>
          </a:p>
        </p:txBody>
      </p:sp>
      <p:sp>
        <p:nvSpPr>
          <p:cNvPr id="3" name="Content Placeholder 2"/>
          <p:cNvSpPr>
            <a:spLocks noGrp="1"/>
          </p:cNvSpPr>
          <p:nvPr>
            <p:ph idx="1"/>
          </p:nvPr>
        </p:nvSpPr>
        <p:spPr/>
        <p:txBody>
          <a:bodyPr/>
          <a:lstStyle/>
          <a:p>
            <a:r>
              <a:rPr lang="en-US" dirty="0"/>
              <a:t>The final project accounts for </a:t>
            </a:r>
            <a:r>
              <a:rPr lang="en-US" b="1" dirty="0">
                <a:solidFill>
                  <a:srgbClr val="FF0000"/>
                </a:solidFill>
                <a:latin typeface="Gill Sans" charset="0"/>
                <a:cs typeface="Gill Sans" charset="0"/>
              </a:rPr>
              <a:t>6</a:t>
            </a:r>
            <a:r>
              <a:rPr lang="en-US" b="1" dirty="0">
                <a:solidFill>
                  <a:srgbClr val="FF0000"/>
                </a:solidFill>
                <a:latin typeface="Gill Sans" charset="0"/>
                <a:ea typeface="Gill Sans" charset="0"/>
                <a:cs typeface="Gill Sans" charset="0"/>
              </a:rPr>
              <a:t>0%</a:t>
            </a:r>
            <a:r>
              <a:rPr lang="en-US" dirty="0"/>
              <a:t> of total grades</a:t>
            </a:r>
          </a:p>
          <a:p>
            <a:r>
              <a:rPr lang="en-US" dirty="0"/>
              <a:t>What can and cannot be a project?</a:t>
            </a:r>
          </a:p>
          <a:p>
            <a:pPr lvl="1"/>
            <a:r>
              <a:rPr lang="en-US" dirty="0"/>
              <a:t>Just surveys are not allowed</a:t>
            </a:r>
          </a:p>
          <a:p>
            <a:pPr lvl="1"/>
            <a:r>
              <a:rPr lang="en-US" dirty="0"/>
              <a:t>Measurements of new environments or of existing solutions on new environments are acceptable</a:t>
            </a:r>
          </a:p>
          <a:p>
            <a:pPr lvl="1"/>
            <a:r>
              <a:rPr lang="en-US" dirty="0"/>
              <a:t>Reproducing results from existing solutions is also acceptable</a:t>
            </a:r>
          </a:p>
          <a:p>
            <a:r>
              <a:rPr lang="en-US" dirty="0"/>
              <a:t>An ideal project should answer the questions you asked during paper reviews and points you cared about for presentations</a:t>
            </a:r>
          </a:p>
        </p:txBody>
      </p:sp>
      <p:sp>
        <p:nvSpPr>
          <p:cNvPr id="4" name="Footer Placeholder 3"/>
          <p:cNvSpPr>
            <a:spLocks noGrp="1"/>
          </p:cNvSpPr>
          <p:nvPr>
            <p:ph type="ftr" sz="quarter" idx="11"/>
          </p:nvPr>
        </p:nvSpPr>
        <p:spPr/>
        <p:txBody>
          <a:bodyPr/>
          <a:lstStyle/>
          <a:p>
            <a:r>
              <a:rPr lang="en-US"/>
              <a:t>CSE 585 – W26</a:t>
            </a:r>
          </a:p>
        </p:txBody>
      </p:sp>
      <p:sp>
        <p:nvSpPr>
          <p:cNvPr id="5" name="Slide Number Placeholder 4"/>
          <p:cNvSpPr>
            <a:spLocks noGrp="1"/>
          </p:cNvSpPr>
          <p:nvPr>
            <p:ph type="sldNum" sz="quarter" idx="12"/>
          </p:nvPr>
        </p:nvSpPr>
        <p:spPr/>
        <p:txBody>
          <a:bodyPr/>
          <a:lstStyle/>
          <a:p>
            <a:fld id="{4EEF9975-6C58-5C4C-8961-54FFA2646BAA}" type="slidenum">
              <a:rPr lang="en-US" smtClean="0"/>
              <a:t>39</a:t>
            </a:fld>
            <a:endParaRPr lang="en-US"/>
          </a:p>
        </p:txBody>
      </p:sp>
      <p:sp>
        <p:nvSpPr>
          <p:cNvPr id="6" name="Date Placeholder 5"/>
          <p:cNvSpPr>
            <a:spLocks noGrp="1"/>
          </p:cNvSpPr>
          <p:nvPr>
            <p:ph type="dt" sz="half" idx="10"/>
          </p:nvPr>
        </p:nvSpPr>
        <p:spPr/>
        <p:txBody>
          <a:bodyPr/>
          <a:lstStyle/>
          <a:p>
            <a:r>
              <a:rPr lang="en-US"/>
              <a:t>1/13/26</a:t>
            </a:r>
          </a:p>
        </p:txBody>
      </p:sp>
    </p:spTree>
    <p:extLst>
      <p:ext uri="{BB962C8B-B14F-4D97-AF65-F5344CB8AC3E}">
        <p14:creationId xmlns:p14="http://schemas.microsoft.com/office/powerpoint/2010/main" val="5194251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Approach it?</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dirty="0"/>
              <a:t>Find a problem and motivate why this is worth solving</a:t>
            </a:r>
          </a:p>
          <a:p>
            <a:pPr marL="514350" indent="-514350">
              <a:buFont typeface="+mj-lt"/>
              <a:buAutoNum type="arabicPeriod"/>
            </a:pPr>
            <a:r>
              <a:rPr lang="en-US" dirty="0"/>
              <a:t>Quickly survey background and related work</a:t>
            </a:r>
          </a:p>
          <a:p>
            <a:pPr lvl="1"/>
            <a:r>
              <a:rPr lang="en-US" dirty="0"/>
              <a:t>Might require you to go back to the first step</a:t>
            </a:r>
          </a:p>
          <a:p>
            <a:pPr marL="514350" indent="-514350">
              <a:buFont typeface="+mj-lt"/>
              <a:buAutoNum type="arabicPeriod"/>
            </a:pPr>
            <a:r>
              <a:rPr lang="en-US" dirty="0"/>
              <a:t>Form/update your hypothesis</a:t>
            </a:r>
          </a:p>
          <a:p>
            <a:pPr marL="514350" indent="-514350">
              <a:buFont typeface="+mj-lt"/>
              <a:buAutoNum type="arabicPeriod"/>
            </a:pPr>
            <a:r>
              <a:rPr lang="en-US" dirty="0"/>
              <a:t>Test your hypothesis</a:t>
            </a:r>
          </a:p>
          <a:p>
            <a:pPr lvl="1"/>
            <a:r>
              <a:rPr lang="en-US" dirty="0"/>
              <a:t>Go back to 3 until you are happy</a:t>
            </a:r>
          </a:p>
          <a:p>
            <a:pPr marL="514350" indent="-514350">
              <a:buFont typeface="+mj-lt"/>
              <a:buAutoNum type="arabicPeriod"/>
            </a:pPr>
            <a:r>
              <a:rPr lang="en-US" dirty="0"/>
              <a:t>Present your findings on poster and in writing</a:t>
            </a:r>
          </a:p>
          <a:p>
            <a:pPr lvl="1"/>
            <a:r>
              <a:rPr lang="en-US" dirty="0"/>
              <a:t>Discuss known limitations</a:t>
            </a:r>
          </a:p>
        </p:txBody>
      </p:sp>
      <p:sp>
        <p:nvSpPr>
          <p:cNvPr id="4" name="Footer Placeholder 3"/>
          <p:cNvSpPr>
            <a:spLocks noGrp="1"/>
          </p:cNvSpPr>
          <p:nvPr>
            <p:ph type="ftr" sz="quarter" idx="11"/>
          </p:nvPr>
        </p:nvSpPr>
        <p:spPr/>
        <p:txBody>
          <a:bodyPr/>
          <a:lstStyle/>
          <a:p>
            <a:r>
              <a:rPr lang="en-US"/>
              <a:t>CSE 585 – W26</a:t>
            </a:r>
          </a:p>
        </p:txBody>
      </p:sp>
      <p:sp>
        <p:nvSpPr>
          <p:cNvPr id="5" name="Slide Number Placeholder 4"/>
          <p:cNvSpPr>
            <a:spLocks noGrp="1"/>
          </p:cNvSpPr>
          <p:nvPr>
            <p:ph type="sldNum" sz="quarter" idx="12"/>
          </p:nvPr>
        </p:nvSpPr>
        <p:spPr/>
        <p:txBody>
          <a:bodyPr/>
          <a:lstStyle/>
          <a:p>
            <a:fld id="{4EEF9975-6C58-5C4C-8961-54FFA2646BAA}" type="slidenum">
              <a:rPr lang="en-US" smtClean="0"/>
              <a:t>40</a:t>
            </a:fld>
            <a:endParaRPr lang="en-US"/>
          </a:p>
        </p:txBody>
      </p:sp>
      <p:sp>
        <p:nvSpPr>
          <p:cNvPr id="6" name="Date Placeholder 5"/>
          <p:cNvSpPr>
            <a:spLocks noGrp="1"/>
          </p:cNvSpPr>
          <p:nvPr>
            <p:ph type="dt" sz="half" idx="10"/>
          </p:nvPr>
        </p:nvSpPr>
        <p:spPr/>
        <p:txBody>
          <a:bodyPr/>
          <a:lstStyle/>
          <a:p>
            <a:r>
              <a:rPr lang="en-US"/>
              <a:t>1/13/26</a:t>
            </a:r>
          </a:p>
        </p:txBody>
      </p:sp>
    </p:spTree>
    <p:extLst>
      <p:ext uri="{BB962C8B-B14F-4D97-AF65-F5344CB8AC3E}">
        <p14:creationId xmlns:p14="http://schemas.microsoft.com/office/powerpoint/2010/main" val="23285471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Milestones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139086570"/>
              </p:ext>
            </p:extLst>
          </p:nvPr>
        </p:nvGraphicFramePr>
        <p:xfrm>
          <a:off x="838200" y="1874679"/>
          <a:ext cx="10515600" cy="3474720"/>
        </p:xfrm>
        <a:graphic>
          <a:graphicData uri="http://schemas.openxmlformats.org/drawingml/2006/table">
            <a:tbl>
              <a:tblPr firstRow="1" bandRow="1">
                <a:tableStyleId>{9D7B26C5-4107-4FEC-AEDC-1716B250A1EF}</a:tableStyleId>
              </a:tblPr>
              <a:tblGrid>
                <a:gridCol w="1574494">
                  <a:extLst>
                    <a:ext uri="{9D8B030D-6E8A-4147-A177-3AD203B41FA5}">
                      <a16:colId xmlns:a16="http://schemas.microsoft.com/office/drawing/2014/main" val="20000"/>
                    </a:ext>
                  </a:extLst>
                </a:gridCol>
                <a:gridCol w="2710149">
                  <a:extLst>
                    <a:ext uri="{9D8B030D-6E8A-4147-A177-3AD203B41FA5}">
                      <a16:colId xmlns:a16="http://schemas.microsoft.com/office/drawing/2014/main" val="20001"/>
                    </a:ext>
                  </a:extLst>
                </a:gridCol>
                <a:gridCol w="6230957">
                  <a:extLst>
                    <a:ext uri="{9D8B030D-6E8A-4147-A177-3AD203B41FA5}">
                      <a16:colId xmlns:a16="http://schemas.microsoft.com/office/drawing/2014/main" val="20002"/>
                    </a:ext>
                  </a:extLst>
                </a:gridCol>
              </a:tblGrid>
              <a:tr h="370840">
                <a:tc>
                  <a:txBody>
                    <a:bodyPr/>
                    <a:lstStyle/>
                    <a:p>
                      <a:r>
                        <a:rPr lang="en-US" sz="2400" dirty="0">
                          <a:latin typeface="Gill Sans" charset="0"/>
                          <a:ea typeface="Gill Sans" charset="0"/>
                          <a:cs typeface="Gill Sans" charset="0"/>
                        </a:rPr>
                        <a:t>Date</a:t>
                      </a:r>
                    </a:p>
                  </a:txBody>
                  <a:tcPr/>
                </a:tc>
                <a:tc>
                  <a:txBody>
                    <a:bodyPr/>
                    <a:lstStyle/>
                    <a:p>
                      <a:r>
                        <a:rPr lang="en-US" sz="2400" dirty="0">
                          <a:latin typeface="Gill Sans" charset="0"/>
                          <a:ea typeface="Gill Sans" charset="0"/>
                          <a:cs typeface="Gill Sans" charset="0"/>
                        </a:rPr>
                        <a:t>Milestone</a:t>
                      </a:r>
                    </a:p>
                  </a:txBody>
                  <a:tcPr/>
                </a:tc>
                <a:tc>
                  <a:txBody>
                    <a:bodyPr/>
                    <a:lstStyle/>
                    <a:p>
                      <a:r>
                        <a:rPr lang="en-US" sz="2400" dirty="0">
                          <a:latin typeface="Gill Sans" charset="0"/>
                          <a:ea typeface="Gill Sans" charset="0"/>
                          <a:cs typeface="Gill Sans" charset="0"/>
                        </a:rPr>
                        <a:t>Details</a:t>
                      </a:r>
                    </a:p>
                  </a:txBody>
                  <a:tcPr/>
                </a:tc>
                <a:extLst>
                  <a:ext uri="{0D108BD9-81ED-4DB2-BD59-A6C34878D82A}">
                    <a16:rowId xmlns:a16="http://schemas.microsoft.com/office/drawing/2014/main" val="10000"/>
                  </a:ext>
                </a:extLst>
              </a:tr>
              <a:tr h="370840">
                <a:tc>
                  <a:txBody>
                    <a:bodyPr/>
                    <a:lstStyle/>
                    <a:p>
                      <a:r>
                        <a:rPr lang="en-US" sz="2400" dirty="0">
                          <a:latin typeface="Gill Sans" charset="0"/>
                          <a:ea typeface="Gill Sans" charset="0"/>
                          <a:cs typeface="Gill Sans" charset="0"/>
                        </a:rPr>
                        <a:t>01/23/26</a:t>
                      </a:r>
                    </a:p>
                  </a:txBody>
                  <a:tcPr anchor="ctr"/>
                </a:tc>
                <a:tc>
                  <a:txBody>
                    <a:bodyPr/>
                    <a:lstStyle/>
                    <a:p>
                      <a:r>
                        <a:rPr lang="en-US" sz="2400" dirty="0">
                          <a:latin typeface="Gill Sans" charset="0"/>
                          <a:ea typeface="Gill Sans" charset="0"/>
                          <a:cs typeface="Gill Sans" charset="0"/>
                        </a:rPr>
                        <a:t>Form Group</a:t>
                      </a:r>
                    </a:p>
                  </a:txBody>
                  <a:tcPr anchor="ctr"/>
                </a:tc>
                <a:tc>
                  <a:txBody>
                    <a:bodyPr/>
                    <a:lstStyle/>
                    <a:p>
                      <a:r>
                        <a:rPr lang="en-US" sz="2400" dirty="0">
                          <a:latin typeface="Gill Sans" charset="0"/>
                          <a:ea typeface="Gill Sans" charset="0"/>
                          <a:cs typeface="Gill Sans" charset="0"/>
                        </a:rPr>
                        <a:t>Find like-minded students</a:t>
                      </a:r>
                    </a:p>
                  </a:txBody>
                  <a:tcPr anchor="ctr"/>
                </a:tc>
                <a:extLst>
                  <a:ext uri="{0D108BD9-81ED-4DB2-BD59-A6C34878D82A}">
                    <a16:rowId xmlns:a16="http://schemas.microsoft.com/office/drawing/2014/main" val="10001"/>
                  </a:ext>
                </a:extLst>
              </a:tr>
              <a:tr h="370840">
                <a:tc>
                  <a:txBody>
                    <a:bodyPr/>
                    <a:lstStyle/>
                    <a:p>
                      <a:r>
                        <a:rPr lang="en-US" sz="2400" dirty="0">
                          <a:latin typeface="Gill Sans" charset="0"/>
                          <a:ea typeface="Gill Sans" charset="0"/>
                          <a:cs typeface="Gill Sans" charset="0"/>
                        </a:rPr>
                        <a:t>02/06/26</a:t>
                      </a:r>
                    </a:p>
                  </a:txBody>
                  <a:tcPr anchor="ctr"/>
                </a:tc>
                <a:tc>
                  <a:txBody>
                    <a:bodyPr/>
                    <a:lstStyle/>
                    <a:p>
                      <a:r>
                        <a:rPr lang="en-US" sz="2400" dirty="0">
                          <a:latin typeface="Gill Sans" charset="0"/>
                          <a:ea typeface="Gill Sans" charset="0"/>
                          <a:cs typeface="Gill Sans" charset="0"/>
                        </a:rPr>
                        <a:t>Submit Proposal</a:t>
                      </a:r>
                    </a:p>
                  </a:txBody>
                  <a:tcPr anchor="ctr"/>
                </a:tc>
                <a:tc>
                  <a:txBody>
                    <a:bodyPr/>
                    <a:lstStyle/>
                    <a:p>
                      <a:r>
                        <a:rPr lang="en-US" sz="2400" dirty="0">
                          <a:latin typeface="Gill Sans" charset="0"/>
                          <a:ea typeface="Gill Sans" charset="0"/>
                          <a:cs typeface="Gill Sans" charset="0"/>
                        </a:rPr>
                        <a:t>Send</a:t>
                      </a:r>
                      <a:r>
                        <a:rPr lang="en-US" sz="2400" baseline="0" dirty="0">
                          <a:latin typeface="Gill Sans" charset="0"/>
                          <a:ea typeface="Gill Sans" charset="0"/>
                          <a:cs typeface="Gill Sans" charset="0"/>
                        </a:rPr>
                        <a:t> </a:t>
                      </a:r>
                      <a:r>
                        <a:rPr lang="en-US" sz="2400" dirty="0">
                          <a:latin typeface="Gill Sans" charset="0"/>
                          <a:ea typeface="Gill Sans" charset="0"/>
                          <a:cs typeface="Gill Sans" charset="0"/>
                        </a:rPr>
                        <a:t>your proposal by email to receive feedback either via email or in-person or both</a:t>
                      </a:r>
                    </a:p>
                  </a:txBody>
                  <a:tcPr anchor="ctr"/>
                </a:tc>
                <a:extLst>
                  <a:ext uri="{0D108BD9-81ED-4DB2-BD59-A6C34878D82A}">
                    <a16:rowId xmlns:a16="http://schemas.microsoft.com/office/drawing/2014/main" val="10002"/>
                  </a:ext>
                </a:extLst>
              </a:tr>
              <a:tr h="370840">
                <a:tc>
                  <a:txBody>
                    <a:bodyPr/>
                    <a:lstStyle/>
                    <a:p>
                      <a:r>
                        <a:rPr lang="en-US" sz="2400" dirty="0">
                          <a:latin typeface="Gill Sans" charset="0"/>
                          <a:ea typeface="Gill Sans" charset="0"/>
                          <a:cs typeface="Gill Sans" charset="0"/>
                        </a:rPr>
                        <a:t>03/17/26</a:t>
                      </a:r>
                    </a:p>
                    <a:p>
                      <a:r>
                        <a:rPr lang="en-US" sz="2400" dirty="0">
                          <a:latin typeface="Gill Sans" charset="0"/>
                          <a:ea typeface="Gill Sans" charset="0"/>
                          <a:cs typeface="Gill Sans" charset="0"/>
                        </a:rPr>
                        <a:t>03/19/26</a:t>
                      </a:r>
                    </a:p>
                  </a:txBody>
                  <a:tcPr anchor="ctr"/>
                </a:tc>
                <a:tc>
                  <a:txBody>
                    <a:bodyPr/>
                    <a:lstStyle/>
                    <a:p>
                      <a:r>
                        <a:rPr lang="en-US" sz="2400" dirty="0">
                          <a:latin typeface="Gill Sans" charset="0"/>
                          <a:ea typeface="Gill Sans" charset="0"/>
                          <a:cs typeface="Gill Sans" charset="0"/>
                        </a:rPr>
                        <a:t>Mid-Semester Presentations</a:t>
                      </a:r>
                    </a:p>
                  </a:txBody>
                  <a:tcPr anchor="ctr"/>
                </a:tc>
                <a:tc>
                  <a:txBody>
                    <a:bodyPr/>
                    <a:lstStyle/>
                    <a:p>
                      <a:r>
                        <a:rPr lang="en-US" sz="2400" dirty="0">
                          <a:latin typeface="Gill Sans" charset="0"/>
                          <a:ea typeface="Gill Sans" charset="0"/>
                          <a:cs typeface="Gill Sans" charset="0"/>
                        </a:rPr>
                        <a:t>Define</a:t>
                      </a:r>
                      <a:r>
                        <a:rPr lang="en-US" sz="2400" baseline="0" dirty="0">
                          <a:latin typeface="Gill Sans" charset="0"/>
                          <a:ea typeface="Gill Sans" charset="0"/>
                          <a:cs typeface="Gill Sans" charset="0"/>
                        </a:rPr>
                        <a:t> and motivate a problem, overview</a:t>
                      </a:r>
                      <a:r>
                        <a:rPr lang="en-US" sz="2400" dirty="0">
                          <a:latin typeface="Gill Sans" charset="0"/>
                          <a:ea typeface="Gill Sans" charset="0"/>
                          <a:cs typeface="Gill Sans" charset="0"/>
                        </a:rPr>
                        <a:t> related work, and form initial hypothesis and idea</a:t>
                      </a:r>
                    </a:p>
                  </a:txBody>
                  <a:tcPr anchor="ctr"/>
                </a:tc>
                <a:extLst>
                  <a:ext uri="{0D108BD9-81ED-4DB2-BD59-A6C34878D82A}">
                    <a16:rowId xmlns:a16="http://schemas.microsoft.com/office/drawing/2014/main" val="100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Gill Sans" charset="0"/>
                          <a:ea typeface="Gill Sans" charset="0"/>
                          <a:cs typeface="Gill Sans" charset="0"/>
                        </a:rPr>
                        <a:t>04/21/26</a:t>
                      </a:r>
                    </a:p>
                  </a:txBody>
                  <a:tcPr anchor="ctr"/>
                </a:tc>
                <a:tc>
                  <a:txBody>
                    <a:bodyPr/>
                    <a:lstStyle/>
                    <a:p>
                      <a:r>
                        <a:rPr lang="en-US" sz="2400" dirty="0">
                          <a:latin typeface="Gill Sans" charset="0"/>
                          <a:ea typeface="Gill Sans" charset="0"/>
                          <a:cs typeface="Gill Sans" charset="0"/>
                        </a:rPr>
                        <a:t>Poster Presentation</a:t>
                      </a:r>
                    </a:p>
                  </a:txBody>
                  <a:tcPr anchor="ctr"/>
                </a:tc>
                <a:tc>
                  <a:txBody>
                    <a:bodyPr/>
                    <a:lstStyle/>
                    <a:p>
                      <a:r>
                        <a:rPr lang="en-US" sz="2400" dirty="0">
                          <a:latin typeface="Gill Sans" charset="0"/>
                          <a:ea typeface="Gill Sans" charset="0"/>
                          <a:cs typeface="Gill Sans" charset="0"/>
                        </a:rPr>
                        <a:t>Present your findings</a:t>
                      </a:r>
                    </a:p>
                  </a:txBody>
                  <a:tcPr anchor="ctr"/>
                </a:tc>
                <a:extLst>
                  <a:ext uri="{0D108BD9-81ED-4DB2-BD59-A6C34878D82A}">
                    <a16:rowId xmlns:a16="http://schemas.microsoft.com/office/drawing/2014/main" val="10005"/>
                  </a:ext>
                </a:extLst>
              </a:tr>
              <a:tr h="370840">
                <a:tc>
                  <a:txBody>
                    <a:bodyPr/>
                    <a:lstStyle/>
                    <a:p>
                      <a:r>
                        <a:rPr lang="en-US" sz="2400" dirty="0">
                          <a:latin typeface="Gill Sans" charset="0"/>
                          <a:ea typeface="Gill Sans" charset="0"/>
                          <a:cs typeface="Gill Sans" charset="0"/>
                        </a:rPr>
                        <a:t>04/28/26</a:t>
                      </a:r>
                    </a:p>
                  </a:txBody>
                  <a:tcPr anchor="ctr"/>
                </a:tc>
                <a:tc>
                  <a:txBody>
                    <a:bodyPr/>
                    <a:lstStyle/>
                    <a:p>
                      <a:r>
                        <a:rPr lang="en-US" sz="2400" dirty="0">
                          <a:latin typeface="Gill Sans" charset="0"/>
                          <a:ea typeface="Gill Sans" charset="0"/>
                          <a:cs typeface="Gill Sans" charset="0"/>
                        </a:rPr>
                        <a:t>Research paper</a:t>
                      </a:r>
                    </a:p>
                  </a:txBody>
                  <a:tcPr anchor="ctr"/>
                </a:tc>
                <a:tc>
                  <a:txBody>
                    <a:bodyPr/>
                    <a:lstStyle/>
                    <a:p>
                      <a:r>
                        <a:rPr lang="en-US" sz="2400" dirty="0">
                          <a:latin typeface="Gill Sans" charset="0"/>
                          <a:ea typeface="Gill Sans" charset="0"/>
                          <a:cs typeface="Gill Sans" charset="0"/>
                        </a:rPr>
                        <a:t>Submit</a:t>
                      </a:r>
                      <a:r>
                        <a:rPr lang="en-US" sz="2400" baseline="0" dirty="0">
                          <a:latin typeface="Gill Sans" charset="0"/>
                          <a:ea typeface="Gill Sans" charset="0"/>
                          <a:cs typeface="Gill Sans" charset="0"/>
                        </a:rPr>
                        <a:t> a report like the papers you read</a:t>
                      </a:r>
                      <a:endParaRPr lang="en-US" sz="2400" dirty="0">
                        <a:latin typeface="Gill Sans" charset="0"/>
                        <a:ea typeface="Gill Sans" charset="0"/>
                        <a:cs typeface="Gill Sans" charset="0"/>
                      </a:endParaRPr>
                    </a:p>
                  </a:txBody>
                  <a:tcPr anchor="ctr"/>
                </a:tc>
                <a:extLst>
                  <a:ext uri="{0D108BD9-81ED-4DB2-BD59-A6C34878D82A}">
                    <a16:rowId xmlns:a16="http://schemas.microsoft.com/office/drawing/2014/main" val="10006"/>
                  </a:ext>
                </a:extLst>
              </a:tr>
            </a:tbl>
          </a:graphicData>
        </a:graphic>
      </p:graphicFrame>
      <p:sp>
        <p:nvSpPr>
          <p:cNvPr id="4" name="Footer Placeholder 3"/>
          <p:cNvSpPr>
            <a:spLocks noGrp="1"/>
          </p:cNvSpPr>
          <p:nvPr>
            <p:ph type="ftr" sz="quarter" idx="11"/>
          </p:nvPr>
        </p:nvSpPr>
        <p:spPr/>
        <p:txBody>
          <a:bodyPr/>
          <a:lstStyle/>
          <a:p>
            <a:r>
              <a:rPr lang="en-US"/>
              <a:t>CSE 585 – W26</a:t>
            </a:r>
          </a:p>
        </p:txBody>
      </p:sp>
      <p:sp>
        <p:nvSpPr>
          <p:cNvPr id="5" name="Slide Number Placeholder 4"/>
          <p:cNvSpPr>
            <a:spLocks noGrp="1"/>
          </p:cNvSpPr>
          <p:nvPr>
            <p:ph type="sldNum" sz="quarter" idx="12"/>
          </p:nvPr>
        </p:nvSpPr>
        <p:spPr/>
        <p:txBody>
          <a:bodyPr/>
          <a:lstStyle/>
          <a:p>
            <a:fld id="{4EEF9975-6C58-5C4C-8961-54FFA2646BAA}" type="slidenum">
              <a:rPr lang="en-US" smtClean="0"/>
              <a:t>41</a:t>
            </a:fld>
            <a:endParaRPr lang="en-US"/>
          </a:p>
        </p:txBody>
      </p:sp>
      <p:sp>
        <p:nvSpPr>
          <p:cNvPr id="3" name="Date Placeholder 2"/>
          <p:cNvSpPr>
            <a:spLocks noGrp="1"/>
          </p:cNvSpPr>
          <p:nvPr>
            <p:ph type="dt" sz="half" idx="10"/>
          </p:nvPr>
        </p:nvSpPr>
        <p:spPr/>
        <p:txBody>
          <a:bodyPr/>
          <a:lstStyle/>
          <a:p>
            <a:r>
              <a:rPr lang="en-US"/>
              <a:t>1/13/26</a:t>
            </a:r>
          </a:p>
        </p:txBody>
      </p:sp>
    </p:spTree>
    <p:extLst>
      <p:ext uri="{BB962C8B-B14F-4D97-AF65-F5344CB8AC3E}">
        <p14:creationId xmlns:p14="http://schemas.microsoft.com/office/powerpoint/2010/main" val="8563296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Draft Proposal (Feb 6)</a:t>
            </a:r>
          </a:p>
        </p:txBody>
      </p:sp>
      <p:sp>
        <p:nvSpPr>
          <p:cNvPr id="3" name="Content Placeholder 2"/>
          <p:cNvSpPr>
            <a:spLocks noGrp="1"/>
          </p:cNvSpPr>
          <p:nvPr>
            <p:ph idx="1"/>
          </p:nvPr>
        </p:nvSpPr>
        <p:spPr/>
        <p:txBody>
          <a:bodyPr/>
          <a:lstStyle/>
          <a:p>
            <a:r>
              <a:rPr lang="en-US" dirty="0"/>
              <a:t>Two pages including references that </a:t>
            </a:r>
            <a:r>
              <a:rPr lang="en-US" b="1" dirty="0">
                <a:solidFill>
                  <a:srgbClr val="FF0000"/>
                </a:solidFill>
              </a:rPr>
              <a:t>must</a:t>
            </a:r>
            <a:r>
              <a:rPr lang="en-US" dirty="0"/>
              <a:t> include</a:t>
            </a:r>
          </a:p>
          <a:p>
            <a:pPr lvl="1"/>
            <a:r>
              <a:rPr lang="en-US" dirty="0"/>
              <a:t>What is the problem?</a:t>
            </a:r>
          </a:p>
          <a:p>
            <a:pPr lvl="1"/>
            <a:r>
              <a:rPr lang="en-US" dirty="0"/>
              <a:t>Why is it important to solve?</a:t>
            </a:r>
          </a:p>
          <a:p>
            <a:pPr lvl="1"/>
            <a:r>
              <a:rPr lang="en-US" dirty="0"/>
              <a:t>Any initial thoughts on what you want to do?</a:t>
            </a:r>
          </a:p>
          <a:p>
            <a:pPr lvl="1"/>
            <a:r>
              <a:rPr lang="en-US" dirty="0"/>
              <a:t>How would you evaluate your solution?</a:t>
            </a:r>
          </a:p>
          <a:p>
            <a:r>
              <a:rPr lang="en-US" dirty="0"/>
              <a:t>Include team members</a:t>
            </a:r>
          </a:p>
          <a:p>
            <a:pPr lvl="1"/>
            <a:r>
              <a:rPr lang="en-US" dirty="0"/>
              <a:t>Meaning, </a:t>
            </a:r>
            <a:r>
              <a:rPr lang="en-US" dirty="0">
                <a:solidFill>
                  <a:srgbClr val="FF0000"/>
                </a:solidFill>
              </a:rPr>
              <a:t>form a group ASAP</a:t>
            </a:r>
          </a:p>
          <a:p>
            <a:r>
              <a:rPr lang="en-US" dirty="0"/>
              <a:t>Approved by the instructor and agreed upon by you</a:t>
            </a:r>
          </a:p>
          <a:p>
            <a:pPr lvl="1"/>
            <a:r>
              <a:rPr lang="en-US" dirty="0"/>
              <a:t>Forms the basis of expectation</a:t>
            </a:r>
          </a:p>
          <a:p>
            <a:endParaRPr lang="en-US" dirty="0"/>
          </a:p>
        </p:txBody>
      </p:sp>
      <p:sp>
        <p:nvSpPr>
          <p:cNvPr id="4" name="Footer Placeholder 3"/>
          <p:cNvSpPr>
            <a:spLocks noGrp="1"/>
          </p:cNvSpPr>
          <p:nvPr>
            <p:ph type="ftr" sz="quarter" idx="11"/>
          </p:nvPr>
        </p:nvSpPr>
        <p:spPr/>
        <p:txBody>
          <a:bodyPr/>
          <a:lstStyle/>
          <a:p>
            <a:r>
              <a:rPr lang="en-US"/>
              <a:t>CSE 585 – W26</a:t>
            </a:r>
          </a:p>
        </p:txBody>
      </p:sp>
      <p:sp>
        <p:nvSpPr>
          <p:cNvPr id="5" name="Slide Number Placeholder 4"/>
          <p:cNvSpPr>
            <a:spLocks noGrp="1"/>
          </p:cNvSpPr>
          <p:nvPr>
            <p:ph type="sldNum" sz="quarter" idx="12"/>
          </p:nvPr>
        </p:nvSpPr>
        <p:spPr/>
        <p:txBody>
          <a:bodyPr/>
          <a:lstStyle/>
          <a:p>
            <a:fld id="{4EEF9975-6C58-5C4C-8961-54FFA2646BAA}" type="slidenum">
              <a:rPr lang="en-US" smtClean="0"/>
              <a:t>42</a:t>
            </a:fld>
            <a:endParaRPr lang="en-US"/>
          </a:p>
        </p:txBody>
      </p:sp>
      <p:sp>
        <p:nvSpPr>
          <p:cNvPr id="6" name="Date Placeholder 5"/>
          <p:cNvSpPr>
            <a:spLocks noGrp="1"/>
          </p:cNvSpPr>
          <p:nvPr>
            <p:ph type="dt" sz="half" idx="10"/>
          </p:nvPr>
        </p:nvSpPr>
        <p:spPr/>
        <p:txBody>
          <a:bodyPr/>
          <a:lstStyle/>
          <a:p>
            <a:r>
              <a:rPr lang="en-US"/>
              <a:t>1/13/26</a:t>
            </a:r>
          </a:p>
        </p:txBody>
      </p:sp>
    </p:spTree>
    <p:extLst>
      <p:ext uri="{BB962C8B-B14F-4D97-AF65-F5344CB8AC3E}">
        <p14:creationId xmlns:p14="http://schemas.microsoft.com/office/powerpoint/2010/main" val="32883461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Mid-Semester Checkpoint (Mar 17, 19)</a:t>
            </a:r>
          </a:p>
        </p:txBody>
      </p:sp>
      <p:sp>
        <p:nvSpPr>
          <p:cNvPr id="3" name="Content Placeholder 2"/>
          <p:cNvSpPr>
            <a:spLocks noGrp="1"/>
          </p:cNvSpPr>
          <p:nvPr>
            <p:ph idx="1"/>
          </p:nvPr>
        </p:nvSpPr>
        <p:spPr/>
        <p:txBody>
          <a:bodyPr/>
          <a:lstStyle/>
          <a:p>
            <a:r>
              <a:rPr lang="en-US" dirty="0"/>
              <a:t>In-class short presentation over two days</a:t>
            </a:r>
          </a:p>
          <a:p>
            <a:pPr lvl="1"/>
            <a:r>
              <a:rPr lang="en-US" dirty="0"/>
              <a:t>This is to make sure you are making progress</a:t>
            </a:r>
          </a:p>
          <a:p>
            <a:r>
              <a:rPr lang="en-US" dirty="0"/>
              <a:t>Must include</a:t>
            </a:r>
          </a:p>
          <a:p>
            <a:pPr lvl="1"/>
            <a:r>
              <a:rPr lang="en-US" dirty="0"/>
              <a:t>What is the problem?</a:t>
            </a:r>
          </a:p>
          <a:p>
            <a:pPr lvl="1"/>
            <a:r>
              <a:rPr lang="en-US" dirty="0"/>
              <a:t>Why is it important?</a:t>
            </a:r>
          </a:p>
          <a:p>
            <a:pPr lvl="1"/>
            <a:r>
              <a:rPr lang="en-US" dirty="0"/>
              <a:t>What are the most related work?</a:t>
            </a:r>
          </a:p>
          <a:p>
            <a:pPr lvl="1"/>
            <a:r>
              <a:rPr lang="en-US" dirty="0"/>
              <a:t>What’s your hypothesis so far?</a:t>
            </a:r>
          </a:p>
          <a:p>
            <a:pPr lvl="1"/>
            <a:r>
              <a:rPr lang="en-US" dirty="0"/>
              <a:t>How are/will you evaluate it?</a:t>
            </a:r>
          </a:p>
        </p:txBody>
      </p:sp>
      <p:sp>
        <p:nvSpPr>
          <p:cNvPr id="4" name="Footer Placeholder 3"/>
          <p:cNvSpPr>
            <a:spLocks noGrp="1"/>
          </p:cNvSpPr>
          <p:nvPr>
            <p:ph type="ftr" sz="quarter" idx="11"/>
          </p:nvPr>
        </p:nvSpPr>
        <p:spPr/>
        <p:txBody>
          <a:bodyPr/>
          <a:lstStyle/>
          <a:p>
            <a:r>
              <a:rPr lang="en-US"/>
              <a:t>CSE 585 – W26</a:t>
            </a:r>
          </a:p>
        </p:txBody>
      </p:sp>
      <p:sp>
        <p:nvSpPr>
          <p:cNvPr id="5" name="Slide Number Placeholder 4"/>
          <p:cNvSpPr>
            <a:spLocks noGrp="1"/>
          </p:cNvSpPr>
          <p:nvPr>
            <p:ph type="sldNum" sz="quarter" idx="12"/>
          </p:nvPr>
        </p:nvSpPr>
        <p:spPr/>
        <p:txBody>
          <a:bodyPr/>
          <a:lstStyle/>
          <a:p>
            <a:fld id="{4EEF9975-6C58-5C4C-8961-54FFA2646BAA}" type="slidenum">
              <a:rPr lang="en-US" smtClean="0"/>
              <a:t>43</a:t>
            </a:fld>
            <a:endParaRPr lang="en-US"/>
          </a:p>
        </p:txBody>
      </p:sp>
      <p:sp>
        <p:nvSpPr>
          <p:cNvPr id="6" name="Date Placeholder 5"/>
          <p:cNvSpPr>
            <a:spLocks noGrp="1"/>
          </p:cNvSpPr>
          <p:nvPr>
            <p:ph type="dt" sz="half" idx="10"/>
          </p:nvPr>
        </p:nvSpPr>
        <p:spPr/>
        <p:txBody>
          <a:bodyPr/>
          <a:lstStyle/>
          <a:p>
            <a:r>
              <a:rPr lang="en-US"/>
              <a:t>1/13/26</a:t>
            </a:r>
          </a:p>
        </p:txBody>
      </p:sp>
    </p:spTree>
    <p:extLst>
      <p:ext uri="{BB962C8B-B14F-4D97-AF65-F5344CB8AC3E}">
        <p14:creationId xmlns:p14="http://schemas.microsoft.com/office/powerpoint/2010/main" val="40394084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Presentation &amp; Paper (Apr 21, 28)</a:t>
            </a:r>
          </a:p>
        </p:txBody>
      </p:sp>
      <p:sp>
        <p:nvSpPr>
          <p:cNvPr id="3" name="Content Placeholder 2"/>
          <p:cNvSpPr>
            <a:spLocks noGrp="1"/>
          </p:cNvSpPr>
          <p:nvPr>
            <p:ph idx="1"/>
          </p:nvPr>
        </p:nvSpPr>
        <p:spPr/>
        <p:txBody>
          <a:bodyPr/>
          <a:lstStyle/>
          <a:p>
            <a:r>
              <a:rPr lang="en-US" dirty="0"/>
              <a:t>Research paper</a:t>
            </a:r>
          </a:p>
          <a:p>
            <a:pPr lvl="1"/>
            <a:r>
              <a:rPr lang="en-US" dirty="0"/>
              <a:t>The key part</a:t>
            </a:r>
          </a:p>
          <a:p>
            <a:pPr lvl="1"/>
            <a:r>
              <a:rPr lang="en-US" dirty="0"/>
              <a:t>Should be written like the papers you’ve read</a:t>
            </a:r>
          </a:p>
          <a:p>
            <a:pPr lvl="1"/>
            <a:r>
              <a:rPr lang="en-US" dirty="0"/>
              <a:t>As if you’d submit it to a workshop with ~3 more months of work or to a conference after ~6 more months of work</a:t>
            </a:r>
          </a:p>
          <a:p>
            <a:pPr lvl="1"/>
            <a:r>
              <a:rPr lang="en-US" dirty="0">
                <a:hlinkClick r:id="rId2"/>
              </a:rPr>
              <a:t>How to Write a Great Research Paper</a:t>
            </a:r>
            <a:r>
              <a:rPr lang="en-US" dirty="0"/>
              <a:t> by Simon Peyton Jones</a:t>
            </a:r>
          </a:p>
          <a:p>
            <a:r>
              <a:rPr lang="en-US" dirty="0"/>
              <a:t>Extended from the mid-semester checkpoint</a:t>
            </a:r>
          </a:p>
        </p:txBody>
      </p:sp>
      <p:sp>
        <p:nvSpPr>
          <p:cNvPr id="4" name="Footer Placeholder 3"/>
          <p:cNvSpPr>
            <a:spLocks noGrp="1"/>
          </p:cNvSpPr>
          <p:nvPr>
            <p:ph type="ftr" sz="quarter" idx="11"/>
          </p:nvPr>
        </p:nvSpPr>
        <p:spPr/>
        <p:txBody>
          <a:bodyPr/>
          <a:lstStyle/>
          <a:p>
            <a:r>
              <a:rPr lang="en-US"/>
              <a:t>CSE 585 – W26</a:t>
            </a:r>
          </a:p>
        </p:txBody>
      </p:sp>
      <p:sp>
        <p:nvSpPr>
          <p:cNvPr id="5" name="Slide Number Placeholder 4"/>
          <p:cNvSpPr>
            <a:spLocks noGrp="1"/>
          </p:cNvSpPr>
          <p:nvPr>
            <p:ph type="sldNum" sz="quarter" idx="12"/>
          </p:nvPr>
        </p:nvSpPr>
        <p:spPr/>
        <p:txBody>
          <a:bodyPr/>
          <a:lstStyle/>
          <a:p>
            <a:fld id="{4EEF9975-6C58-5C4C-8961-54FFA2646BAA}" type="slidenum">
              <a:rPr lang="en-US" smtClean="0"/>
              <a:t>44</a:t>
            </a:fld>
            <a:endParaRPr lang="en-US"/>
          </a:p>
        </p:txBody>
      </p:sp>
      <p:sp>
        <p:nvSpPr>
          <p:cNvPr id="6" name="Date Placeholder 5"/>
          <p:cNvSpPr>
            <a:spLocks noGrp="1"/>
          </p:cNvSpPr>
          <p:nvPr>
            <p:ph type="dt" sz="half" idx="10"/>
          </p:nvPr>
        </p:nvSpPr>
        <p:spPr/>
        <p:txBody>
          <a:bodyPr/>
          <a:lstStyle/>
          <a:p>
            <a:r>
              <a:rPr lang="en-US"/>
              <a:t>1/13/26</a:t>
            </a:r>
          </a:p>
        </p:txBody>
      </p:sp>
    </p:spTree>
    <p:extLst>
      <p:ext uri="{BB962C8B-B14F-4D97-AF65-F5344CB8AC3E}">
        <p14:creationId xmlns:p14="http://schemas.microsoft.com/office/powerpoint/2010/main" val="31297053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Next Class…</a:t>
            </a:r>
          </a:p>
        </p:txBody>
      </p:sp>
      <p:sp>
        <p:nvSpPr>
          <p:cNvPr id="3" name="Content Placeholder 2"/>
          <p:cNvSpPr>
            <a:spLocks noGrp="1"/>
          </p:cNvSpPr>
          <p:nvPr>
            <p:ph idx="1"/>
          </p:nvPr>
        </p:nvSpPr>
        <p:spPr/>
        <p:txBody>
          <a:bodyPr/>
          <a:lstStyle/>
          <a:p>
            <a:pPr marL="0" indent="0">
              <a:buNone/>
            </a:pPr>
            <a:r>
              <a:rPr lang="en-US" dirty="0"/>
              <a:t>Read the required readings</a:t>
            </a:r>
          </a:p>
          <a:p>
            <a:endParaRPr lang="en-US" dirty="0"/>
          </a:p>
          <a:p>
            <a:pPr marL="0" indent="0">
              <a:buNone/>
            </a:pPr>
            <a:r>
              <a:rPr lang="en-US" dirty="0"/>
              <a:t>Form groups of 4 and submit group/paper </a:t>
            </a:r>
            <a:r>
              <a:rPr lang="en-US"/>
              <a:t>preferences by </a:t>
            </a:r>
            <a:r>
              <a:rPr lang="en-US" i="1" dirty="0">
                <a:solidFill>
                  <a:srgbClr val="FF0000"/>
                </a:solidFill>
              </a:rPr>
              <a:t>Jan 23</a:t>
            </a:r>
          </a:p>
          <a:p>
            <a:pPr lvl="1"/>
            <a:r>
              <a:rPr lang="en-US" dirty="0"/>
              <a:t>Decide if you’ll drop, </a:t>
            </a:r>
            <a:r>
              <a:rPr lang="en-US" dirty="0">
                <a:solidFill>
                  <a:srgbClr val="FF0000"/>
                </a:solidFill>
                <a:latin typeface="Gill Sans" charset="0"/>
                <a:ea typeface="Gill Sans" charset="0"/>
                <a:cs typeface="Gill Sans" charset="0"/>
              </a:rPr>
              <a:t>before</a:t>
            </a:r>
            <a:r>
              <a:rPr lang="en-US" dirty="0"/>
              <a:t> you fill it</a:t>
            </a:r>
          </a:p>
          <a:p>
            <a:pPr lvl="1"/>
            <a:r>
              <a:rPr lang="en-US" dirty="0"/>
              <a:t>If you are to drop, drop immediately</a:t>
            </a:r>
          </a:p>
          <a:p>
            <a:pPr marL="0" indent="0">
              <a:buNone/>
            </a:pPr>
            <a:endParaRPr lang="en-US" dirty="0"/>
          </a:p>
        </p:txBody>
      </p:sp>
      <p:sp>
        <p:nvSpPr>
          <p:cNvPr id="4" name="Date Placeholder 3"/>
          <p:cNvSpPr>
            <a:spLocks noGrp="1"/>
          </p:cNvSpPr>
          <p:nvPr>
            <p:ph type="dt" sz="half" idx="10"/>
          </p:nvPr>
        </p:nvSpPr>
        <p:spPr/>
        <p:txBody>
          <a:bodyPr/>
          <a:lstStyle/>
          <a:p>
            <a:r>
              <a:rPr lang="en-US"/>
              <a:t>1/13/26</a:t>
            </a:r>
          </a:p>
        </p:txBody>
      </p:sp>
      <p:sp>
        <p:nvSpPr>
          <p:cNvPr id="5" name="Footer Placeholder 4"/>
          <p:cNvSpPr>
            <a:spLocks noGrp="1"/>
          </p:cNvSpPr>
          <p:nvPr>
            <p:ph type="ftr" sz="quarter" idx="11"/>
          </p:nvPr>
        </p:nvSpPr>
        <p:spPr/>
        <p:txBody>
          <a:bodyPr/>
          <a:lstStyle/>
          <a:p>
            <a:r>
              <a:rPr lang="en-US"/>
              <a:t>CSE 585 – W26</a:t>
            </a:r>
          </a:p>
        </p:txBody>
      </p:sp>
      <p:sp>
        <p:nvSpPr>
          <p:cNvPr id="6" name="Slide Number Placeholder 5"/>
          <p:cNvSpPr>
            <a:spLocks noGrp="1"/>
          </p:cNvSpPr>
          <p:nvPr>
            <p:ph type="sldNum" sz="quarter" idx="12"/>
          </p:nvPr>
        </p:nvSpPr>
        <p:spPr/>
        <p:txBody>
          <a:bodyPr/>
          <a:lstStyle/>
          <a:p>
            <a:fld id="{4EEF9975-6C58-5C4C-8961-54FFA2646BAA}" type="slidenum">
              <a:rPr lang="en-US" smtClean="0"/>
              <a:t>45</a:t>
            </a:fld>
            <a:endParaRPr lang="en-US"/>
          </a:p>
        </p:txBody>
      </p:sp>
    </p:spTree>
    <p:extLst>
      <p:ext uri="{BB962C8B-B14F-4D97-AF65-F5344CB8AC3E}">
        <p14:creationId xmlns:p14="http://schemas.microsoft.com/office/powerpoint/2010/main" val="1569240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16500</TotalTime>
  <Words>1953</Words>
  <Application>Microsoft Macintosh PowerPoint</Application>
  <PresentationFormat>Widescreen</PresentationFormat>
  <Paragraphs>471</Paragraphs>
  <Slides>45</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45</vt:i4>
      </vt:variant>
    </vt:vector>
  </HeadingPairs>
  <TitlesOfParts>
    <vt:vector size="54" baseType="lpstr">
      <vt:lpstr>Abril Fatface</vt:lpstr>
      <vt:lpstr>Arial</vt:lpstr>
      <vt:lpstr>Calibri</vt:lpstr>
      <vt:lpstr>Gill Sans</vt:lpstr>
      <vt:lpstr>Gill Sans Light</vt:lpstr>
      <vt:lpstr>Gill Sans SemiBold</vt:lpstr>
      <vt:lpstr>Helvetica</vt:lpstr>
      <vt:lpstr>Helvetica Light Oblique</vt:lpstr>
      <vt:lpstr>Office Theme</vt:lpstr>
      <vt:lpstr>CSE 585: Advanced Scalable Systems for Agentic AI</vt:lpstr>
      <vt:lpstr>Today’s Agenda</vt:lpstr>
      <vt:lpstr>About Mosharaf</vt:lpstr>
      <vt:lpstr>Shiqi He (GSI)</vt:lpstr>
      <vt:lpstr>Status</vt:lpstr>
      <vt:lpstr>Course Schedule</vt:lpstr>
      <vt:lpstr>Prerequisites</vt:lpstr>
      <vt:lpstr>Course Requirements</vt:lpstr>
      <vt:lpstr>Topics (#Lectures)</vt:lpstr>
      <vt:lpstr>Group-Based Work</vt:lpstr>
      <vt:lpstr>Form Groups ASAP</vt:lpstr>
      <vt:lpstr>Readings</vt:lpstr>
      <vt:lpstr>Paper Presentation</vt:lpstr>
      <vt:lpstr>Paper Presentation</vt:lpstr>
      <vt:lpstr>Paper Summaries</vt:lpstr>
      <vt:lpstr>Paper Summaries</vt:lpstr>
      <vt:lpstr>Panel Discussion</vt:lpstr>
      <vt:lpstr>In general,</vt:lpstr>
      <vt:lpstr>What Do We Talk About When We Talk About “Advanced Scalable Systems for Agentic GenAI”</vt:lpstr>
      <vt:lpstr>Resource-Centric View</vt:lpstr>
      <vt:lpstr>What’s in a (Simplified) Server?</vt:lpstr>
      <vt:lpstr>Typical Memory/Storage Hierarchy</vt:lpstr>
      <vt:lpstr>What’s in a Modern AI Server?</vt:lpstr>
      <vt:lpstr>Scale Out: Warehouse-Scale Computer (WSC)</vt:lpstr>
      <vt:lpstr>WSC/Datacenter Architecture</vt:lpstr>
      <vt:lpstr>Vera Rubin NVL72 NVLink All-to-All Topology</vt:lpstr>
      <vt:lpstr>Datacenter Needs an Operating System</vt:lpstr>
      <vt:lpstr>Three Categories of Software</vt:lpstr>
      <vt:lpstr>Common “Systems” Techniques</vt:lpstr>
      <vt:lpstr>Break!</vt:lpstr>
      <vt:lpstr>Workload-Centric View</vt:lpstr>
      <vt:lpstr>Machine Learning Fleet Efficiency @ Google</vt:lpstr>
      <vt:lpstr>Anatomy of an ML Fleet:  Hardware and Software Infrastructure</vt:lpstr>
      <vt:lpstr>Anatomy of an ML Fleet: Programming</vt:lpstr>
      <vt:lpstr>Anatomy of an ML Fleet: Workloads</vt:lpstr>
      <vt:lpstr>MPG: ML Productivity Goodput</vt:lpstr>
      <vt:lpstr>MPG: ML Productivity Goodput</vt:lpstr>
      <vt:lpstr>Projects</vt:lpstr>
      <vt:lpstr>Research-Oriented Course!</vt:lpstr>
      <vt:lpstr>How to Approach it?</vt:lpstr>
      <vt:lpstr>Milestones</vt:lpstr>
      <vt:lpstr>Draft Proposal (Feb 6)</vt:lpstr>
      <vt:lpstr>Mid-Semester Checkpoint (Mar 17, 19)</vt:lpstr>
      <vt:lpstr>Presentation &amp; Paper (Apr 21, 28)</vt:lpstr>
      <vt:lpstr>Next Class…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Mosharaf Chowdhury</dc:creator>
  <cp:lastModifiedBy>Chowdhury, Mosharaf</cp:lastModifiedBy>
  <cp:revision>742</cp:revision>
  <dcterms:created xsi:type="dcterms:W3CDTF">2015-12-27T15:42:19Z</dcterms:created>
  <dcterms:modified xsi:type="dcterms:W3CDTF">2026-01-13T02:04:33Z</dcterms:modified>
</cp:coreProperties>
</file>