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1"/>
  </p:notesMasterIdLst>
  <p:sldIdLst>
    <p:sldId id="256" r:id="rId2"/>
    <p:sldId id="394" r:id="rId3"/>
    <p:sldId id="395" r:id="rId4"/>
    <p:sldId id="365" r:id="rId5"/>
    <p:sldId id="354" r:id="rId6"/>
    <p:sldId id="366" r:id="rId7"/>
    <p:sldId id="367" r:id="rId8"/>
    <p:sldId id="388" r:id="rId9"/>
    <p:sldId id="389" r:id="rId10"/>
    <p:sldId id="390" r:id="rId11"/>
    <p:sldId id="391" r:id="rId12"/>
    <p:sldId id="392" r:id="rId13"/>
    <p:sldId id="385" r:id="rId14"/>
    <p:sldId id="332" r:id="rId15"/>
    <p:sldId id="396" r:id="rId16"/>
    <p:sldId id="397" r:id="rId17"/>
    <p:sldId id="296" r:id="rId18"/>
    <p:sldId id="387" r:id="rId19"/>
    <p:sldId id="39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C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68"/>
    <p:restoredTop sz="94648"/>
  </p:normalViewPr>
  <p:slideViewPr>
    <p:cSldViewPr snapToGrid="0" snapToObjects="1">
      <p:cViewPr varScale="1">
        <p:scale>
          <a:sx n="110" d="100"/>
          <a:sy n="110" d="100"/>
        </p:scale>
        <p:origin x="18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04D10A-81D1-8748-8404-C44E2799F913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DBF5F-E884-8D4B-8536-498293E3F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821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BF5F-E884-8D4B-8536-498293E3FB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240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W26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56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W26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216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W26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761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W26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95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W26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787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W26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203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W26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941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W26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251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W26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00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W26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60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W26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701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Gill Sans Light" charset="0"/>
              </a:defRPr>
            </a:lvl1pPr>
          </a:lstStyle>
          <a:p>
            <a:r>
              <a:rPr lang="en-US"/>
              <a:t>04/14/26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Gill Sans Light" charset="0"/>
              </a:defRPr>
            </a:lvl1pPr>
          </a:lstStyle>
          <a:p>
            <a:r>
              <a:rPr lang="en-US"/>
              <a:t>CSE 585 – W26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Gill Sans Light" charset="0"/>
              </a:defRPr>
            </a:lvl1pPr>
          </a:lstStyle>
          <a:p>
            <a:fld id="{4EEF9975-6C58-5C4C-8961-54FFA2646BA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687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ptos" panose="020B0004020202020204" pitchFamily="34" charset="0"/>
          <a:ea typeface="Aptos" panose="020B0004020202020204" pitchFamily="34" charset="0"/>
          <a:cs typeface="Gill Sans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ptos" panose="020B0004020202020204" pitchFamily="34" charset="0"/>
          <a:ea typeface="Aptos" panose="020B0004020202020204" pitchFamily="34" charset="0"/>
          <a:cs typeface="Gill Sans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Aptos" panose="020B0004020202020204" pitchFamily="34" charset="0"/>
          <a:ea typeface="Aptos" panose="020B0004020202020204" pitchFamily="34" charset="0"/>
          <a:cs typeface="Gill Sans Light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Aptos" panose="020B0004020202020204" pitchFamily="34" charset="0"/>
          <a:cs typeface="Gill Sans Light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Aptos" panose="020B0004020202020204" pitchFamily="34" charset="0"/>
          <a:cs typeface="Gill Sans Light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Aptos" panose="020B0004020202020204" pitchFamily="34" charset="0"/>
          <a:cs typeface="Gill Sans Ligh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research.microsoft.com/en-us/um/people/simonpj/papers/giving-a-talk/writing-a-paper-slides.pdf" TargetMode="External"/><Relationship Id="rId2" Type="http://schemas.openxmlformats.org/officeDocument/2006/relationships/hyperlink" Target="https://edstem.org/us/courses/90160/discussion/7930957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2420" y="1122363"/>
            <a:ext cx="11567160" cy="2387600"/>
          </a:xfrm>
        </p:spPr>
        <p:txBody>
          <a:bodyPr anchor="ctr"/>
          <a:lstStyle/>
          <a:p>
            <a:r>
              <a:rPr lang="en-US" dirty="0"/>
              <a:t>CSE 585 Recap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W26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1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D97E45-98E1-9A5E-07AF-831584FE14C3}"/>
              </a:ext>
            </a:extLst>
          </p:cNvPr>
          <p:cNvGrpSpPr/>
          <p:nvPr/>
        </p:nvGrpSpPr>
        <p:grpSpPr>
          <a:xfrm>
            <a:off x="3468924" y="3994577"/>
            <a:ext cx="5254151" cy="1333041"/>
            <a:chOff x="3509813" y="3514517"/>
            <a:chExt cx="5254151" cy="133304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40D7E11-9D86-5BAA-6164-203857AB66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09813" y="4240170"/>
              <a:ext cx="2286000" cy="60738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16C58C0-A606-37F0-F404-D6557A3AD6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477964" y="4314120"/>
              <a:ext cx="2286000" cy="459488"/>
            </a:xfrm>
            <a:prstGeom prst="rect">
              <a:avLst/>
            </a:prstGeom>
          </p:spPr>
        </p:pic>
        <p:sp>
          <p:nvSpPr>
            <p:cNvPr id="12" name="Subtitle 8">
              <a:extLst>
                <a:ext uri="{FF2B5EF4-FFF2-40B4-BE49-F238E27FC236}">
                  <a16:creationId xmlns:a16="http://schemas.microsoft.com/office/drawing/2014/main" id="{003AB824-0F81-BC69-DE9B-34B6EF0EF0E2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4541533" y="3514517"/>
              <a:ext cx="3136922" cy="5097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marL="0" indent="0" algn="l" defTabSz="457200" rtl="0" eaLnBrk="0" fontAlgn="base" hangingPunct="0">
                <a:spcBef>
                  <a:spcPts val="2000"/>
                </a:spcBef>
                <a:spcAft>
                  <a:spcPct val="0"/>
                </a:spcAft>
                <a:buNone/>
                <a:defRPr sz="2800" kern="1200">
                  <a:solidFill>
                    <a:schemeClr val="tx1"/>
                  </a:solidFill>
                  <a:latin typeface="Gill Sans"/>
                  <a:ea typeface="ＭＳ Ｐゴシック" pitchFamily="-65" charset="-128"/>
                  <a:cs typeface="Gill Sans"/>
                </a:defRPr>
              </a:lvl1pPr>
              <a:lvl2pPr marL="457200" indent="0"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buSzPct val="100000"/>
                <a:buFont typeface="Lucida Grande" charset="0"/>
                <a:buNone/>
                <a:defRPr sz="2700" kern="1200">
                  <a:solidFill>
                    <a:schemeClr val="tx1">
                      <a:tint val="75000"/>
                    </a:schemeClr>
                  </a:solidFill>
                  <a:latin typeface="Gill Sans"/>
                  <a:ea typeface="ＭＳ Ｐゴシック" pitchFamily="-65" charset="-128"/>
                  <a:cs typeface="Gill Sans"/>
                </a:defRPr>
              </a:lvl2pPr>
              <a:lvl3pPr marL="914400" indent="0" algn="ctr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Gill Sans"/>
                  <a:ea typeface="ＭＳ Ｐゴシック" pitchFamily="-65" charset="-128"/>
                  <a:cs typeface="Gill Sans"/>
                </a:defRPr>
              </a:lvl3pPr>
              <a:lvl4pPr marL="1371600" indent="0" algn="ctr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Gill Sans"/>
                  <a:ea typeface="ＭＳ Ｐゴシック" pitchFamily="-65" charset="-128"/>
                  <a:cs typeface="Gill Sans"/>
                </a:defRPr>
              </a:lvl4pPr>
              <a:lvl5pPr marL="1828800" indent="0" algn="ctr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Gill Sans"/>
                  <a:ea typeface="ＭＳ Ｐゴシック" pitchFamily="-65" charset="-128"/>
                  <a:cs typeface="Gill San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buFont typeface="Arial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buFont typeface="Arial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buFont typeface="Arial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buFont typeface="Arial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dirty="0">
                  <a:latin typeface="Gill Sans" panose="020B0502020104020203" pitchFamily="34" charset="-79"/>
                  <a:ea typeface="Gill Sans" charset="0"/>
                  <a:cs typeface="Gill Sans" panose="020B0502020104020203" pitchFamily="34" charset="-79"/>
                </a:rPr>
                <a:t>Mosharaf Chowdhury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2126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31C11-A697-D2E2-08BF-8209F2BF2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D0A20-689F-778C-CDFC-5CD94CF66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  <a:p>
            <a:r>
              <a:rPr lang="en-US" dirty="0"/>
              <a:t>Status</a:t>
            </a:r>
          </a:p>
          <a:p>
            <a:r>
              <a:rPr lang="en-US" dirty="0"/>
              <a:t>Debate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03B83-A78E-FCCE-A688-51EA7F6FF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B799B-A234-0F60-4E76-CD36B66A4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W26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86169-0B08-C069-331B-964991E57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503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0485D0C-1115-6A52-7276-31730EFB3A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Semester in Review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505D7F3-B4AA-24F9-EBCF-48107F0A30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643E0-74D1-CA6D-84EF-6F2E0F428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537AF-0818-8E0C-F240-DA606ED69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W26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9D683-074C-0A98-D03B-A92C1B706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428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FC749-AEF7-A4AC-BEB5-0344EEF21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Resource-Centric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5FEA8-5E01-23B4-61FB-B10BBBCD9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Datacenter as a Computer</a:t>
            </a:r>
          </a:p>
          <a:p>
            <a:pPr lvl="1"/>
            <a:r>
              <a:rPr lang="en-US" dirty="0"/>
              <a:t>Scale-out architecture but has all the same components as a single machine</a:t>
            </a:r>
          </a:p>
          <a:p>
            <a:pPr lvl="1"/>
            <a:r>
              <a:rPr lang="en-US" dirty="0"/>
              <a:t>High parallelism, diverse workloads, heterogeneous resources, failures, and communication-driven performance</a:t>
            </a:r>
          </a:p>
          <a:p>
            <a:endParaRPr lang="en-US" dirty="0"/>
          </a:p>
          <a:p>
            <a:r>
              <a:rPr lang="en-US" dirty="0"/>
              <a:t>GPU as a Computer</a:t>
            </a:r>
          </a:p>
          <a:p>
            <a:pPr lvl="1"/>
            <a:r>
              <a:rPr lang="en-US" dirty="0"/>
              <a:t>Scale-up architecture but has all the same components as a single machine</a:t>
            </a:r>
          </a:p>
          <a:p>
            <a:pPr lvl="1"/>
            <a:r>
              <a:rPr lang="en-US" dirty="0"/>
              <a:t>High parallelism, diverse workloads, heterogeneous resources, failures, and communication-driven performance (at least for LLMs)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2CFCD-0E3E-D9BC-D0D2-2766C3C7F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763D1-630B-FF44-CB00-EAC8355DD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W26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EE507-ED60-808A-CB23-AB6CC015B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118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“Systems” Techniques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776600"/>
              </p:ext>
            </p:extLst>
          </p:nvPr>
        </p:nvGraphicFramePr>
        <p:xfrm>
          <a:off x="838200" y="2120093"/>
          <a:ext cx="10515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9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1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4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Performance/Efficiency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Availability/Resilience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Replication &amp; Erasure 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Sharding/partitioning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Scheduling &amp; Load balancing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>
                        <a:latin typeface="Aptos" panose="020B0004020202020204" pitchFamily="34" charset="0"/>
                        <a:ea typeface="Gill Sans" charset="0"/>
                        <a:cs typeface="Gill Sans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Health &amp; Integrity checks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>
                        <a:latin typeface="Aptos" panose="020B0004020202020204" pitchFamily="34" charset="0"/>
                        <a:ea typeface="Gill Sans" charset="0"/>
                        <a:cs typeface="Gill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Compression &amp; Quantization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Aptos" panose="020B0004020202020204" pitchFamily="34" charset="0"/>
                        <a:ea typeface="Gill Sans" charset="0"/>
                        <a:cs typeface="Gill Sans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Centralized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Aptos" panose="020B0004020202020204" pitchFamily="34" charset="0"/>
                        <a:ea typeface="Gill Sans" charset="0"/>
                        <a:cs typeface="Gill Sans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Canaries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Aptos" panose="020B0004020202020204" pitchFamily="34" charset="0"/>
                        <a:ea typeface="Gill Sans" charset="0"/>
                        <a:cs typeface="Gill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Speculation &amp; Redundant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" panose="020B0004020202020204" pitchFamily="34" charset="0"/>
                          <a:ea typeface="Gill Sans" charset="0"/>
                          <a:cs typeface="Gill Sans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Aptos" panose="020B0004020202020204" pitchFamily="34" charset="0"/>
                        <a:ea typeface="Gill Sans" charset="0"/>
                        <a:cs typeface="Gill Sans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W26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292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EB0FC-FF86-11A3-E9D1-71DFAB0AD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Workload-Centric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A8D0A-905A-EA6C-D634-292A08D15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Basics</a:t>
            </a:r>
          </a:p>
          <a:p>
            <a:r>
              <a:rPr lang="en-US" dirty="0"/>
              <a:t>Pre-Training</a:t>
            </a:r>
          </a:p>
          <a:p>
            <a:r>
              <a:rPr lang="en-US" dirty="0"/>
              <a:t>Post-Training</a:t>
            </a:r>
          </a:p>
          <a:p>
            <a:r>
              <a:rPr lang="en-US" dirty="0"/>
              <a:t>Inference</a:t>
            </a:r>
          </a:p>
          <a:p>
            <a:r>
              <a:rPr lang="en-US" dirty="0"/>
              <a:t>Agentic Systems</a:t>
            </a:r>
          </a:p>
          <a:p>
            <a:r>
              <a:rPr lang="en-US" dirty="0"/>
              <a:t>Hardware/Infrastructure</a:t>
            </a:r>
          </a:p>
          <a:p>
            <a:r>
              <a:rPr lang="en-US" dirty="0"/>
              <a:t>Power and Energy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728BA-067E-3BDC-BBA6-8C110B54C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DD65C-DAA4-48F1-BA63-017DE67E1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W26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0F387-FAE1-1529-2DA0-8468DB158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62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A1242-43EA-D4D1-3FF0-F727CACD3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AEC2D-7A85-DF1A-0FB5-D00149FD2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Transformers</a:t>
            </a:r>
          </a:p>
          <a:p>
            <a:pPr lvl="1"/>
            <a:r>
              <a:rPr lang="en-US" dirty="0"/>
              <a:t>Quadratic self-attention forms the backbone of modern LLMs</a:t>
            </a:r>
          </a:p>
          <a:p>
            <a:pPr lvl="1"/>
            <a:r>
              <a:rPr lang="en-US" dirty="0"/>
              <a:t>Compute-bound in training, but memory (bandwidth)-bound during inference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Training</a:t>
            </a:r>
          </a:p>
          <a:p>
            <a:pPr lvl="1"/>
            <a:r>
              <a:rPr lang="en-US" dirty="0"/>
              <a:t>Different kinds of parallelism: data, tensor, and pipeline parallelism</a:t>
            </a:r>
          </a:p>
          <a:p>
            <a:pPr lvl="1"/>
            <a:r>
              <a:rPr lang="en-US" dirty="0"/>
              <a:t>How to schedule them in an optimized fashion (1F1B)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LLM Inference</a:t>
            </a:r>
          </a:p>
          <a:p>
            <a:pPr lvl="1"/>
            <a:r>
              <a:rPr lang="en-US" dirty="0"/>
              <a:t>Prefill vs. Decode</a:t>
            </a:r>
          </a:p>
          <a:p>
            <a:pPr lvl="1"/>
            <a:r>
              <a:rPr lang="en-US" dirty="0"/>
              <a:t>Continuous batching</a:t>
            </a:r>
          </a:p>
          <a:p>
            <a:pPr lvl="1"/>
            <a:r>
              <a:rPr lang="en-US" dirty="0"/>
              <a:t>KVCache and its memory management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34C80-5DD8-904B-DCDB-C3C061213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10435-A448-363F-9C8B-D871CB0B4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W26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A5BE2-3434-081A-8FEE-AF3A024F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48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75160-7893-8A2D-3E8A-209027D8E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Pre-Training (6 Papers)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7B17C-D5CB-B0C5-D272-4CBC50DD4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manage memory?</a:t>
            </a:r>
          </a:p>
          <a:p>
            <a:r>
              <a:rPr lang="en-US" dirty="0"/>
              <a:t>How to manage large sequences?</a:t>
            </a:r>
          </a:p>
          <a:p>
            <a:r>
              <a:rPr lang="en-US" dirty="0"/>
              <a:t>How to automatically find better plans for execution?</a:t>
            </a:r>
          </a:p>
          <a:p>
            <a:r>
              <a:rPr lang="en-US" dirty="0"/>
              <a:t>How to optimize </a:t>
            </a:r>
            <a:r>
              <a:rPr lang="en-US" dirty="0" err="1"/>
              <a:t>MoE</a:t>
            </a:r>
            <a:r>
              <a:rPr lang="en-US" dirty="0"/>
              <a:t> training?</a:t>
            </a:r>
          </a:p>
          <a:p>
            <a:r>
              <a:rPr lang="en-US" dirty="0"/>
              <a:t>How to deal with from correctness issues and failures?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12860-B362-E5E7-D3D8-41093243D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771E4-0CE0-FB51-0522-AA44CC267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W26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F14A7-18ED-7B5F-4FA8-2B06932BE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821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83533-151C-379A-E308-74A0303C9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6DEEA-DEC9-3198-8299-CDE1B785E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Post-Training (2 Papers)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5F396-5002-A19B-0734-8EBEB36CA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optimize an asynchronous RLHF framework?</a:t>
            </a:r>
          </a:p>
          <a:p>
            <a:r>
              <a:rPr lang="en-US" dirty="0"/>
              <a:t>How to effectively leverage reinforcement learning to enable reasoning?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C039E-C0A7-62AA-BC34-938BAC76E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45CCD-4D3C-BB51-898A-03FC12CD8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W26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15971-2650-79E1-1A0C-DCE332DF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557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FB974-F38A-4649-EC97-6918D6E10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(10 Papers)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6E161-E410-48DD-03BD-5381DA902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optimize throughput and latency of LLM serving? </a:t>
            </a:r>
          </a:p>
          <a:p>
            <a:r>
              <a:rPr lang="en-US" dirty="0"/>
              <a:t>How to balance compute and communication in inference  end-to-end?</a:t>
            </a:r>
          </a:p>
          <a:p>
            <a:r>
              <a:rPr lang="en-US" dirty="0"/>
              <a:t>How to serve long-context inputs?</a:t>
            </a:r>
          </a:p>
          <a:p>
            <a:r>
              <a:rPr lang="en-US" dirty="0"/>
              <a:t>How to server multimodal inputs?</a:t>
            </a:r>
          </a:p>
          <a:p>
            <a:r>
              <a:rPr lang="en-US" dirty="0"/>
              <a:t>How to serve </a:t>
            </a:r>
            <a:r>
              <a:rPr lang="en-US" dirty="0" err="1"/>
              <a:t>MoE</a:t>
            </a:r>
            <a:r>
              <a:rPr lang="en-US" dirty="0"/>
              <a:t> models better?</a:t>
            </a:r>
          </a:p>
          <a:p>
            <a:r>
              <a:rPr lang="en-US" dirty="0"/>
              <a:t>How to serve diffusion-based models?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6A329-E98B-B9DE-9210-6AD7655D6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14278-A8F6-6FFE-865D-419C87A5E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W26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D3A53-C40E-1090-66C3-433BAC8EE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99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605AD-5C5E-C3F4-52FD-0A9BBD6E7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Agentic Systems (6 Papers)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4FDD7-8433-98AA-23E0-DACA5F12C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optimize agentic applications?</a:t>
            </a:r>
          </a:p>
          <a:p>
            <a:r>
              <a:rPr lang="en-US" dirty="0"/>
              <a:t>How to optimize serving for agentic applications?</a:t>
            </a:r>
          </a:p>
          <a:p>
            <a:r>
              <a:rPr lang="en-US" dirty="0"/>
              <a:t>How to handle multimodal agents?</a:t>
            </a:r>
          </a:p>
          <a:p>
            <a:r>
              <a:rPr lang="en-US" dirty="0"/>
              <a:t>How to optimize external data sources for inference (RAG)?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CB0EC-929A-2B94-A431-1D5022AE9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9A662-629E-6FEA-DC56-29CA4B240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W26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DC316-1D8B-8AA3-6721-7D946E9CF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35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FCFF9-B4F4-C79F-1D65-8E1ADD3A6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+ Power/Energy (6 Papers)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317A2-A20F-C09B-7FA7-3CF5572D4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design and optimize for specialized hardware?</a:t>
            </a:r>
          </a:p>
          <a:p>
            <a:r>
              <a:rPr lang="en-US" dirty="0"/>
              <a:t>How to optimize the cost when building/managing a datacenter?</a:t>
            </a:r>
          </a:p>
          <a:p>
            <a:r>
              <a:rPr lang="en-US" dirty="0"/>
              <a:t>How to reduce the energy and power consumption of training and inference?</a:t>
            </a:r>
          </a:p>
          <a:p>
            <a:r>
              <a:rPr lang="en-US" dirty="0"/>
              <a:t>What’s the impact of power fluctuations and how to reduce them?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6DBDA-990A-A64C-5D03-B7CB4415D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63CA8-8C1E-86C2-E3DB-8AA3E6205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W26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7A7E8-B021-D587-11CA-9A8C37B0E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368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7FF77-E694-19C2-13C3-665907C62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DDAF6-C069-4700-92D3-756588A28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must carefully consider MANY aspects when evaluating AI and AI agents</a:t>
            </a:r>
          </a:p>
          <a:p>
            <a:pPr lvl="1"/>
            <a:r>
              <a:rPr lang="en-US" dirty="0"/>
              <a:t>Societal</a:t>
            </a:r>
          </a:p>
          <a:p>
            <a:pPr lvl="1"/>
            <a:r>
              <a:rPr lang="en-US" dirty="0"/>
              <a:t>Environmental</a:t>
            </a:r>
          </a:p>
          <a:p>
            <a:pPr lvl="1"/>
            <a:r>
              <a:rPr lang="en-US" dirty="0"/>
              <a:t>Financial</a:t>
            </a:r>
          </a:p>
          <a:p>
            <a:pPr lvl="1"/>
            <a:r>
              <a:rPr lang="en-US" dirty="0"/>
              <a:t>Etc.</a:t>
            </a:r>
          </a:p>
          <a:p>
            <a:endParaRPr lang="en-US" dirty="0"/>
          </a:p>
          <a:p>
            <a:r>
              <a:rPr lang="en-US" dirty="0"/>
              <a:t>There is no right answer, but less wrong ones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54F4D-F21C-D87C-73EA-06AA5E7A5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EB14D-DAE4-AD73-E47A-404AB9AC1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W26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2637C-C0FA-1749-79A1-46FD2F82E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58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1ADFF-DF9C-9340-9ACD-BA382A860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Papers We Dislike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4B392-8F3A-F247-823E-370FCC4E9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3D58A-0A8C-F440-BF4A-320937260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AFA5F-D416-2945-8378-E58850B52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W26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C834C-A0BC-FD49-AE00-2EB4CB2D1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27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3F879-A7EE-FF77-F9E6-BD817ECA9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C84B127-7215-CD45-C426-CFC2499380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Status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BB8C62C9-FBDB-E06F-6950-530F22F121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71129-FFDE-2AFF-5EB4-E7E7C4248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7F597-D4DC-C7AB-97C7-65F62ACE3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W26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E64A6-788F-6DD8-EA5D-B667396AE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755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FFBEB-77AF-6891-D796-493A360F5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14CD8-8055-E8C5-2011-C238034B4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7DB1F-6CA1-9FF4-3516-7AEA89571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1CC17-B0D5-0A54-0F78-8AF5A1A05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W26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3F7C2-9591-E9CE-FE57-9BFFC8064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003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Remaining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Poster presentation on Apr 21 (Tuesday) 10-12 at Tishman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rgbClr val="FF0000"/>
                </a:solidFill>
              </a:rPr>
              <a:t>Email us final project titles by Noon on Apr 20 (Monday)</a:t>
            </a:r>
          </a:p>
          <a:p>
            <a:pPr lvl="1"/>
            <a:r>
              <a:rPr lang="en-US" dirty="0"/>
              <a:t>See </a:t>
            </a:r>
            <a:r>
              <a:rPr lang="en-US" dirty="0">
                <a:hlinkClick r:id="rId2"/>
              </a:rPr>
              <a:t>https://edstem.org/us/courses/90160/discussion/7930957</a:t>
            </a:r>
            <a:endParaRPr lang="en-US" dirty="0"/>
          </a:p>
          <a:p>
            <a:r>
              <a:rPr lang="en-US" dirty="0"/>
              <a:t>Research paper</a:t>
            </a:r>
          </a:p>
          <a:p>
            <a:pPr lvl="1"/>
            <a:r>
              <a:rPr lang="en-US" dirty="0"/>
              <a:t>Write an 8-pager using NeurIPS template and page constraints</a:t>
            </a:r>
          </a:p>
          <a:p>
            <a:pPr lvl="1"/>
            <a:r>
              <a:rPr lang="en-US" dirty="0"/>
              <a:t>As if you’d submit it to a workshop with ~3 more months of work or to a conference after ~6 more months of work</a:t>
            </a:r>
          </a:p>
          <a:p>
            <a:pPr lvl="1"/>
            <a:r>
              <a:rPr lang="en-US" dirty="0"/>
              <a:t>Read </a:t>
            </a:r>
            <a:r>
              <a:rPr lang="en-US" dirty="0">
                <a:hlinkClick r:id="rId3"/>
              </a:rPr>
              <a:t>How to Write a Great Research Paper</a:t>
            </a:r>
            <a:r>
              <a:rPr lang="en-US" dirty="0"/>
              <a:t> by Simon Peyton Jones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Due on or before 1:00PM EST on Apr 28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W26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17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</p:spTree>
    <p:extLst>
      <p:ext uri="{BB962C8B-B14F-4D97-AF65-F5344CB8AC3E}">
        <p14:creationId xmlns:p14="http://schemas.microsoft.com/office/powerpoint/2010/main" val="1523676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9C1BD26-A0E2-45D5-D6AD-B8A3230B75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1AB6787-C9D6-B91C-2303-CC6372B5C2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Please complete the course evaluation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10C62-BA67-C558-67BC-F7B1B8D43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899F3-A66B-6FCC-E508-6940EF51D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W26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33B9F-02B3-44F7-279E-088FED745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128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CB7A-842A-0951-CC52-DDC88AB1D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B93C4-B413-E45F-5311-C69CCF33B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04/14/26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8B4DE-2B26-7F12-08E5-53511AA1A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585 – W26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074BE-798F-ACD2-A3C6-412DAE630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F9975-6C58-5C4C-8961-54FFA2646BAA}" type="slidenum">
              <a:rPr lang="en-US" smtClean="0"/>
              <a:t>19</a:t>
            </a:fld>
            <a:endParaRPr lang="en-US"/>
          </a:p>
        </p:txBody>
      </p:sp>
      <p:pic>
        <p:nvPicPr>
          <p:cNvPr id="3" name="Picture 2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A7F27CAD-8390-278D-AC2E-394EC3D9A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1828800"/>
            <a:ext cx="32004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710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18732</TotalTime>
  <Words>662</Words>
  <Application>Microsoft Macintosh PowerPoint</Application>
  <PresentationFormat>Widescreen</PresentationFormat>
  <Paragraphs>164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Gill Sans</vt:lpstr>
      <vt:lpstr>Office Theme</vt:lpstr>
      <vt:lpstr>CSE 585 Recap</vt:lpstr>
      <vt:lpstr>Agenda</vt:lpstr>
      <vt:lpstr>Semester in Review</vt:lpstr>
      <vt:lpstr>Resource-Centric View</vt:lpstr>
      <vt:lpstr>Common “Systems” Techniques</vt:lpstr>
      <vt:lpstr>Workload-Centric View</vt:lpstr>
      <vt:lpstr>Basics</vt:lpstr>
      <vt:lpstr>Pre-Training (6 Papers)</vt:lpstr>
      <vt:lpstr>Post-Training (2 Papers)</vt:lpstr>
      <vt:lpstr>Inference (10 Papers)</vt:lpstr>
      <vt:lpstr>Agentic Systems (6 Papers)</vt:lpstr>
      <vt:lpstr>Hardware + Power/Energy (6 Papers)</vt:lpstr>
      <vt:lpstr>Ethics</vt:lpstr>
      <vt:lpstr>Papers We Dislike</vt:lpstr>
      <vt:lpstr>Status</vt:lpstr>
      <vt:lpstr>Grades</vt:lpstr>
      <vt:lpstr>Remaining Steps</vt:lpstr>
      <vt:lpstr>Thank You!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Mosharaf Chowdhury</dc:creator>
  <cp:lastModifiedBy>Chowdhury, Mosharaf</cp:lastModifiedBy>
  <cp:revision>788</cp:revision>
  <dcterms:created xsi:type="dcterms:W3CDTF">2015-12-27T15:42:19Z</dcterms:created>
  <dcterms:modified xsi:type="dcterms:W3CDTF">2026-04-15T00:47:47Z</dcterms:modified>
</cp:coreProperties>
</file>